
<file path=[Content_Types].xml><?xml version="1.0" encoding="utf-8"?>
<Types xmlns="http://schemas.openxmlformats.org/package/2006/content-types">
  <Default Extension="jpg" ContentType="image/jp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535" r:id="rId3"/>
    <p:sldId id="258" r:id="rId4"/>
    <p:sldId id="259" r:id="rId5"/>
    <p:sldId id="260" r:id="rId6"/>
    <p:sldId id="261" r:id="rId7"/>
    <p:sldId id="262" r:id="rId8"/>
    <p:sldId id="263" r:id="rId9"/>
    <p:sldId id="264" r:id="rId10"/>
    <p:sldId id="276" r:id="rId11"/>
    <p:sldId id="269" r:id="rId12"/>
    <p:sldId id="277" r:id="rId13"/>
    <p:sldId id="599" r:id="rId14"/>
    <p:sldId id="600" r:id="rId15"/>
    <p:sldId id="601" r:id="rId16"/>
    <p:sldId id="265" r:id="rId17"/>
    <p:sldId id="266" r:id="rId18"/>
    <p:sldId id="267" r:id="rId19"/>
    <p:sldId id="536" r:id="rId20"/>
    <p:sldId id="598" r:id="rId21"/>
    <p:sldId id="594" r:id="rId22"/>
    <p:sldId id="592" r:id="rId23"/>
    <p:sldId id="593" r:id="rId24"/>
    <p:sldId id="586" r:id="rId25"/>
    <p:sldId id="272" r:id="rId26"/>
    <p:sldId id="273" r:id="rId27"/>
    <p:sldId id="274" r:id="rId2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F4678B-3260-4CD3-959E-941B02704529}" v="1" dt="2025-11-19T12:50:12.99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4" d="100"/>
          <a:sy n="84" d="100"/>
        </p:scale>
        <p:origin x="629"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jith v" userId="2660a8e3a8b598cc" providerId="LiveId" clId="{51E44FCE-B4F6-40C8-85AB-746D126B7023}"/>
    <pc:docChg chg="addSld delSld modSld">
      <pc:chgData name="ranjith v" userId="2660a8e3a8b598cc" providerId="LiveId" clId="{51E44FCE-B4F6-40C8-85AB-746D126B7023}" dt="2025-11-19T12:50:18.538" v="1" actId="47"/>
      <pc:docMkLst>
        <pc:docMk/>
      </pc:docMkLst>
      <pc:sldChg chg="del">
        <pc:chgData name="ranjith v" userId="2660a8e3a8b598cc" providerId="LiveId" clId="{51E44FCE-B4F6-40C8-85AB-746D126B7023}" dt="2025-11-19T12:50:18.538" v="1" actId="47"/>
        <pc:sldMkLst>
          <pc:docMk/>
          <pc:sldMk cId="0" sldId="257"/>
        </pc:sldMkLst>
      </pc:sldChg>
      <pc:sldChg chg="add">
        <pc:chgData name="ranjith v" userId="2660a8e3a8b598cc" providerId="LiveId" clId="{51E44FCE-B4F6-40C8-85AB-746D126B7023}" dt="2025-11-19T12:50:12.980" v="0"/>
        <pc:sldMkLst>
          <pc:docMk/>
          <pc:sldMk cId="0" sldId="535"/>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24</a:t>
            </a:r>
            <a:r>
              <a:rPr lang="en-US" baseline="0" dirty="0"/>
              <a:t> Months Capstone Timeline</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stacked"/>
        <c:varyColors val="0"/>
        <c:ser>
          <c:idx val="0"/>
          <c:order val="0"/>
          <c:tx>
            <c:strRef>
              <c:f>Sheet1!$B$1</c:f>
              <c:strCache>
                <c:ptCount val="1"/>
                <c:pt idx="0">
                  <c:v>Series 1</c:v>
                </c:pt>
              </c:strCache>
            </c:strRef>
          </c:tx>
          <c:spPr>
            <a:solidFill>
              <a:schemeClr val="accent1"/>
            </a:solidFill>
            <a:ln>
              <a:noFill/>
            </a:ln>
            <a:effectLst/>
          </c:spPr>
          <c:invertIfNegative val="0"/>
          <c:dPt>
            <c:idx val="1"/>
            <c:invertIfNegative val="0"/>
            <c:bubble3D val="0"/>
            <c:spPr>
              <a:solidFill>
                <a:schemeClr val="bg1"/>
              </a:solidFill>
              <a:ln>
                <a:solidFill>
                  <a:schemeClr val="bg1"/>
                </a:solidFill>
              </a:ln>
              <a:effectLst/>
            </c:spPr>
            <c:extLst>
              <c:ext xmlns:c16="http://schemas.microsoft.com/office/drawing/2014/chart" uri="{C3380CC4-5D6E-409C-BE32-E72D297353CC}">
                <c16:uniqueId val="{00000001-8636-4D08-A536-92A711628AE1}"/>
              </c:ext>
            </c:extLst>
          </c:dPt>
          <c:dPt>
            <c:idx val="2"/>
            <c:invertIfNegative val="0"/>
            <c:bubble3D val="0"/>
            <c:spPr>
              <a:solidFill>
                <a:schemeClr val="bg1"/>
              </a:solidFill>
              <a:ln>
                <a:noFill/>
              </a:ln>
              <a:effectLst/>
            </c:spPr>
            <c:extLst>
              <c:ext xmlns:c16="http://schemas.microsoft.com/office/drawing/2014/chart" uri="{C3380CC4-5D6E-409C-BE32-E72D297353CC}">
                <c16:uniqueId val="{00000003-8636-4D08-A536-92A711628AE1}"/>
              </c:ext>
            </c:extLst>
          </c:dPt>
          <c:dPt>
            <c:idx val="3"/>
            <c:invertIfNegative val="0"/>
            <c:bubble3D val="0"/>
            <c:spPr>
              <a:solidFill>
                <a:schemeClr val="bg1"/>
              </a:solidFill>
              <a:ln>
                <a:noFill/>
              </a:ln>
              <a:effectLst/>
            </c:spPr>
            <c:extLst>
              <c:ext xmlns:c16="http://schemas.microsoft.com/office/drawing/2014/chart" uri="{C3380CC4-5D6E-409C-BE32-E72D297353CC}">
                <c16:uniqueId val="{00000005-8636-4D08-A536-92A711628AE1}"/>
              </c:ext>
            </c:extLst>
          </c:dPt>
          <c:dPt>
            <c:idx val="4"/>
            <c:invertIfNegative val="0"/>
            <c:bubble3D val="0"/>
            <c:spPr>
              <a:solidFill>
                <a:schemeClr val="bg1"/>
              </a:solidFill>
              <a:ln>
                <a:noFill/>
              </a:ln>
              <a:effectLst/>
            </c:spPr>
            <c:extLst>
              <c:ext xmlns:c16="http://schemas.microsoft.com/office/drawing/2014/chart" uri="{C3380CC4-5D6E-409C-BE32-E72D297353CC}">
                <c16:uniqueId val="{00000007-8636-4D08-A536-92A711628AE1}"/>
              </c:ext>
            </c:extLst>
          </c:dPt>
          <c:dPt>
            <c:idx val="5"/>
            <c:invertIfNegative val="0"/>
            <c:bubble3D val="0"/>
            <c:spPr>
              <a:solidFill>
                <a:schemeClr val="bg1"/>
              </a:solidFill>
              <a:ln>
                <a:noFill/>
              </a:ln>
              <a:effectLst/>
            </c:spPr>
            <c:extLst>
              <c:ext xmlns:c16="http://schemas.microsoft.com/office/drawing/2014/chart" uri="{C3380CC4-5D6E-409C-BE32-E72D297353CC}">
                <c16:uniqueId val="{00000009-8636-4D08-A536-92A711628AE1}"/>
              </c:ext>
            </c:extLst>
          </c:dPt>
          <c:dPt>
            <c:idx val="6"/>
            <c:invertIfNegative val="0"/>
            <c:bubble3D val="0"/>
            <c:spPr>
              <a:solidFill>
                <a:schemeClr val="bg1"/>
              </a:solidFill>
              <a:ln>
                <a:noFill/>
              </a:ln>
              <a:effectLst/>
            </c:spPr>
            <c:extLst>
              <c:ext xmlns:c16="http://schemas.microsoft.com/office/drawing/2014/chart" uri="{C3380CC4-5D6E-409C-BE32-E72D297353CC}">
                <c16:uniqueId val="{0000000B-8636-4D08-A536-92A711628AE1}"/>
              </c:ext>
            </c:extLst>
          </c:dPt>
          <c:dPt>
            <c:idx val="7"/>
            <c:invertIfNegative val="0"/>
            <c:bubble3D val="0"/>
            <c:spPr>
              <a:solidFill>
                <a:schemeClr val="bg1"/>
              </a:solidFill>
              <a:ln>
                <a:noFill/>
              </a:ln>
              <a:effectLst/>
            </c:spPr>
            <c:extLst>
              <c:ext xmlns:c16="http://schemas.microsoft.com/office/drawing/2014/chart" uri="{C3380CC4-5D6E-409C-BE32-E72D297353CC}">
                <c16:uniqueId val="{0000000D-8636-4D08-A536-92A711628AE1}"/>
              </c:ext>
            </c:extLst>
          </c:dPt>
          <c:dPt>
            <c:idx val="8"/>
            <c:invertIfNegative val="0"/>
            <c:bubble3D val="0"/>
            <c:spPr>
              <a:solidFill>
                <a:schemeClr val="bg1"/>
              </a:solidFill>
              <a:ln>
                <a:noFill/>
              </a:ln>
              <a:effectLst/>
            </c:spPr>
            <c:extLst>
              <c:ext xmlns:c16="http://schemas.microsoft.com/office/drawing/2014/chart" uri="{C3380CC4-5D6E-409C-BE32-E72D297353CC}">
                <c16:uniqueId val="{0000000F-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Sheet1!$B$2:$B$10</c:f>
              <c:numCache>
                <c:formatCode>General</c:formatCode>
                <c:ptCount val="9"/>
                <c:pt idx="0">
                  <c:v>4</c:v>
                </c:pt>
                <c:pt idx="1">
                  <c:v>4</c:v>
                </c:pt>
                <c:pt idx="2">
                  <c:v>4</c:v>
                </c:pt>
                <c:pt idx="3">
                  <c:v>4</c:v>
                </c:pt>
                <c:pt idx="4">
                  <c:v>4</c:v>
                </c:pt>
                <c:pt idx="5">
                  <c:v>4</c:v>
                </c:pt>
                <c:pt idx="6">
                  <c:v>4</c:v>
                </c:pt>
                <c:pt idx="7">
                  <c:v>4</c:v>
                </c:pt>
                <c:pt idx="8">
                  <c:v>4</c:v>
                </c:pt>
              </c:numCache>
            </c:numRef>
          </c:val>
          <c:extLst>
            <c:ext xmlns:c16="http://schemas.microsoft.com/office/drawing/2014/chart" uri="{C3380CC4-5D6E-409C-BE32-E72D297353CC}">
              <c16:uniqueId val="{00000010-8636-4D08-A536-92A711628AE1}"/>
            </c:ext>
          </c:extLst>
        </c:ser>
        <c:ser>
          <c:idx val="1"/>
          <c:order val="1"/>
          <c:tx>
            <c:strRef>
              <c:f>Sheet1!$C$1</c:f>
              <c:strCache>
                <c:ptCount val="1"/>
                <c:pt idx="0">
                  <c:v>Series 2</c:v>
                </c:pt>
              </c:strCache>
            </c:strRef>
          </c:tx>
          <c:spPr>
            <a:solidFill>
              <a:schemeClr val="accent2"/>
            </a:solidFill>
            <a:ln>
              <a:noFill/>
            </a:ln>
            <a:effectLst/>
          </c:spPr>
          <c:invertIfNegative val="0"/>
          <c:dPt>
            <c:idx val="2"/>
            <c:invertIfNegative val="0"/>
            <c:bubble3D val="0"/>
            <c:spPr>
              <a:solidFill>
                <a:schemeClr val="bg1"/>
              </a:solidFill>
              <a:ln>
                <a:noFill/>
              </a:ln>
              <a:effectLst/>
            </c:spPr>
            <c:extLst>
              <c:ext xmlns:c16="http://schemas.microsoft.com/office/drawing/2014/chart" uri="{C3380CC4-5D6E-409C-BE32-E72D297353CC}">
                <c16:uniqueId val="{00000012-8636-4D08-A536-92A711628AE1}"/>
              </c:ext>
            </c:extLst>
          </c:dPt>
          <c:dPt>
            <c:idx val="3"/>
            <c:invertIfNegative val="0"/>
            <c:bubble3D val="0"/>
            <c:spPr>
              <a:solidFill>
                <a:schemeClr val="bg1"/>
              </a:solidFill>
              <a:ln>
                <a:noFill/>
              </a:ln>
              <a:effectLst/>
            </c:spPr>
            <c:extLst>
              <c:ext xmlns:c16="http://schemas.microsoft.com/office/drawing/2014/chart" uri="{C3380CC4-5D6E-409C-BE32-E72D297353CC}">
                <c16:uniqueId val="{00000014-8636-4D08-A536-92A711628AE1}"/>
              </c:ext>
            </c:extLst>
          </c:dPt>
          <c:dPt>
            <c:idx val="4"/>
            <c:invertIfNegative val="0"/>
            <c:bubble3D val="0"/>
            <c:spPr>
              <a:solidFill>
                <a:schemeClr val="bg1"/>
              </a:solidFill>
              <a:ln>
                <a:noFill/>
              </a:ln>
              <a:effectLst/>
            </c:spPr>
            <c:extLst>
              <c:ext xmlns:c16="http://schemas.microsoft.com/office/drawing/2014/chart" uri="{C3380CC4-5D6E-409C-BE32-E72D297353CC}">
                <c16:uniqueId val="{00000016-8636-4D08-A536-92A711628AE1}"/>
              </c:ext>
            </c:extLst>
          </c:dPt>
          <c:dPt>
            <c:idx val="5"/>
            <c:invertIfNegative val="0"/>
            <c:bubble3D val="0"/>
            <c:spPr>
              <a:solidFill>
                <a:schemeClr val="bg1"/>
              </a:solidFill>
              <a:ln>
                <a:noFill/>
              </a:ln>
              <a:effectLst/>
            </c:spPr>
            <c:extLst>
              <c:ext xmlns:c16="http://schemas.microsoft.com/office/drawing/2014/chart" uri="{C3380CC4-5D6E-409C-BE32-E72D297353CC}">
                <c16:uniqueId val="{00000018-8636-4D08-A536-92A711628AE1}"/>
              </c:ext>
            </c:extLst>
          </c:dPt>
          <c:dPt>
            <c:idx val="6"/>
            <c:invertIfNegative val="0"/>
            <c:bubble3D val="0"/>
            <c:spPr>
              <a:solidFill>
                <a:schemeClr val="bg1"/>
              </a:solidFill>
              <a:ln>
                <a:noFill/>
              </a:ln>
              <a:effectLst/>
            </c:spPr>
            <c:extLst>
              <c:ext xmlns:c16="http://schemas.microsoft.com/office/drawing/2014/chart" uri="{C3380CC4-5D6E-409C-BE32-E72D297353CC}">
                <c16:uniqueId val="{0000001A-8636-4D08-A536-92A711628AE1}"/>
              </c:ext>
            </c:extLst>
          </c:dPt>
          <c:dPt>
            <c:idx val="7"/>
            <c:invertIfNegative val="0"/>
            <c:bubble3D val="0"/>
            <c:spPr>
              <a:solidFill>
                <a:schemeClr val="bg1"/>
              </a:solidFill>
              <a:ln>
                <a:noFill/>
              </a:ln>
              <a:effectLst/>
            </c:spPr>
            <c:extLst>
              <c:ext xmlns:c16="http://schemas.microsoft.com/office/drawing/2014/chart" uri="{C3380CC4-5D6E-409C-BE32-E72D297353CC}">
                <c16:uniqueId val="{0000001C-8636-4D08-A536-92A711628AE1}"/>
              </c:ext>
            </c:extLst>
          </c:dPt>
          <c:dPt>
            <c:idx val="8"/>
            <c:invertIfNegative val="0"/>
            <c:bubble3D val="0"/>
            <c:spPr>
              <a:solidFill>
                <a:schemeClr val="bg1"/>
              </a:solidFill>
              <a:ln>
                <a:noFill/>
              </a:ln>
              <a:effectLst/>
            </c:spPr>
            <c:extLst>
              <c:ext xmlns:c16="http://schemas.microsoft.com/office/drawing/2014/chart" uri="{C3380CC4-5D6E-409C-BE32-E72D297353CC}">
                <c16:uniqueId val="{0000001E-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Sheet1!$C$2:$C$10</c:f>
              <c:numCache>
                <c:formatCode>General</c:formatCode>
                <c:ptCount val="9"/>
                <c:pt idx="0">
                  <c:v>0</c:v>
                </c:pt>
                <c:pt idx="1">
                  <c:v>3</c:v>
                </c:pt>
                <c:pt idx="2">
                  <c:v>3</c:v>
                </c:pt>
                <c:pt idx="3">
                  <c:v>3</c:v>
                </c:pt>
                <c:pt idx="4">
                  <c:v>3</c:v>
                </c:pt>
                <c:pt idx="5">
                  <c:v>3</c:v>
                </c:pt>
                <c:pt idx="6">
                  <c:v>3</c:v>
                </c:pt>
                <c:pt idx="7">
                  <c:v>3</c:v>
                </c:pt>
                <c:pt idx="8">
                  <c:v>3</c:v>
                </c:pt>
              </c:numCache>
            </c:numRef>
          </c:val>
          <c:extLst>
            <c:ext xmlns:c16="http://schemas.microsoft.com/office/drawing/2014/chart" uri="{C3380CC4-5D6E-409C-BE32-E72D297353CC}">
              <c16:uniqueId val="{0000001F-8636-4D08-A536-92A711628AE1}"/>
            </c:ext>
          </c:extLst>
        </c:ser>
        <c:ser>
          <c:idx val="2"/>
          <c:order val="2"/>
          <c:tx>
            <c:strRef>
              <c:f>Sheet1!$D$1</c:f>
              <c:strCache>
                <c:ptCount val="1"/>
                <c:pt idx="0">
                  <c:v>Series 3</c:v>
                </c:pt>
              </c:strCache>
            </c:strRef>
          </c:tx>
          <c:spPr>
            <a:solidFill>
              <a:schemeClr val="accent3"/>
            </a:solidFill>
            <a:ln>
              <a:noFill/>
            </a:ln>
            <a:effectLst/>
          </c:spPr>
          <c:invertIfNegative val="0"/>
          <c:dPt>
            <c:idx val="3"/>
            <c:invertIfNegative val="0"/>
            <c:bubble3D val="0"/>
            <c:spPr>
              <a:solidFill>
                <a:schemeClr val="bg1"/>
              </a:solidFill>
              <a:ln>
                <a:noFill/>
              </a:ln>
              <a:effectLst/>
            </c:spPr>
            <c:extLst>
              <c:ext xmlns:c16="http://schemas.microsoft.com/office/drawing/2014/chart" uri="{C3380CC4-5D6E-409C-BE32-E72D297353CC}">
                <c16:uniqueId val="{00000021-8636-4D08-A536-92A711628AE1}"/>
              </c:ext>
            </c:extLst>
          </c:dPt>
          <c:dPt>
            <c:idx val="4"/>
            <c:invertIfNegative val="0"/>
            <c:bubble3D val="0"/>
            <c:spPr>
              <a:solidFill>
                <a:schemeClr val="bg1"/>
              </a:solidFill>
              <a:ln>
                <a:noFill/>
              </a:ln>
              <a:effectLst/>
            </c:spPr>
            <c:extLst>
              <c:ext xmlns:c16="http://schemas.microsoft.com/office/drawing/2014/chart" uri="{C3380CC4-5D6E-409C-BE32-E72D297353CC}">
                <c16:uniqueId val="{00000023-8636-4D08-A536-92A711628AE1}"/>
              </c:ext>
            </c:extLst>
          </c:dPt>
          <c:dPt>
            <c:idx val="5"/>
            <c:invertIfNegative val="0"/>
            <c:bubble3D val="0"/>
            <c:spPr>
              <a:solidFill>
                <a:schemeClr val="bg1"/>
              </a:solidFill>
              <a:ln>
                <a:noFill/>
              </a:ln>
              <a:effectLst/>
            </c:spPr>
            <c:extLst>
              <c:ext xmlns:c16="http://schemas.microsoft.com/office/drawing/2014/chart" uri="{C3380CC4-5D6E-409C-BE32-E72D297353CC}">
                <c16:uniqueId val="{00000025-8636-4D08-A536-92A711628AE1}"/>
              </c:ext>
            </c:extLst>
          </c:dPt>
          <c:dPt>
            <c:idx val="6"/>
            <c:invertIfNegative val="0"/>
            <c:bubble3D val="0"/>
            <c:spPr>
              <a:solidFill>
                <a:schemeClr val="bg1"/>
              </a:solidFill>
              <a:ln>
                <a:noFill/>
              </a:ln>
              <a:effectLst/>
            </c:spPr>
            <c:extLst>
              <c:ext xmlns:c16="http://schemas.microsoft.com/office/drawing/2014/chart" uri="{C3380CC4-5D6E-409C-BE32-E72D297353CC}">
                <c16:uniqueId val="{00000027-8636-4D08-A536-92A711628AE1}"/>
              </c:ext>
            </c:extLst>
          </c:dPt>
          <c:dPt>
            <c:idx val="7"/>
            <c:invertIfNegative val="0"/>
            <c:bubble3D val="0"/>
            <c:spPr>
              <a:solidFill>
                <a:schemeClr val="bg1"/>
              </a:solidFill>
              <a:ln>
                <a:noFill/>
              </a:ln>
              <a:effectLst/>
            </c:spPr>
            <c:extLst>
              <c:ext xmlns:c16="http://schemas.microsoft.com/office/drawing/2014/chart" uri="{C3380CC4-5D6E-409C-BE32-E72D297353CC}">
                <c16:uniqueId val="{00000029-8636-4D08-A536-92A711628AE1}"/>
              </c:ext>
            </c:extLst>
          </c:dPt>
          <c:dPt>
            <c:idx val="8"/>
            <c:invertIfNegative val="0"/>
            <c:bubble3D val="0"/>
            <c:spPr>
              <a:solidFill>
                <a:schemeClr val="bg1"/>
              </a:solidFill>
              <a:ln>
                <a:noFill/>
              </a:ln>
              <a:effectLst/>
            </c:spPr>
            <c:extLst>
              <c:ext xmlns:c16="http://schemas.microsoft.com/office/drawing/2014/chart" uri="{C3380CC4-5D6E-409C-BE32-E72D297353CC}">
                <c16:uniqueId val="{0000002B-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Sheet1!$D$2:$D$10</c:f>
              <c:numCache>
                <c:formatCode>General</c:formatCode>
                <c:ptCount val="9"/>
                <c:pt idx="0">
                  <c:v>0</c:v>
                </c:pt>
                <c:pt idx="1">
                  <c:v>0</c:v>
                </c:pt>
                <c:pt idx="2">
                  <c:v>3</c:v>
                </c:pt>
                <c:pt idx="3">
                  <c:v>3</c:v>
                </c:pt>
                <c:pt idx="4">
                  <c:v>3</c:v>
                </c:pt>
                <c:pt idx="5">
                  <c:v>3</c:v>
                </c:pt>
                <c:pt idx="6">
                  <c:v>3</c:v>
                </c:pt>
                <c:pt idx="7">
                  <c:v>3</c:v>
                </c:pt>
                <c:pt idx="8">
                  <c:v>3</c:v>
                </c:pt>
              </c:numCache>
            </c:numRef>
          </c:val>
          <c:extLst>
            <c:ext xmlns:c16="http://schemas.microsoft.com/office/drawing/2014/chart" uri="{C3380CC4-5D6E-409C-BE32-E72D297353CC}">
              <c16:uniqueId val="{0000002C-8636-4D08-A536-92A711628AE1}"/>
            </c:ext>
          </c:extLst>
        </c:ser>
        <c:ser>
          <c:idx val="3"/>
          <c:order val="3"/>
          <c:tx>
            <c:strRef>
              <c:f>Sheet1!$E$1</c:f>
              <c:strCache>
                <c:ptCount val="1"/>
                <c:pt idx="0">
                  <c:v>series 4</c:v>
                </c:pt>
              </c:strCache>
            </c:strRef>
          </c:tx>
          <c:spPr>
            <a:solidFill>
              <a:schemeClr val="accent4"/>
            </a:solidFill>
            <a:ln>
              <a:noFill/>
            </a:ln>
            <a:effectLst/>
          </c:spPr>
          <c:invertIfNegative val="0"/>
          <c:dPt>
            <c:idx val="4"/>
            <c:invertIfNegative val="0"/>
            <c:bubble3D val="0"/>
            <c:spPr>
              <a:solidFill>
                <a:schemeClr val="bg1"/>
              </a:solidFill>
              <a:ln>
                <a:noFill/>
              </a:ln>
              <a:effectLst/>
            </c:spPr>
            <c:extLst>
              <c:ext xmlns:c16="http://schemas.microsoft.com/office/drawing/2014/chart" uri="{C3380CC4-5D6E-409C-BE32-E72D297353CC}">
                <c16:uniqueId val="{0000002E-8636-4D08-A536-92A711628AE1}"/>
              </c:ext>
            </c:extLst>
          </c:dPt>
          <c:dPt>
            <c:idx val="5"/>
            <c:invertIfNegative val="0"/>
            <c:bubble3D val="0"/>
            <c:spPr>
              <a:solidFill>
                <a:schemeClr val="bg1"/>
              </a:solidFill>
              <a:ln>
                <a:noFill/>
              </a:ln>
              <a:effectLst/>
            </c:spPr>
            <c:extLst>
              <c:ext xmlns:c16="http://schemas.microsoft.com/office/drawing/2014/chart" uri="{C3380CC4-5D6E-409C-BE32-E72D297353CC}">
                <c16:uniqueId val="{00000030-8636-4D08-A536-92A711628AE1}"/>
              </c:ext>
            </c:extLst>
          </c:dPt>
          <c:dPt>
            <c:idx val="6"/>
            <c:invertIfNegative val="0"/>
            <c:bubble3D val="0"/>
            <c:spPr>
              <a:solidFill>
                <a:schemeClr val="bg1"/>
              </a:solidFill>
              <a:ln>
                <a:noFill/>
              </a:ln>
              <a:effectLst/>
            </c:spPr>
            <c:extLst>
              <c:ext xmlns:c16="http://schemas.microsoft.com/office/drawing/2014/chart" uri="{C3380CC4-5D6E-409C-BE32-E72D297353CC}">
                <c16:uniqueId val="{00000032-8636-4D08-A536-92A711628AE1}"/>
              </c:ext>
            </c:extLst>
          </c:dPt>
          <c:dPt>
            <c:idx val="7"/>
            <c:invertIfNegative val="0"/>
            <c:bubble3D val="0"/>
            <c:spPr>
              <a:solidFill>
                <a:schemeClr val="bg1"/>
              </a:solidFill>
              <a:ln>
                <a:noFill/>
              </a:ln>
              <a:effectLst/>
            </c:spPr>
            <c:extLst>
              <c:ext xmlns:c16="http://schemas.microsoft.com/office/drawing/2014/chart" uri="{C3380CC4-5D6E-409C-BE32-E72D297353CC}">
                <c16:uniqueId val="{00000034-8636-4D08-A536-92A711628AE1}"/>
              </c:ext>
            </c:extLst>
          </c:dPt>
          <c:dPt>
            <c:idx val="8"/>
            <c:invertIfNegative val="0"/>
            <c:bubble3D val="0"/>
            <c:spPr>
              <a:solidFill>
                <a:schemeClr val="bg1"/>
              </a:solidFill>
              <a:ln>
                <a:noFill/>
              </a:ln>
              <a:effectLst/>
            </c:spPr>
            <c:extLst>
              <c:ext xmlns:c16="http://schemas.microsoft.com/office/drawing/2014/chart" uri="{C3380CC4-5D6E-409C-BE32-E72D297353CC}">
                <c16:uniqueId val="{00000036-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Sheet1!$E$2:$E$10</c:f>
              <c:numCache>
                <c:formatCode>General</c:formatCode>
                <c:ptCount val="9"/>
                <c:pt idx="0">
                  <c:v>0</c:v>
                </c:pt>
                <c:pt idx="1">
                  <c:v>0</c:v>
                </c:pt>
                <c:pt idx="2">
                  <c:v>0</c:v>
                </c:pt>
                <c:pt idx="3">
                  <c:v>3</c:v>
                </c:pt>
                <c:pt idx="4">
                  <c:v>3</c:v>
                </c:pt>
                <c:pt idx="5">
                  <c:v>3</c:v>
                </c:pt>
                <c:pt idx="6">
                  <c:v>3</c:v>
                </c:pt>
                <c:pt idx="7">
                  <c:v>3</c:v>
                </c:pt>
                <c:pt idx="8">
                  <c:v>3</c:v>
                </c:pt>
              </c:numCache>
            </c:numRef>
          </c:val>
          <c:extLst>
            <c:ext xmlns:c16="http://schemas.microsoft.com/office/drawing/2014/chart" uri="{C3380CC4-5D6E-409C-BE32-E72D297353CC}">
              <c16:uniqueId val="{00000037-8636-4D08-A536-92A711628AE1}"/>
            </c:ext>
          </c:extLst>
        </c:ser>
        <c:ser>
          <c:idx val="4"/>
          <c:order val="4"/>
          <c:tx>
            <c:strRef>
              <c:f>Sheet1!$F$1</c:f>
              <c:strCache>
                <c:ptCount val="1"/>
                <c:pt idx="0">
                  <c:v>series5</c:v>
                </c:pt>
              </c:strCache>
            </c:strRef>
          </c:tx>
          <c:spPr>
            <a:solidFill>
              <a:schemeClr val="accent5"/>
            </a:solidFill>
            <a:ln>
              <a:noFill/>
            </a:ln>
            <a:effectLst/>
          </c:spPr>
          <c:invertIfNegative val="0"/>
          <c:dPt>
            <c:idx val="5"/>
            <c:invertIfNegative val="0"/>
            <c:bubble3D val="0"/>
            <c:spPr>
              <a:solidFill>
                <a:schemeClr val="bg1"/>
              </a:solidFill>
              <a:ln>
                <a:noFill/>
              </a:ln>
              <a:effectLst/>
            </c:spPr>
            <c:extLst>
              <c:ext xmlns:c16="http://schemas.microsoft.com/office/drawing/2014/chart" uri="{C3380CC4-5D6E-409C-BE32-E72D297353CC}">
                <c16:uniqueId val="{00000039-8636-4D08-A536-92A711628AE1}"/>
              </c:ext>
            </c:extLst>
          </c:dPt>
          <c:dPt>
            <c:idx val="6"/>
            <c:invertIfNegative val="0"/>
            <c:bubble3D val="0"/>
            <c:spPr>
              <a:solidFill>
                <a:schemeClr val="bg1"/>
              </a:solidFill>
              <a:ln>
                <a:noFill/>
              </a:ln>
              <a:effectLst/>
            </c:spPr>
            <c:extLst>
              <c:ext xmlns:c16="http://schemas.microsoft.com/office/drawing/2014/chart" uri="{C3380CC4-5D6E-409C-BE32-E72D297353CC}">
                <c16:uniqueId val="{0000003B-8636-4D08-A536-92A711628AE1}"/>
              </c:ext>
            </c:extLst>
          </c:dPt>
          <c:dPt>
            <c:idx val="7"/>
            <c:invertIfNegative val="0"/>
            <c:bubble3D val="0"/>
            <c:spPr>
              <a:solidFill>
                <a:schemeClr val="bg1"/>
              </a:solidFill>
              <a:ln>
                <a:noFill/>
              </a:ln>
              <a:effectLst/>
            </c:spPr>
            <c:extLst>
              <c:ext xmlns:c16="http://schemas.microsoft.com/office/drawing/2014/chart" uri="{C3380CC4-5D6E-409C-BE32-E72D297353CC}">
                <c16:uniqueId val="{0000003D-8636-4D08-A536-92A711628AE1}"/>
              </c:ext>
            </c:extLst>
          </c:dPt>
          <c:dPt>
            <c:idx val="8"/>
            <c:invertIfNegative val="0"/>
            <c:bubble3D val="0"/>
            <c:spPr>
              <a:solidFill>
                <a:schemeClr val="bg1"/>
              </a:solidFill>
              <a:ln>
                <a:noFill/>
              </a:ln>
              <a:effectLst/>
            </c:spPr>
            <c:extLst>
              <c:ext xmlns:c16="http://schemas.microsoft.com/office/drawing/2014/chart" uri="{C3380CC4-5D6E-409C-BE32-E72D297353CC}">
                <c16:uniqueId val="{0000003F-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Sheet1!$F$2:$F$10</c:f>
              <c:numCache>
                <c:formatCode>General</c:formatCode>
                <c:ptCount val="9"/>
                <c:pt idx="0">
                  <c:v>0</c:v>
                </c:pt>
                <c:pt idx="1">
                  <c:v>0</c:v>
                </c:pt>
                <c:pt idx="2">
                  <c:v>0</c:v>
                </c:pt>
                <c:pt idx="3">
                  <c:v>0</c:v>
                </c:pt>
                <c:pt idx="4">
                  <c:v>3</c:v>
                </c:pt>
                <c:pt idx="5">
                  <c:v>3</c:v>
                </c:pt>
                <c:pt idx="6">
                  <c:v>3</c:v>
                </c:pt>
                <c:pt idx="7">
                  <c:v>3</c:v>
                </c:pt>
                <c:pt idx="8">
                  <c:v>3</c:v>
                </c:pt>
              </c:numCache>
            </c:numRef>
          </c:val>
          <c:extLst>
            <c:ext xmlns:c16="http://schemas.microsoft.com/office/drawing/2014/chart" uri="{C3380CC4-5D6E-409C-BE32-E72D297353CC}">
              <c16:uniqueId val="{00000040-8636-4D08-A536-92A711628AE1}"/>
            </c:ext>
          </c:extLst>
        </c:ser>
        <c:ser>
          <c:idx val="5"/>
          <c:order val="5"/>
          <c:tx>
            <c:strRef>
              <c:f>Sheet1!$G$1</c:f>
              <c:strCache>
                <c:ptCount val="1"/>
                <c:pt idx="0">
                  <c:v>6</c:v>
                </c:pt>
              </c:strCache>
            </c:strRef>
          </c:tx>
          <c:spPr>
            <a:solidFill>
              <a:schemeClr val="accent6"/>
            </a:solidFill>
            <a:ln>
              <a:noFill/>
            </a:ln>
            <a:effectLst/>
          </c:spPr>
          <c:invertIfNegative val="0"/>
          <c:dPt>
            <c:idx val="6"/>
            <c:invertIfNegative val="0"/>
            <c:bubble3D val="0"/>
            <c:spPr>
              <a:solidFill>
                <a:schemeClr val="bg1"/>
              </a:solidFill>
              <a:ln>
                <a:noFill/>
              </a:ln>
              <a:effectLst/>
            </c:spPr>
            <c:extLst>
              <c:ext xmlns:c16="http://schemas.microsoft.com/office/drawing/2014/chart" uri="{C3380CC4-5D6E-409C-BE32-E72D297353CC}">
                <c16:uniqueId val="{00000042-8636-4D08-A536-92A711628AE1}"/>
              </c:ext>
            </c:extLst>
          </c:dPt>
          <c:dPt>
            <c:idx val="7"/>
            <c:invertIfNegative val="0"/>
            <c:bubble3D val="0"/>
            <c:spPr>
              <a:solidFill>
                <a:schemeClr val="bg1"/>
              </a:solidFill>
              <a:ln>
                <a:noFill/>
              </a:ln>
              <a:effectLst/>
            </c:spPr>
            <c:extLst>
              <c:ext xmlns:c16="http://schemas.microsoft.com/office/drawing/2014/chart" uri="{C3380CC4-5D6E-409C-BE32-E72D297353CC}">
                <c16:uniqueId val="{00000044-8636-4D08-A536-92A711628AE1}"/>
              </c:ext>
            </c:extLst>
          </c:dPt>
          <c:dPt>
            <c:idx val="8"/>
            <c:invertIfNegative val="0"/>
            <c:bubble3D val="0"/>
            <c:spPr>
              <a:solidFill>
                <a:schemeClr val="bg1"/>
              </a:solidFill>
              <a:ln>
                <a:noFill/>
              </a:ln>
              <a:effectLst/>
            </c:spPr>
            <c:extLst>
              <c:ext xmlns:c16="http://schemas.microsoft.com/office/drawing/2014/chart" uri="{C3380CC4-5D6E-409C-BE32-E72D297353CC}">
                <c16:uniqueId val="{00000046-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Sheet1!$G$2:$G$10</c:f>
              <c:numCache>
                <c:formatCode>General</c:formatCode>
                <c:ptCount val="9"/>
                <c:pt idx="0">
                  <c:v>0</c:v>
                </c:pt>
                <c:pt idx="1">
                  <c:v>0</c:v>
                </c:pt>
                <c:pt idx="2">
                  <c:v>0</c:v>
                </c:pt>
                <c:pt idx="3">
                  <c:v>0</c:v>
                </c:pt>
                <c:pt idx="4">
                  <c:v>0</c:v>
                </c:pt>
                <c:pt idx="5">
                  <c:v>3</c:v>
                </c:pt>
                <c:pt idx="6">
                  <c:v>3</c:v>
                </c:pt>
                <c:pt idx="7">
                  <c:v>3</c:v>
                </c:pt>
                <c:pt idx="8">
                  <c:v>3</c:v>
                </c:pt>
              </c:numCache>
            </c:numRef>
          </c:val>
          <c:extLst>
            <c:ext xmlns:c16="http://schemas.microsoft.com/office/drawing/2014/chart" uri="{C3380CC4-5D6E-409C-BE32-E72D297353CC}">
              <c16:uniqueId val="{00000047-8636-4D08-A536-92A711628AE1}"/>
            </c:ext>
          </c:extLst>
        </c:ser>
        <c:ser>
          <c:idx val="6"/>
          <c:order val="6"/>
          <c:tx>
            <c:strRef>
              <c:f>Sheet1!$H$1</c:f>
              <c:strCache>
                <c:ptCount val="1"/>
                <c:pt idx="0">
                  <c:v>7</c:v>
                </c:pt>
              </c:strCache>
            </c:strRef>
          </c:tx>
          <c:spPr>
            <a:solidFill>
              <a:schemeClr val="accent1">
                <a:lumMod val="60000"/>
              </a:schemeClr>
            </a:solidFill>
            <a:ln>
              <a:noFill/>
            </a:ln>
            <a:effectLst/>
          </c:spPr>
          <c:invertIfNegative val="0"/>
          <c:dPt>
            <c:idx val="7"/>
            <c:invertIfNegative val="0"/>
            <c:bubble3D val="0"/>
            <c:spPr>
              <a:solidFill>
                <a:schemeClr val="bg1"/>
              </a:solidFill>
              <a:ln>
                <a:noFill/>
              </a:ln>
              <a:effectLst/>
            </c:spPr>
            <c:extLst>
              <c:ext xmlns:c16="http://schemas.microsoft.com/office/drawing/2014/chart" uri="{C3380CC4-5D6E-409C-BE32-E72D297353CC}">
                <c16:uniqueId val="{00000049-8636-4D08-A536-92A711628AE1}"/>
              </c:ext>
            </c:extLst>
          </c:dPt>
          <c:dPt>
            <c:idx val="8"/>
            <c:invertIfNegative val="0"/>
            <c:bubble3D val="0"/>
            <c:spPr>
              <a:solidFill>
                <a:schemeClr val="bg1"/>
              </a:solidFill>
              <a:ln>
                <a:noFill/>
              </a:ln>
              <a:effectLst/>
            </c:spPr>
            <c:extLst>
              <c:ext xmlns:c16="http://schemas.microsoft.com/office/drawing/2014/chart" uri="{C3380CC4-5D6E-409C-BE32-E72D297353CC}">
                <c16:uniqueId val="{0000004B-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Sheet1!$H$2:$H$10</c:f>
              <c:numCache>
                <c:formatCode>General</c:formatCode>
                <c:ptCount val="9"/>
                <c:pt idx="0">
                  <c:v>0</c:v>
                </c:pt>
                <c:pt idx="1">
                  <c:v>0</c:v>
                </c:pt>
                <c:pt idx="2">
                  <c:v>0</c:v>
                </c:pt>
                <c:pt idx="3">
                  <c:v>0</c:v>
                </c:pt>
                <c:pt idx="4">
                  <c:v>0</c:v>
                </c:pt>
                <c:pt idx="5">
                  <c:v>0</c:v>
                </c:pt>
                <c:pt idx="6">
                  <c:v>3</c:v>
                </c:pt>
                <c:pt idx="7">
                  <c:v>3</c:v>
                </c:pt>
                <c:pt idx="8">
                  <c:v>3</c:v>
                </c:pt>
              </c:numCache>
            </c:numRef>
          </c:val>
          <c:extLst>
            <c:ext xmlns:c16="http://schemas.microsoft.com/office/drawing/2014/chart" uri="{C3380CC4-5D6E-409C-BE32-E72D297353CC}">
              <c16:uniqueId val="{0000004C-8636-4D08-A536-92A711628AE1}"/>
            </c:ext>
          </c:extLst>
        </c:ser>
        <c:ser>
          <c:idx val="7"/>
          <c:order val="7"/>
          <c:tx>
            <c:strRef>
              <c:f>Sheet1!$I$1</c:f>
              <c:strCache>
                <c:ptCount val="1"/>
                <c:pt idx="0">
                  <c:v>8</c:v>
                </c:pt>
              </c:strCache>
            </c:strRef>
          </c:tx>
          <c:spPr>
            <a:solidFill>
              <a:schemeClr val="accent2">
                <a:lumMod val="60000"/>
              </a:schemeClr>
            </a:solidFill>
            <a:ln>
              <a:noFill/>
            </a:ln>
            <a:effectLst/>
          </c:spPr>
          <c:invertIfNegative val="0"/>
          <c:dPt>
            <c:idx val="8"/>
            <c:invertIfNegative val="0"/>
            <c:bubble3D val="0"/>
            <c:spPr>
              <a:solidFill>
                <a:schemeClr val="bg1"/>
              </a:solidFill>
              <a:ln>
                <a:noFill/>
              </a:ln>
              <a:effectLst/>
            </c:spPr>
            <c:extLst>
              <c:ext xmlns:c16="http://schemas.microsoft.com/office/drawing/2014/chart" uri="{C3380CC4-5D6E-409C-BE32-E72D297353CC}">
                <c16:uniqueId val="{0000004E-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Sheet1!$I$2:$I$10</c:f>
              <c:numCache>
                <c:formatCode>General</c:formatCode>
                <c:ptCount val="9"/>
                <c:pt idx="0">
                  <c:v>0</c:v>
                </c:pt>
                <c:pt idx="1">
                  <c:v>0</c:v>
                </c:pt>
                <c:pt idx="2">
                  <c:v>0</c:v>
                </c:pt>
                <c:pt idx="3">
                  <c:v>0</c:v>
                </c:pt>
                <c:pt idx="4">
                  <c:v>0</c:v>
                </c:pt>
                <c:pt idx="5">
                  <c:v>0</c:v>
                </c:pt>
                <c:pt idx="6">
                  <c:v>0</c:v>
                </c:pt>
                <c:pt idx="7">
                  <c:v>2</c:v>
                </c:pt>
                <c:pt idx="8">
                  <c:v>2</c:v>
                </c:pt>
              </c:numCache>
            </c:numRef>
          </c:val>
          <c:extLst>
            <c:ext xmlns:c16="http://schemas.microsoft.com/office/drawing/2014/chart" uri="{C3380CC4-5D6E-409C-BE32-E72D297353CC}">
              <c16:uniqueId val="{0000004F-8636-4D08-A536-92A711628AE1}"/>
            </c:ext>
          </c:extLst>
        </c:ser>
        <c:ser>
          <c:idx val="8"/>
          <c:order val="8"/>
          <c:tx>
            <c:strRef>
              <c:f>Sheet1!$J$1</c:f>
              <c:strCache>
                <c:ptCount val="1"/>
                <c:pt idx="0">
                  <c:v>9</c:v>
                </c:pt>
              </c:strCache>
            </c:strRef>
          </c:tx>
          <c:spPr>
            <a:solidFill>
              <a:schemeClr val="accent3">
                <a:lumMod val="60000"/>
              </a:schemeClr>
            </a:solidFill>
            <a:ln>
              <a:noFill/>
            </a:ln>
            <a:effectLst/>
          </c:spPr>
          <c:invertIfNegative val="0"/>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Sheet1!$J$2:$J$10</c:f>
              <c:numCache>
                <c:formatCode>General</c:formatCode>
                <c:ptCount val="9"/>
                <c:pt idx="0">
                  <c:v>0</c:v>
                </c:pt>
                <c:pt idx="1">
                  <c:v>0</c:v>
                </c:pt>
                <c:pt idx="2">
                  <c:v>0</c:v>
                </c:pt>
                <c:pt idx="3">
                  <c:v>0</c:v>
                </c:pt>
                <c:pt idx="4">
                  <c:v>0</c:v>
                </c:pt>
                <c:pt idx="5">
                  <c:v>0</c:v>
                </c:pt>
                <c:pt idx="6">
                  <c:v>0</c:v>
                </c:pt>
                <c:pt idx="7">
                  <c:v>0</c:v>
                </c:pt>
                <c:pt idx="8">
                  <c:v>1</c:v>
                </c:pt>
              </c:numCache>
            </c:numRef>
          </c:val>
          <c:extLst>
            <c:ext xmlns:c16="http://schemas.microsoft.com/office/drawing/2014/chart" uri="{C3380CC4-5D6E-409C-BE32-E72D297353CC}">
              <c16:uniqueId val="{00000050-8636-4D08-A536-92A711628AE1}"/>
            </c:ext>
          </c:extLst>
        </c:ser>
        <c:ser>
          <c:idx val="9"/>
          <c:order val="9"/>
          <c:tx>
            <c:strRef>
              <c:f>Sheet1!$K$1</c:f>
              <c:strCache>
                <c:ptCount val="1"/>
                <c:pt idx="0">
                  <c:v>10</c:v>
                </c:pt>
              </c:strCache>
            </c:strRef>
          </c:tx>
          <c:spPr>
            <a:solidFill>
              <a:schemeClr val="accent4">
                <a:lumMod val="60000"/>
              </a:schemeClr>
            </a:solidFill>
            <a:ln>
              <a:noFill/>
            </a:ln>
            <a:effectLst/>
          </c:spPr>
          <c:invertIfNegative val="0"/>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Sheet1!$K$2:$K$10</c:f>
              <c:numCache>
                <c:formatCode>General</c:formatCode>
                <c:ptCount val="9"/>
              </c:numCache>
            </c:numRef>
          </c:val>
          <c:extLst>
            <c:ext xmlns:c16="http://schemas.microsoft.com/office/drawing/2014/chart" uri="{C3380CC4-5D6E-409C-BE32-E72D297353CC}">
              <c16:uniqueId val="{00000051-8636-4D08-A536-92A711628AE1}"/>
            </c:ext>
          </c:extLst>
        </c:ser>
        <c:dLbls>
          <c:showLegendKey val="0"/>
          <c:showVal val="0"/>
          <c:showCatName val="0"/>
          <c:showSerName val="0"/>
          <c:showPercent val="0"/>
          <c:showBubbleSize val="0"/>
        </c:dLbls>
        <c:gapWidth val="150"/>
        <c:overlap val="100"/>
        <c:axId val="244124160"/>
        <c:axId val="202687128"/>
      </c:barChart>
      <c:catAx>
        <c:axId val="24412416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2687128"/>
        <c:crosses val="autoZero"/>
        <c:auto val="1"/>
        <c:lblAlgn val="ctr"/>
        <c:lblOffset val="100"/>
        <c:noMultiLvlLbl val="0"/>
      </c:catAx>
      <c:valAx>
        <c:axId val="2026871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44124160"/>
        <c:crosses val="autoZero"/>
        <c:crossBetween val="between"/>
      </c:valAx>
      <c:spPr>
        <a:solidFill>
          <a:schemeClr val="bg1"/>
        </a:solidFill>
        <a:ln>
          <a:noFill/>
        </a:ln>
        <a:effectLst>
          <a:outerShdw blurRad="50800" dist="50800" dir="5400000" sx="1000" sy="1000" algn="ctr" rotWithShape="0">
            <a:srgbClr val="000000"/>
          </a:outerShdw>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2E80701-CB0D-4B7E-BE3C-0C35DF8FB8F3}" type="datetimeFigureOut">
              <a:rPr lang="en-IN" smtClean="0"/>
              <a:t>19-11-2025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33BD190-B59A-47D5-88B8-692384BAE5BC}" type="slidenum">
              <a:rPr lang="en-IN" smtClean="0"/>
              <a:t>‹#›</a:t>
            </a:fld>
            <a:endParaRPr lang="en-IN"/>
          </a:p>
        </p:txBody>
      </p:sp>
    </p:spTree>
    <p:extLst>
      <p:ext uri="{BB962C8B-B14F-4D97-AF65-F5344CB8AC3E}">
        <p14:creationId xmlns:p14="http://schemas.microsoft.com/office/powerpoint/2010/main" val="696319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19</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20</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21</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22</a:t>
            </a:fld>
            <a:endParaRPr lang="en-US"/>
          </a:p>
        </p:txBody>
      </p:sp>
    </p:spTree>
    <p:extLst>
      <p:ext uri="{BB962C8B-B14F-4D97-AF65-F5344CB8AC3E}">
        <p14:creationId xmlns:p14="http://schemas.microsoft.com/office/powerpoint/2010/main" val="41279420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23</a:t>
            </a:fld>
            <a:endParaRPr lang="en-US"/>
          </a:p>
        </p:txBody>
      </p:sp>
    </p:spTree>
    <p:extLst>
      <p:ext uri="{BB962C8B-B14F-4D97-AF65-F5344CB8AC3E}">
        <p14:creationId xmlns:p14="http://schemas.microsoft.com/office/powerpoint/2010/main" val="1309356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400" b="0" i="0">
                <a:solidFill>
                  <a:srgbClr val="FF0000"/>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FF0000"/>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FF0000"/>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FF0000"/>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0222877" y="264413"/>
            <a:ext cx="1106538" cy="533400"/>
          </a:xfrm>
          <a:prstGeom prst="rect">
            <a:avLst/>
          </a:prstGeom>
        </p:spPr>
      </p:pic>
      <p:sp>
        <p:nvSpPr>
          <p:cNvPr id="2" name="Holder 2"/>
          <p:cNvSpPr>
            <a:spLocks noGrp="1"/>
          </p:cNvSpPr>
          <p:nvPr>
            <p:ph type="title"/>
          </p:nvPr>
        </p:nvSpPr>
        <p:spPr>
          <a:xfrm>
            <a:off x="5924169" y="1130553"/>
            <a:ext cx="4666869" cy="427736"/>
          </a:xfrm>
          <a:prstGeom prst="rect">
            <a:avLst/>
          </a:prstGeom>
        </p:spPr>
        <p:txBody>
          <a:bodyPr wrap="square" lIns="0" tIns="0" rIns="0" bIns="0">
            <a:spAutoFit/>
          </a:bodyPr>
          <a:lstStyle>
            <a:lvl1pPr>
              <a:defRPr sz="2400" b="0" i="0">
                <a:solidFill>
                  <a:srgbClr val="FF0000"/>
                </a:solidFill>
                <a:latin typeface="Trebuchet MS"/>
                <a:cs typeface="Trebuchet MS"/>
              </a:defRPr>
            </a:lvl1pPr>
          </a:lstStyle>
          <a:p>
            <a:endParaRPr/>
          </a:p>
        </p:txBody>
      </p:sp>
      <p:sp>
        <p:nvSpPr>
          <p:cNvPr id="3" name="Holder 3"/>
          <p:cNvSpPr>
            <a:spLocks noGrp="1"/>
          </p:cNvSpPr>
          <p:nvPr>
            <p:ph type="body" idx="1"/>
          </p:nvPr>
        </p:nvSpPr>
        <p:spPr>
          <a:xfrm>
            <a:off x="1803019" y="3134614"/>
            <a:ext cx="8442325" cy="20256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21482" y="606349"/>
            <a:ext cx="5321300" cy="1085215"/>
          </a:xfrm>
          <a:prstGeom prst="rect">
            <a:avLst/>
          </a:prstGeom>
        </p:spPr>
        <p:txBody>
          <a:bodyPr vert="horz" wrap="square" lIns="0" tIns="48895" rIns="0" bIns="0" rtlCol="0">
            <a:spAutoFit/>
          </a:bodyPr>
          <a:lstStyle/>
          <a:p>
            <a:pPr marL="12700">
              <a:lnSpc>
                <a:spcPct val="100000"/>
              </a:lnSpc>
              <a:spcBef>
                <a:spcPts val="385"/>
              </a:spcBef>
              <a:tabLst>
                <a:tab pos="2465070" algn="l"/>
              </a:tabLst>
            </a:pPr>
            <a:r>
              <a:rPr sz="2800" b="1" spc="-10" dirty="0">
                <a:latin typeface="Trebuchet MS"/>
                <a:cs typeface="Trebuchet MS"/>
              </a:rPr>
              <a:t>UE23CS320A–</a:t>
            </a:r>
            <a:r>
              <a:rPr sz="2800" b="1" dirty="0">
                <a:latin typeface="Trebuchet MS"/>
                <a:cs typeface="Trebuchet MS"/>
              </a:rPr>
              <a:t>	Project</a:t>
            </a:r>
            <a:r>
              <a:rPr sz="2800" b="1" spc="-80" dirty="0">
                <a:latin typeface="Trebuchet MS"/>
                <a:cs typeface="Trebuchet MS"/>
              </a:rPr>
              <a:t> </a:t>
            </a:r>
            <a:r>
              <a:rPr sz="2800" b="1" dirty="0">
                <a:latin typeface="Trebuchet MS"/>
                <a:cs typeface="Trebuchet MS"/>
              </a:rPr>
              <a:t>Phase</a:t>
            </a:r>
            <a:r>
              <a:rPr sz="2800" b="1" spc="-60" dirty="0">
                <a:latin typeface="Trebuchet MS"/>
                <a:cs typeface="Trebuchet MS"/>
              </a:rPr>
              <a:t> </a:t>
            </a:r>
            <a:r>
              <a:rPr sz="2800" b="1" dirty="0">
                <a:latin typeface="Trebuchet MS"/>
                <a:cs typeface="Trebuchet MS"/>
              </a:rPr>
              <a:t>–</a:t>
            </a:r>
            <a:r>
              <a:rPr sz="2800" b="1" spc="-65" dirty="0">
                <a:latin typeface="Trebuchet MS"/>
                <a:cs typeface="Trebuchet MS"/>
              </a:rPr>
              <a:t> </a:t>
            </a:r>
            <a:r>
              <a:rPr sz="2800" b="1" spc="-50" dirty="0">
                <a:latin typeface="Trebuchet MS"/>
                <a:cs typeface="Trebuchet MS"/>
              </a:rPr>
              <a:t>1</a:t>
            </a:r>
            <a:endParaRPr sz="2800">
              <a:latin typeface="Trebuchet MS"/>
              <a:cs typeface="Trebuchet MS"/>
            </a:endParaRPr>
          </a:p>
          <a:p>
            <a:pPr marL="153670" algn="ctr">
              <a:lnSpc>
                <a:spcPct val="100000"/>
              </a:lnSpc>
              <a:spcBef>
                <a:spcPts val="375"/>
              </a:spcBef>
            </a:pPr>
            <a:r>
              <a:rPr sz="3600" dirty="0"/>
              <a:t>Review</a:t>
            </a:r>
            <a:r>
              <a:rPr sz="3600" spc="-185" dirty="0"/>
              <a:t> </a:t>
            </a:r>
            <a:r>
              <a:rPr sz="3600" spc="-25" dirty="0"/>
              <a:t>-</a:t>
            </a:r>
            <a:r>
              <a:rPr sz="3600" spc="-50" dirty="0"/>
              <a:t>2</a:t>
            </a:r>
            <a:endParaRPr sz="3600"/>
          </a:p>
        </p:txBody>
      </p:sp>
      <p:sp>
        <p:nvSpPr>
          <p:cNvPr id="3" name="object 3"/>
          <p:cNvSpPr txBox="1"/>
          <p:nvPr/>
        </p:nvSpPr>
        <p:spPr>
          <a:xfrm>
            <a:off x="1350391" y="2589403"/>
            <a:ext cx="7674609" cy="2598147"/>
          </a:xfrm>
          <a:prstGeom prst="rect">
            <a:avLst/>
          </a:prstGeom>
        </p:spPr>
        <p:txBody>
          <a:bodyPr vert="horz" wrap="square" lIns="0" tIns="12700" rIns="0" bIns="0" rtlCol="0">
            <a:spAutoFit/>
          </a:bodyPr>
          <a:lstStyle/>
          <a:p>
            <a:pPr marL="12700" marR="5080">
              <a:lnSpc>
                <a:spcPct val="100000"/>
              </a:lnSpc>
              <a:spcBef>
                <a:spcPts val="100"/>
              </a:spcBef>
              <a:tabLst>
                <a:tab pos="1991995" algn="l"/>
              </a:tabLst>
            </a:pPr>
            <a:r>
              <a:rPr sz="2400" spc="-10" dirty="0">
                <a:solidFill>
                  <a:srgbClr val="0033CC"/>
                </a:solidFill>
                <a:latin typeface="Trebuchet MS"/>
                <a:cs typeface="Trebuchet MS"/>
              </a:rPr>
              <a:t>Project</a:t>
            </a:r>
            <a:r>
              <a:rPr sz="2400" spc="-145" dirty="0">
                <a:solidFill>
                  <a:srgbClr val="0033CC"/>
                </a:solidFill>
                <a:latin typeface="Trebuchet MS"/>
                <a:cs typeface="Trebuchet MS"/>
              </a:rPr>
              <a:t> </a:t>
            </a:r>
            <a:r>
              <a:rPr sz="2400" spc="-10" dirty="0">
                <a:solidFill>
                  <a:srgbClr val="0033CC"/>
                </a:solidFill>
                <a:latin typeface="Trebuchet MS"/>
                <a:cs typeface="Trebuchet MS"/>
              </a:rPr>
              <a:t>Title</a:t>
            </a:r>
            <a:r>
              <a:rPr sz="2400" dirty="0">
                <a:solidFill>
                  <a:srgbClr val="0033CC"/>
                </a:solidFill>
                <a:latin typeface="Trebuchet MS"/>
                <a:cs typeface="Trebuchet MS"/>
              </a:rPr>
              <a:t>	:Driver</a:t>
            </a:r>
            <a:r>
              <a:rPr sz="2400" spc="-80" dirty="0">
                <a:solidFill>
                  <a:srgbClr val="0033CC"/>
                </a:solidFill>
                <a:latin typeface="Trebuchet MS"/>
                <a:cs typeface="Trebuchet MS"/>
              </a:rPr>
              <a:t> </a:t>
            </a:r>
            <a:r>
              <a:rPr sz="2400" spc="-10" dirty="0">
                <a:solidFill>
                  <a:srgbClr val="0033CC"/>
                </a:solidFill>
                <a:latin typeface="Trebuchet MS"/>
                <a:cs typeface="Trebuchet MS"/>
              </a:rPr>
              <a:t>Behavior</a:t>
            </a:r>
            <a:r>
              <a:rPr sz="2400" spc="-175" dirty="0">
                <a:solidFill>
                  <a:srgbClr val="0033CC"/>
                </a:solidFill>
                <a:latin typeface="Trebuchet MS"/>
                <a:cs typeface="Trebuchet MS"/>
              </a:rPr>
              <a:t> </a:t>
            </a:r>
            <a:r>
              <a:rPr sz="2400" dirty="0">
                <a:solidFill>
                  <a:srgbClr val="0033CC"/>
                </a:solidFill>
                <a:latin typeface="Trebuchet MS"/>
                <a:cs typeface="Trebuchet MS"/>
              </a:rPr>
              <a:t>Anomaly</a:t>
            </a:r>
            <a:r>
              <a:rPr sz="2400" spc="-90" dirty="0">
                <a:solidFill>
                  <a:srgbClr val="0033CC"/>
                </a:solidFill>
                <a:latin typeface="Trebuchet MS"/>
                <a:cs typeface="Trebuchet MS"/>
              </a:rPr>
              <a:t> </a:t>
            </a:r>
            <a:r>
              <a:rPr sz="2400" dirty="0">
                <a:solidFill>
                  <a:srgbClr val="0033CC"/>
                </a:solidFill>
                <a:latin typeface="Trebuchet MS"/>
                <a:cs typeface="Trebuchet MS"/>
              </a:rPr>
              <a:t>Detection</a:t>
            </a:r>
            <a:r>
              <a:rPr sz="2400" spc="-70" dirty="0">
                <a:solidFill>
                  <a:srgbClr val="0033CC"/>
                </a:solidFill>
                <a:latin typeface="Trebuchet MS"/>
                <a:cs typeface="Trebuchet MS"/>
              </a:rPr>
              <a:t> </a:t>
            </a:r>
            <a:r>
              <a:rPr sz="2400" spc="-10" dirty="0">
                <a:solidFill>
                  <a:srgbClr val="0033CC"/>
                </a:solidFill>
                <a:latin typeface="Trebuchet MS"/>
                <a:cs typeface="Trebuchet MS"/>
              </a:rPr>
              <a:t>using </a:t>
            </a:r>
            <a:r>
              <a:rPr sz="2400" dirty="0">
                <a:solidFill>
                  <a:srgbClr val="0033CC"/>
                </a:solidFill>
                <a:latin typeface="Trebuchet MS"/>
                <a:cs typeface="Trebuchet MS"/>
              </a:rPr>
              <a:t>Deep</a:t>
            </a:r>
            <a:r>
              <a:rPr sz="2400" spc="-85" dirty="0">
                <a:solidFill>
                  <a:srgbClr val="0033CC"/>
                </a:solidFill>
                <a:latin typeface="Trebuchet MS"/>
                <a:cs typeface="Trebuchet MS"/>
              </a:rPr>
              <a:t> </a:t>
            </a:r>
            <a:r>
              <a:rPr sz="2400" dirty="0">
                <a:solidFill>
                  <a:srgbClr val="0033CC"/>
                </a:solidFill>
                <a:latin typeface="Trebuchet MS"/>
                <a:cs typeface="Trebuchet MS"/>
              </a:rPr>
              <a:t>Learning</a:t>
            </a:r>
            <a:r>
              <a:rPr sz="2400" spc="-80" dirty="0">
                <a:solidFill>
                  <a:srgbClr val="0033CC"/>
                </a:solidFill>
                <a:latin typeface="Trebuchet MS"/>
                <a:cs typeface="Trebuchet MS"/>
              </a:rPr>
              <a:t> </a:t>
            </a:r>
            <a:r>
              <a:rPr sz="2400" dirty="0">
                <a:solidFill>
                  <a:srgbClr val="0033CC"/>
                </a:solidFill>
                <a:latin typeface="Trebuchet MS"/>
                <a:cs typeface="Trebuchet MS"/>
              </a:rPr>
              <a:t>for</a:t>
            </a:r>
            <a:r>
              <a:rPr sz="2400" spc="-180" dirty="0">
                <a:solidFill>
                  <a:srgbClr val="0033CC"/>
                </a:solidFill>
                <a:latin typeface="Trebuchet MS"/>
                <a:cs typeface="Trebuchet MS"/>
              </a:rPr>
              <a:t> </a:t>
            </a:r>
            <a:r>
              <a:rPr sz="2400" dirty="0">
                <a:solidFill>
                  <a:srgbClr val="0033CC"/>
                </a:solidFill>
                <a:latin typeface="Trebuchet MS"/>
                <a:cs typeface="Trebuchet MS"/>
              </a:rPr>
              <a:t>Accident</a:t>
            </a:r>
            <a:r>
              <a:rPr sz="2400" spc="-90" dirty="0">
                <a:solidFill>
                  <a:srgbClr val="0033CC"/>
                </a:solidFill>
                <a:latin typeface="Trebuchet MS"/>
                <a:cs typeface="Trebuchet MS"/>
              </a:rPr>
              <a:t> </a:t>
            </a:r>
            <a:r>
              <a:rPr sz="2400" spc="-10" dirty="0">
                <a:solidFill>
                  <a:srgbClr val="0033CC"/>
                </a:solidFill>
                <a:latin typeface="Trebuchet MS"/>
                <a:cs typeface="Trebuchet MS"/>
              </a:rPr>
              <a:t>Prevention</a:t>
            </a:r>
            <a:endParaRPr sz="2400" dirty="0">
              <a:latin typeface="Trebuchet MS"/>
              <a:cs typeface="Trebuchet MS"/>
            </a:endParaRPr>
          </a:p>
          <a:p>
            <a:pPr marL="12700" marR="5227320">
              <a:lnSpc>
                <a:spcPct val="200000"/>
              </a:lnSpc>
              <a:tabLst>
                <a:tab pos="2007235" algn="l"/>
              </a:tabLst>
            </a:pPr>
            <a:r>
              <a:rPr sz="2400" dirty="0">
                <a:solidFill>
                  <a:srgbClr val="0033CC"/>
                </a:solidFill>
                <a:latin typeface="Trebuchet MS"/>
                <a:cs typeface="Trebuchet MS"/>
              </a:rPr>
              <a:t>Project</a:t>
            </a:r>
            <a:r>
              <a:rPr sz="2400" spc="-180" dirty="0">
                <a:solidFill>
                  <a:srgbClr val="0033CC"/>
                </a:solidFill>
                <a:latin typeface="Trebuchet MS"/>
                <a:cs typeface="Trebuchet MS"/>
              </a:rPr>
              <a:t> </a:t>
            </a:r>
            <a:r>
              <a:rPr sz="2400" spc="-25" dirty="0">
                <a:solidFill>
                  <a:srgbClr val="0033CC"/>
                </a:solidFill>
                <a:latin typeface="Trebuchet MS"/>
                <a:cs typeface="Trebuchet MS"/>
              </a:rPr>
              <a:t>ID</a:t>
            </a:r>
            <a:r>
              <a:rPr sz="2400" dirty="0">
                <a:solidFill>
                  <a:srgbClr val="0033CC"/>
                </a:solidFill>
                <a:latin typeface="Trebuchet MS"/>
                <a:cs typeface="Trebuchet MS"/>
              </a:rPr>
              <a:t>	</a:t>
            </a:r>
            <a:r>
              <a:rPr sz="2400" spc="-25" dirty="0">
                <a:solidFill>
                  <a:srgbClr val="0033CC"/>
                </a:solidFill>
                <a:latin typeface="Trebuchet MS"/>
                <a:cs typeface="Trebuchet MS"/>
              </a:rPr>
              <a:t>:</a:t>
            </a:r>
            <a:r>
              <a:rPr sz="2400" spc="-25" dirty="0">
                <a:solidFill>
                  <a:srgbClr val="0000FF"/>
                </a:solidFill>
                <a:latin typeface="Trebuchet MS"/>
                <a:cs typeface="Trebuchet MS"/>
              </a:rPr>
              <a:t>06</a:t>
            </a:r>
            <a:endParaRPr lang="en-US" sz="2400" spc="-25" dirty="0">
              <a:solidFill>
                <a:srgbClr val="0000FF"/>
              </a:solidFill>
              <a:latin typeface="Trebuchet MS"/>
              <a:cs typeface="Trebuchet MS"/>
            </a:endParaRPr>
          </a:p>
          <a:p>
            <a:pPr marL="12700" marR="5227320">
              <a:lnSpc>
                <a:spcPct val="200000"/>
              </a:lnSpc>
              <a:tabLst>
                <a:tab pos="2007235" algn="l"/>
              </a:tabLst>
            </a:pPr>
            <a:r>
              <a:rPr sz="2400" dirty="0">
                <a:solidFill>
                  <a:srgbClr val="0033CC"/>
                </a:solidFill>
                <a:latin typeface="Trebuchet MS"/>
                <a:cs typeface="Trebuchet MS"/>
              </a:rPr>
              <a:t>Project</a:t>
            </a:r>
            <a:r>
              <a:rPr sz="2400" spc="-135" dirty="0">
                <a:solidFill>
                  <a:srgbClr val="0033CC"/>
                </a:solidFill>
                <a:latin typeface="Trebuchet MS"/>
                <a:cs typeface="Trebuchet MS"/>
              </a:rPr>
              <a:t> </a:t>
            </a:r>
            <a:r>
              <a:rPr sz="2400" dirty="0">
                <a:solidFill>
                  <a:srgbClr val="0033CC"/>
                </a:solidFill>
                <a:latin typeface="Trebuchet MS"/>
                <a:cs typeface="Trebuchet MS"/>
              </a:rPr>
              <a:t>Guide</a:t>
            </a:r>
            <a:r>
              <a:rPr sz="2400" spc="-110" dirty="0">
                <a:solidFill>
                  <a:srgbClr val="0033CC"/>
                </a:solidFill>
                <a:latin typeface="Trebuchet MS"/>
                <a:cs typeface="Trebuchet MS"/>
              </a:rPr>
              <a:t> </a:t>
            </a:r>
            <a:r>
              <a:rPr sz="2400" spc="-50" dirty="0">
                <a:solidFill>
                  <a:srgbClr val="0033CC"/>
                </a:solidFill>
                <a:latin typeface="Trebuchet MS"/>
                <a:cs typeface="Trebuchet MS"/>
              </a:rPr>
              <a:t>:</a:t>
            </a:r>
            <a:endParaRPr sz="2400" dirty="0">
              <a:latin typeface="Trebuchet MS"/>
              <a:cs typeface="Trebuchet MS"/>
            </a:endParaRPr>
          </a:p>
          <a:p>
            <a:pPr marL="12700">
              <a:lnSpc>
                <a:spcPct val="100000"/>
              </a:lnSpc>
              <a:tabLst>
                <a:tab pos="1987550" algn="l"/>
              </a:tabLst>
            </a:pPr>
            <a:r>
              <a:rPr sz="2400" spc="-10" dirty="0">
                <a:solidFill>
                  <a:srgbClr val="0033CC"/>
                </a:solidFill>
                <a:latin typeface="Trebuchet MS"/>
                <a:cs typeface="Trebuchet MS"/>
              </a:rPr>
              <a:t>Project</a:t>
            </a:r>
            <a:r>
              <a:rPr sz="2400" spc="-145" dirty="0">
                <a:solidFill>
                  <a:srgbClr val="0033CC"/>
                </a:solidFill>
                <a:latin typeface="Trebuchet MS"/>
                <a:cs typeface="Trebuchet MS"/>
              </a:rPr>
              <a:t> </a:t>
            </a:r>
            <a:r>
              <a:rPr sz="2400" spc="-20" dirty="0">
                <a:solidFill>
                  <a:srgbClr val="0033CC"/>
                </a:solidFill>
                <a:latin typeface="Trebuchet MS"/>
                <a:cs typeface="Trebuchet MS"/>
              </a:rPr>
              <a:t>Team</a:t>
            </a:r>
            <a:r>
              <a:rPr sz="2400" dirty="0">
                <a:solidFill>
                  <a:srgbClr val="0033CC"/>
                </a:solidFill>
                <a:latin typeface="Trebuchet MS"/>
                <a:cs typeface="Trebuchet MS"/>
              </a:rPr>
              <a:t>	:Poojary</a:t>
            </a:r>
            <a:r>
              <a:rPr sz="2400" spc="-100" dirty="0">
                <a:solidFill>
                  <a:srgbClr val="0033CC"/>
                </a:solidFill>
                <a:latin typeface="Trebuchet MS"/>
                <a:cs typeface="Trebuchet MS"/>
              </a:rPr>
              <a:t> </a:t>
            </a:r>
            <a:r>
              <a:rPr sz="2400" dirty="0">
                <a:solidFill>
                  <a:srgbClr val="0033CC"/>
                </a:solidFill>
                <a:latin typeface="Trebuchet MS"/>
                <a:cs typeface="Trebuchet MS"/>
              </a:rPr>
              <a:t>Sairaj</a:t>
            </a:r>
            <a:r>
              <a:rPr sz="2400" spc="-114" dirty="0">
                <a:solidFill>
                  <a:srgbClr val="0033CC"/>
                </a:solidFill>
                <a:latin typeface="Trebuchet MS"/>
                <a:cs typeface="Trebuchet MS"/>
              </a:rPr>
              <a:t> </a:t>
            </a:r>
            <a:r>
              <a:rPr sz="2400" dirty="0">
                <a:solidFill>
                  <a:srgbClr val="0033CC"/>
                </a:solidFill>
                <a:latin typeface="Trebuchet MS"/>
                <a:cs typeface="Trebuchet MS"/>
              </a:rPr>
              <a:t>Shankar-</a:t>
            </a:r>
            <a:r>
              <a:rPr sz="2400" spc="-105" dirty="0">
                <a:solidFill>
                  <a:srgbClr val="0033CC"/>
                </a:solidFill>
                <a:latin typeface="Trebuchet MS"/>
                <a:cs typeface="Trebuchet MS"/>
              </a:rPr>
              <a:t> </a:t>
            </a:r>
            <a:r>
              <a:rPr sz="2400" spc="-10" dirty="0">
                <a:solidFill>
                  <a:srgbClr val="0033CC"/>
                </a:solidFill>
                <a:latin typeface="Trebuchet MS"/>
                <a:cs typeface="Trebuchet MS"/>
              </a:rPr>
              <a:t>PES2UG23AM073</a:t>
            </a:r>
            <a:endParaRPr sz="2400" dirty="0">
              <a:latin typeface="Trebuchet MS"/>
              <a:cs typeface="Trebuchet MS"/>
            </a:endParaRPr>
          </a:p>
        </p:txBody>
      </p:sp>
      <p:sp>
        <p:nvSpPr>
          <p:cNvPr id="4" name="object 4"/>
          <p:cNvSpPr txBox="1"/>
          <p:nvPr/>
        </p:nvSpPr>
        <p:spPr>
          <a:xfrm>
            <a:off x="3548253" y="5150358"/>
            <a:ext cx="2422525" cy="1122680"/>
          </a:xfrm>
          <a:prstGeom prst="rect">
            <a:avLst/>
          </a:prstGeom>
        </p:spPr>
        <p:txBody>
          <a:bodyPr vert="horz" wrap="square" lIns="0" tIns="12700" rIns="0" bIns="0" rtlCol="0">
            <a:spAutoFit/>
          </a:bodyPr>
          <a:lstStyle/>
          <a:p>
            <a:pPr marL="12700" marR="5080">
              <a:lnSpc>
                <a:spcPct val="100000"/>
              </a:lnSpc>
              <a:spcBef>
                <a:spcPts val="100"/>
              </a:spcBef>
            </a:pPr>
            <a:r>
              <a:rPr sz="2400" dirty="0">
                <a:solidFill>
                  <a:srgbClr val="0033CC"/>
                </a:solidFill>
                <a:latin typeface="Trebuchet MS"/>
                <a:cs typeface="Trebuchet MS"/>
              </a:rPr>
              <a:t>Mahesh</a:t>
            </a:r>
            <a:r>
              <a:rPr sz="2400" spc="-65" dirty="0">
                <a:solidFill>
                  <a:srgbClr val="0033CC"/>
                </a:solidFill>
                <a:latin typeface="Trebuchet MS"/>
                <a:cs typeface="Trebuchet MS"/>
              </a:rPr>
              <a:t> </a:t>
            </a:r>
            <a:r>
              <a:rPr sz="2400" dirty="0">
                <a:solidFill>
                  <a:srgbClr val="0033CC"/>
                </a:solidFill>
                <a:latin typeface="Trebuchet MS"/>
                <a:cs typeface="Trebuchet MS"/>
              </a:rPr>
              <a:t>E</a:t>
            </a:r>
            <a:r>
              <a:rPr sz="2400" spc="-175" dirty="0">
                <a:solidFill>
                  <a:srgbClr val="0033CC"/>
                </a:solidFill>
                <a:latin typeface="Trebuchet MS"/>
                <a:cs typeface="Trebuchet MS"/>
              </a:rPr>
              <a:t> </a:t>
            </a:r>
            <a:r>
              <a:rPr sz="2400" spc="-10" dirty="0">
                <a:solidFill>
                  <a:srgbClr val="0033CC"/>
                </a:solidFill>
                <a:latin typeface="Trebuchet MS"/>
                <a:cs typeface="Trebuchet MS"/>
              </a:rPr>
              <a:t>Ajjer </a:t>
            </a:r>
            <a:r>
              <a:rPr sz="2400" dirty="0">
                <a:solidFill>
                  <a:srgbClr val="0033CC"/>
                </a:solidFill>
                <a:latin typeface="Trebuchet MS"/>
                <a:cs typeface="Trebuchet MS"/>
              </a:rPr>
              <a:t>Chetan</a:t>
            </a:r>
            <a:r>
              <a:rPr sz="2400" spc="-90" dirty="0">
                <a:solidFill>
                  <a:srgbClr val="0033CC"/>
                </a:solidFill>
                <a:latin typeface="Trebuchet MS"/>
                <a:cs typeface="Trebuchet MS"/>
              </a:rPr>
              <a:t> </a:t>
            </a:r>
            <a:r>
              <a:rPr sz="2400" spc="-10" dirty="0">
                <a:solidFill>
                  <a:srgbClr val="0033CC"/>
                </a:solidFill>
                <a:latin typeface="Trebuchet MS"/>
                <a:cs typeface="Trebuchet MS"/>
              </a:rPr>
              <a:t>Nadichagi </a:t>
            </a:r>
            <a:r>
              <a:rPr sz="2400" dirty="0">
                <a:solidFill>
                  <a:srgbClr val="0033CC"/>
                </a:solidFill>
                <a:latin typeface="Trebuchet MS"/>
                <a:cs typeface="Trebuchet MS"/>
              </a:rPr>
              <a:t>Ranjith</a:t>
            </a:r>
            <a:r>
              <a:rPr sz="2400" spc="-95" dirty="0">
                <a:solidFill>
                  <a:srgbClr val="0033CC"/>
                </a:solidFill>
                <a:latin typeface="Trebuchet MS"/>
                <a:cs typeface="Trebuchet MS"/>
              </a:rPr>
              <a:t> </a:t>
            </a:r>
            <a:r>
              <a:rPr sz="2400" spc="-10" dirty="0">
                <a:solidFill>
                  <a:srgbClr val="0033CC"/>
                </a:solidFill>
                <a:latin typeface="Trebuchet MS"/>
                <a:cs typeface="Trebuchet MS"/>
              </a:rPr>
              <a:t>Kumar.V</a:t>
            </a:r>
            <a:endParaRPr sz="2400" dirty="0">
              <a:latin typeface="Trebuchet MS"/>
              <a:cs typeface="Trebuchet MS"/>
            </a:endParaRPr>
          </a:p>
        </p:txBody>
      </p:sp>
      <p:sp>
        <p:nvSpPr>
          <p:cNvPr id="5" name="object 5"/>
          <p:cNvSpPr txBox="1"/>
          <p:nvPr/>
        </p:nvSpPr>
        <p:spPr>
          <a:xfrm>
            <a:off x="6576821" y="5150358"/>
            <a:ext cx="2468245" cy="1122680"/>
          </a:xfrm>
          <a:prstGeom prst="rect">
            <a:avLst/>
          </a:prstGeom>
        </p:spPr>
        <p:txBody>
          <a:bodyPr vert="horz" wrap="square" lIns="0" tIns="12700" rIns="0" bIns="0" rtlCol="0">
            <a:spAutoFit/>
          </a:bodyPr>
          <a:lstStyle/>
          <a:p>
            <a:pPr marL="219075" indent="-203835">
              <a:lnSpc>
                <a:spcPct val="100000"/>
              </a:lnSpc>
              <a:spcBef>
                <a:spcPts val="100"/>
              </a:spcBef>
              <a:buChar char="-"/>
              <a:tabLst>
                <a:tab pos="219075" algn="l"/>
              </a:tabLst>
            </a:pPr>
            <a:r>
              <a:rPr sz="2400" spc="-10" dirty="0">
                <a:solidFill>
                  <a:srgbClr val="0033CC"/>
                </a:solidFill>
                <a:latin typeface="Trebuchet MS"/>
                <a:cs typeface="Trebuchet MS"/>
              </a:rPr>
              <a:t>PES2UG23CS316</a:t>
            </a:r>
            <a:endParaRPr sz="2400">
              <a:latin typeface="Trebuchet MS"/>
              <a:cs typeface="Trebuchet MS"/>
            </a:endParaRPr>
          </a:p>
          <a:p>
            <a:pPr marL="231140" indent="-203835">
              <a:lnSpc>
                <a:spcPct val="100000"/>
              </a:lnSpc>
              <a:buChar char="-"/>
              <a:tabLst>
                <a:tab pos="231140" algn="l"/>
              </a:tabLst>
            </a:pPr>
            <a:r>
              <a:rPr sz="2400" spc="-10" dirty="0">
                <a:solidFill>
                  <a:srgbClr val="0033CC"/>
                </a:solidFill>
                <a:latin typeface="Trebuchet MS"/>
                <a:cs typeface="Trebuchet MS"/>
              </a:rPr>
              <a:t>PES2UG23CS149</a:t>
            </a:r>
            <a:endParaRPr sz="2400">
              <a:latin typeface="Trebuchet MS"/>
              <a:cs typeface="Trebuchet MS"/>
            </a:endParaRPr>
          </a:p>
          <a:p>
            <a:pPr marL="216535" indent="-203835">
              <a:lnSpc>
                <a:spcPct val="100000"/>
              </a:lnSpc>
              <a:buChar char="-"/>
              <a:tabLst>
                <a:tab pos="216535" algn="l"/>
              </a:tabLst>
            </a:pPr>
            <a:r>
              <a:rPr sz="2400" spc="-10" dirty="0">
                <a:solidFill>
                  <a:srgbClr val="0033CC"/>
                </a:solidFill>
                <a:latin typeface="Trebuchet MS"/>
                <a:cs typeface="Trebuchet MS"/>
              </a:rPr>
              <a:t>PES2UG23AM082</a:t>
            </a:r>
            <a:endParaRPr sz="2400">
              <a:latin typeface="Trebuchet MS"/>
              <a:cs typeface="Trebuchet MS"/>
            </a:endParaRPr>
          </a:p>
        </p:txBody>
      </p:sp>
      <p:sp>
        <p:nvSpPr>
          <p:cNvPr id="6" name="TextBox 5">
            <a:extLst>
              <a:ext uri="{FF2B5EF4-FFF2-40B4-BE49-F238E27FC236}">
                <a16:creationId xmlns:a16="http://schemas.microsoft.com/office/drawing/2014/main" id="{E3426FDD-9FCA-8B02-29A9-6E2175AD9D81}"/>
              </a:ext>
            </a:extLst>
          </p:cNvPr>
          <p:cNvSpPr txBox="1"/>
          <p:nvPr/>
        </p:nvSpPr>
        <p:spPr>
          <a:xfrm>
            <a:off x="3475990" y="4335173"/>
            <a:ext cx="3810000" cy="1015663"/>
          </a:xfrm>
          <a:prstGeom prst="rect">
            <a:avLst/>
          </a:prstGeom>
          <a:noFill/>
        </p:spPr>
        <p:txBody>
          <a:bodyPr wrap="square" rtlCol="0">
            <a:spAutoFit/>
          </a:bodyPr>
          <a:lstStyle/>
          <a:p>
            <a:r>
              <a:rPr lang="en-IN" sz="2400" b="1" dirty="0">
                <a:solidFill>
                  <a:srgbClr val="0033CC"/>
                </a:solidFill>
              </a:rPr>
              <a:t>Professor Pavithra S</a:t>
            </a:r>
          </a:p>
          <a:p>
            <a:endParaRPr lang="en-IN" dirty="0">
              <a:solidFill>
                <a:srgbClr val="0033CC"/>
              </a:solidFill>
            </a:endParaRP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2057400" y="1676400"/>
            <a:ext cx="8077200" cy="4724400"/>
          </a:xfrm>
          <a:prstGeom prst="rect">
            <a:avLst/>
          </a:prstGeom>
        </p:spPr>
        <p:txBody>
          <a:bodyPr/>
          <a:lstStyle/>
          <a:p>
            <a:pPr marL="685791" indent="-342900" algn="just" eaLnBrk="0" hangingPunct="0">
              <a:spcBef>
                <a:spcPct val="20000"/>
              </a:spcBef>
              <a:buFont typeface="Arial" panose="020B0604020202020204" pitchFamily="34" charset="0"/>
              <a:buChar char="•"/>
              <a:defRPr/>
            </a:pPr>
            <a:r>
              <a:rPr lang="en-IN" sz="2000" kern="0" dirty="0">
                <a:solidFill>
                  <a:srgbClr val="0000FF"/>
                </a:solidFill>
                <a:latin typeface="Trebuchet MS" pitchFamily="34" charset="0"/>
              </a:rPr>
              <a:t>Introduction and Motivation</a:t>
            </a:r>
          </a:p>
          <a:p>
            <a:pPr marL="685791" indent="-342900" algn="just" eaLnBrk="0" hangingPunct="0">
              <a:spcBef>
                <a:spcPct val="20000"/>
              </a:spcBef>
              <a:buFont typeface="Arial" panose="020B0604020202020204" pitchFamily="34" charset="0"/>
              <a:buChar char="•"/>
              <a:defRPr/>
            </a:pPr>
            <a:r>
              <a:rPr lang="en-IN" sz="2000" kern="0" dirty="0">
                <a:solidFill>
                  <a:srgbClr val="0000FF"/>
                </a:solidFill>
                <a:latin typeface="Trebuchet MS" pitchFamily="34" charset="0"/>
              </a:rPr>
              <a:t>Problem Statement</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Abstract and Scope</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Suggestions from Review – 1</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 Research / Technology gap and Challenges</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Objectives</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Literature Survey / Existing System</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Dataset exploration</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sym typeface="Trebuchet MS"/>
              </a:rPr>
              <a:t>References</a:t>
            </a:r>
            <a:endParaRPr lang="en-US" sz="2000" kern="0" dirty="0">
              <a:solidFill>
                <a:srgbClr val="0000FF"/>
              </a:solidFill>
              <a:latin typeface="Trebuchet MS" pitchFamily="34"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Agenda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1405255" y="1167129"/>
            <a:ext cx="10229850" cy="4218305"/>
          </a:xfrm>
          <a:prstGeom prst="rect">
            <a:avLst/>
          </a:prstGeom>
        </p:spPr>
        <p:txBody>
          <a:bodyPr vert="horz" wrap="square" lIns="0" tIns="12700" rIns="0" bIns="0" rtlCol="0">
            <a:spAutoFit/>
          </a:bodyPr>
          <a:lstStyle/>
          <a:p>
            <a:pPr marR="1050290" algn="r">
              <a:lnSpc>
                <a:spcPct val="100000"/>
              </a:lnSpc>
              <a:spcBef>
                <a:spcPts val="100"/>
              </a:spcBef>
            </a:pPr>
            <a:r>
              <a:rPr sz="2400" spc="-10" dirty="0">
                <a:solidFill>
                  <a:srgbClr val="FF0000"/>
                </a:solidFill>
                <a:latin typeface="Trebuchet MS"/>
                <a:cs typeface="Trebuchet MS"/>
              </a:rPr>
              <a:t>Introduction</a:t>
            </a:r>
            <a:endParaRPr sz="2400">
              <a:latin typeface="Trebuchet MS"/>
              <a:cs typeface="Trebuchet MS"/>
            </a:endParaRPr>
          </a:p>
          <a:p>
            <a:pPr>
              <a:lnSpc>
                <a:spcPct val="100000"/>
              </a:lnSpc>
              <a:spcBef>
                <a:spcPts val="1430"/>
              </a:spcBef>
            </a:pPr>
            <a:endParaRPr sz="2400">
              <a:latin typeface="Trebuchet MS"/>
              <a:cs typeface="Trebuchet MS"/>
            </a:endParaRPr>
          </a:p>
          <a:p>
            <a:pPr marL="12700" marR="5080" indent="12065" algn="just">
              <a:lnSpc>
                <a:spcPct val="100000"/>
              </a:lnSpc>
            </a:pPr>
            <a:r>
              <a:rPr sz="2400" dirty="0">
                <a:latin typeface="Arial MT"/>
                <a:cs typeface="Arial MT"/>
              </a:rPr>
              <a:t>The</a:t>
            </a:r>
            <a:r>
              <a:rPr sz="2400" spc="250" dirty="0">
                <a:latin typeface="Arial MT"/>
                <a:cs typeface="Arial MT"/>
              </a:rPr>
              <a:t> </a:t>
            </a:r>
            <a:r>
              <a:rPr sz="2400" dirty="0">
                <a:latin typeface="Arial MT"/>
                <a:cs typeface="Arial MT"/>
              </a:rPr>
              <a:t>project</a:t>
            </a:r>
            <a:r>
              <a:rPr sz="2400" spc="254" dirty="0">
                <a:latin typeface="Arial MT"/>
                <a:cs typeface="Arial MT"/>
              </a:rPr>
              <a:t> </a:t>
            </a:r>
            <a:r>
              <a:rPr sz="2400" dirty="0">
                <a:latin typeface="Arial MT"/>
                <a:cs typeface="Arial MT"/>
              </a:rPr>
              <a:t>“Driver</a:t>
            </a:r>
            <a:r>
              <a:rPr sz="2400" spc="260" dirty="0">
                <a:latin typeface="Arial MT"/>
                <a:cs typeface="Arial MT"/>
              </a:rPr>
              <a:t> </a:t>
            </a:r>
            <a:r>
              <a:rPr sz="2400" dirty="0">
                <a:latin typeface="Arial MT"/>
                <a:cs typeface="Arial MT"/>
              </a:rPr>
              <a:t>Behavior</a:t>
            </a:r>
            <a:r>
              <a:rPr sz="2400" spc="265" dirty="0">
                <a:latin typeface="Arial MT"/>
                <a:cs typeface="Arial MT"/>
              </a:rPr>
              <a:t> </a:t>
            </a:r>
            <a:r>
              <a:rPr sz="2400" dirty="0">
                <a:latin typeface="Arial MT"/>
                <a:cs typeface="Arial MT"/>
              </a:rPr>
              <a:t>Anomaly</a:t>
            </a:r>
            <a:r>
              <a:rPr sz="2400" spc="270" dirty="0">
                <a:latin typeface="Arial MT"/>
                <a:cs typeface="Arial MT"/>
              </a:rPr>
              <a:t> </a:t>
            </a:r>
            <a:r>
              <a:rPr sz="2400" dirty="0">
                <a:latin typeface="Arial MT"/>
                <a:cs typeface="Arial MT"/>
              </a:rPr>
              <a:t>Detection</a:t>
            </a:r>
            <a:r>
              <a:rPr sz="2400" spc="254" dirty="0">
                <a:latin typeface="Arial MT"/>
                <a:cs typeface="Arial MT"/>
              </a:rPr>
              <a:t> </a:t>
            </a:r>
            <a:r>
              <a:rPr sz="2400" dirty="0">
                <a:latin typeface="Arial MT"/>
                <a:cs typeface="Arial MT"/>
              </a:rPr>
              <a:t>using</a:t>
            </a:r>
            <a:r>
              <a:rPr sz="2400" spc="254" dirty="0">
                <a:latin typeface="Arial MT"/>
                <a:cs typeface="Arial MT"/>
              </a:rPr>
              <a:t> </a:t>
            </a:r>
            <a:r>
              <a:rPr sz="2400" dirty="0">
                <a:latin typeface="Arial MT"/>
                <a:cs typeface="Arial MT"/>
              </a:rPr>
              <a:t>Deep</a:t>
            </a:r>
            <a:r>
              <a:rPr sz="2400" spc="260" dirty="0">
                <a:latin typeface="Arial MT"/>
                <a:cs typeface="Arial MT"/>
              </a:rPr>
              <a:t> </a:t>
            </a:r>
            <a:r>
              <a:rPr sz="2400" dirty="0">
                <a:latin typeface="Arial MT"/>
                <a:cs typeface="Arial MT"/>
              </a:rPr>
              <a:t>Learning</a:t>
            </a:r>
            <a:r>
              <a:rPr sz="2400" spc="260" dirty="0">
                <a:latin typeface="Arial MT"/>
                <a:cs typeface="Arial MT"/>
              </a:rPr>
              <a:t> </a:t>
            </a:r>
            <a:r>
              <a:rPr sz="2400" spc="-25" dirty="0">
                <a:latin typeface="Arial MT"/>
                <a:cs typeface="Arial MT"/>
              </a:rPr>
              <a:t>for </a:t>
            </a:r>
            <a:r>
              <a:rPr sz="2400" dirty="0">
                <a:latin typeface="Arial MT"/>
                <a:cs typeface="Arial MT"/>
              </a:rPr>
              <a:t>Accident</a:t>
            </a:r>
            <a:r>
              <a:rPr sz="2400" spc="75" dirty="0">
                <a:latin typeface="Arial MT"/>
                <a:cs typeface="Arial MT"/>
              </a:rPr>
              <a:t>  </a:t>
            </a:r>
            <a:r>
              <a:rPr sz="2400" dirty="0">
                <a:latin typeface="Arial MT"/>
                <a:cs typeface="Arial MT"/>
              </a:rPr>
              <a:t>Prevention</a:t>
            </a:r>
            <a:r>
              <a:rPr sz="2400" spc="90" dirty="0">
                <a:latin typeface="Arial MT"/>
                <a:cs typeface="Arial MT"/>
              </a:rPr>
              <a:t>  </a:t>
            </a:r>
            <a:r>
              <a:rPr sz="2400" dirty="0">
                <a:latin typeface="Arial MT"/>
                <a:cs typeface="Arial MT"/>
              </a:rPr>
              <a:t>in</a:t>
            </a:r>
            <a:r>
              <a:rPr sz="2400" spc="80" dirty="0">
                <a:latin typeface="Arial MT"/>
                <a:cs typeface="Arial MT"/>
              </a:rPr>
              <a:t>  </a:t>
            </a:r>
            <a:r>
              <a:rPr sz="2400" dirty="0">
                <a:latin typeface="Arial MT"/>
                <a:cs typeface="Arial MT"/>
              </a:rPr>
              <a:t>Intelligent</a:t>
            </a:r>
            <a:r>
              <a:rPr sz="2400" spc="80" dirty="0">
                <a:latin typeface="Arial MT"/>
                <a:cs typeface="Arial MT"/>
              </a:rPr>
              <a:t>  </a:t>
            </a:r>
            <a:r>
              <a:rPr sz="2400" dirty="0">
                <a:latin typeface="Arial MT"/>
                <a:cs typeface="Arial MT"/>
              </a:rPr>
              <a:t>Transportation</a:t>
            </a:r>
            <a:r>
              <a:rPr sz="2400" spc="85" dirty="0">
                <a:latin typeface="Arial MT"/>
                <a:cs typeface="Arial MT"/>
              </a:rPr>
              <a:t>  </a:t>
            </a:r>
            <a:r>
              <a:rPr sz="2400" dirty="0">
                <a:latin typeface="Arial MT"/>
                <a:cs typeface="Arial MT"/>
              </a:rPr>
              <a:t>Systems”</a:t>
            </a:r>
            <a:r>
              <a:rPr sz="2400" spc="80" dirty="0">
                <a:latin typeface="Arial MT"/>
                <a:cs typeface="Arial MT"/>
              </a:rPr>
              <a:t>  </a:t>
            </a:r>
            <a:r>
              <a:rPr sz="2400" dirty="0">
                <a:latin typeface="Arial MT"/>
                <a:cs typeface="Arial MT"/>
              </a:rPr>
              <a:t>focuses</a:t>
            </a:r>
            <a:r>
              <a:rPr sz="2400" spc="75" dirty="0">
                <a:latin typeface="Arial MT"/>
                <a:cs typeface="Arial MT"/>
              </a:rPr>
              <a:t>  </a:t>
            </a:r>
            <a:r>
              <a:rPr sz="2400" spc="-25" dirty="0">
                <a:latin typeface="Arial MT"/>
                <a:cs typeface="Arial MT"/>
              </a:rPr>
              <a:t>on </a:t>
            </a:r>
            <a:r>
              <a:rPr sz="2400" dirty="0">
                <a:latin typeface="Arial MT"/>
                <a:cs typeface="Arial MT"/>
              </a:rPr>
              <a:t>identifying</a:t>
            </a:r>
            <a:r>
              <a:rPr sz="2400" spc="455" dirty="0">
                <a:latin typeface="Arial MT"/>
                <a:cs typeface="Arial MT"/>
              </a:rPr>
              <a:t> </a:t>
            </a:r>
            <a:r>
              <a:rPr sz="2400" dirty="0">
                <a:latin typeface="Arial MT"/>
                <a:cs typeface="Arial MT"/>
              </a:rPr>
              <a:t>abnormal</a:t>
            </a:r>
            <a:r>
              <a:rPr sz="2400" spc="470" dirty="0">
                <a:latin typeface="Arial MT"/>
                <a:cs typeface="Arial MT"/>
              </a:rPr>
              <a:t> </a:t>
            </a:r>
            <a:r>
              <a:rPr sz="2400" dirty="0">
                <a:latin typeface="Arial MT"/>
                <a:cs typeface="Arial MT"/>
              </a:rPr>
              <a:t>or</a:t>
            </a:r>
            <a:r>
              <a:rPr sz="2400" spc="459" dirty="0">
                <a:latin typeface="Arial MT"/>
                <a:cs typeface="Arial MT"/>
              </a:rPr>
              <a:t> </a:t>
            </a:r>
            <a:r>
              <a:rPr sz="2400" dirty="0">
                <a:latin typeface="Arial MT"/>
                <a:cs typeface="Arial MT"/>
              </a:rPr>
              <a:t>unsafe</a:t>
            </a:r>
            <a:r>
              <a:rPr sz="2400" spc="459" dirty="0">
                <a:latin typeface="Arial MT"/>
                <a:cs typeface="Arial MT"/>
              </a:rPr>
              <a:t> </a:t>
            </a:r>
            <a:r>
              <a:rPr sz="2400" dirty="0">
                <a:latin typeface="Arial MT"/>
                <a:cs typeface="Arial MT"/>
              </a:rPr>
              <a:t>driving</a:t>
            </a:r>
            <a:r>
              <a:rPr sz="2400" spc="465" dirty="0">
                <a:latin typeface="Arial MT"/>
                <a:cs typeface="Arial MT"/>
              </a:rPr>
              <a:t> </a:t>
            </a:r>
            <a:r>
              <a:rPr sz="2400" dirty="0">
                <a:latin typeface="Arial MT"/>
                <a:cs typeface="Arial MT"/>
              </a:rPr>
              <a:t>behaviors</a:t>
            </a:r>
            <a:r>
              <a:rPr sz="2400" spc="465" dirty="0">
                <a:latin typeface="Arial MT"/>
                <a:cs typeface="Arial MT"/>
              </a:rPr>
              <a:t> </a:t>
            </a:r>
            <a:r>
              <a:rPr sz="2400" dirty="0">
                <a:latin typeface="Arial MT"/>
                <a:cs typeface="Arial MT"/>
              </a:rPr>
              <a:t>that</a:t>
            </a:r>
            <a:r>
              <a:rPr sz="2400" spc="465" dirty="0">
                <a:latin typeface="Arial MT"/>
                <a:cs typeface="Arial MT"/>
              </a:rPr>
              <a:t> </a:t>
            </a:r>
            <a:r>
              <a:rPr sz="2400" dirty="0">
                <a:latin typeface="Arial MT"/>
                <a:cs typeface="Arial MT"/>
              </a:rPr>
              <a:t>often</a:t>
            </a:r>
            <a:r>
              <a:rPr sz="2400" spc="455" dirty="0">
                <a:latin typeface="Arial MT"/>
                <a:cs typeface="Arial MT"/>
              </a:rPr>
              <a:t> </a:t>
            </a:r>
            <a:r>
              <a:rPr sz="2400" dirty="0">
                <a:latin typeface="Arial MT"/>
                <a:cs typeface="Arial MT"/>
              </a:rPr>
              <a:t>lead</a:t>
            </a:r>
            <a:r>
              <a:rPr sz="2400" spc="459" dirty="0">
                <a:latin typeface="Arial MT"/>
                <a:cs typeface="Arial MT"/>
              </a:rPr>
              <a:t> </a:t>
            </a:r>
            <a:r>
              <a:rPr sz="2400" dirty="0">
                <a:latin typeface="Arial MT"/>
                <a:cs typeface="Arial MT"/>
              </a:rPr>
              <a:t>to</a:t>
            </a:r>
            <a:r>
              <a:rPr sz="2400" spc="450" dirty="0">
                <a:latin typeface="Arial MT"/>
                <a:cs typeface="Arial MT"/>
              </a:rPr>
              <a:t> </a:t>
            </a:r>
            <a:r>
              <a:rPr sz="2400" spc="-20" dirty="0">
                <a:latin typeface="Arial MT"/>
                <a:cs typeface="Arial MT"/>
              </a:rPr>
              <a:t>road </a:t>
            </a:r>
            <a:r>
              <a:rPr sz="2400" dirty="0">
                <a:latin typeface="Arial MT"/>
                <a:cs typeface="Arial MT"/>
              </a:rPr>
              <a:t>accidents.</a:t>
            </a:r>
            <a:r>
              <a:rPr sz="2400" spc="355" dirty="0">
                <a:latin typeface="Arial MT"/>
                <a:cs typeface="Arial MT"/>
              </a:rPr>
              <a:t> </a:t>
            </a:r>
            <a:r>
              <a:rPr sz="2400" dirty="0">
                <a:latin typeface="Arial MT"/>
                <a:cs typeface="Arial MT"/>
              </a:rPr>
              <a:t>With</a:t>
            </a:r>
            <a:r>
              <a:rPr sz="2400" spc="375" dirty="0">
                <a:latin typeface="Arial MT"/>
                <a:cs typeface="Arial MT"/>
              </a:rPr>
              <a:t> </a:t>
            </a:r>
            <a:r>
              <a:rPr sz="2400" dirty="0">
                <a:latin typeface="Arial MT"/>
                <a:cs typeface="Arial MT"/>
              </a:rPr>
              <a:t>the</a:t>
            </a:r>
            <a:r>
              <a:rPr sz="2400" spc="375" dirty="0">
                <a:latin typeface="Arial MT"/>
                <a:cs typeface="Arial MT"/>
              </a:rPr>
              <a:t> </a:t>
            </a:r>
            <a:r>
              <a:rPr sz="2400" dirty="0">
                <a:latin typeface="Arial MT"/>
                <a:cs typeface="Arial MT"/>
              </a:rPr>
              <a:t>growing</a:t>
            </a:r>
            <a:r>
              <a:rPr sz="2400" spc="380" dirty="0">
                <a:latin typeface="Arial MT"/>
                <a:cs typeface="Arial MT"/>
              </a:rPr>
              <a:t> </a:t>
            </a:r>
            <a:r>
              <a:rPr sz="2400" dirty="0">
                <a:latin typeface="Arial MT"/>
                <a:cs typeface="Arial MT"/>
              </a:rPr>
              <a:t>number</a:t>
            </a:r>
            <a:r>
              <a:rPr sz="2400" spc="385" dirty="0">
                <a:latin typeface="Arial MT"/>
                <a:cs typeface="Arial MT"/>
              </a:rPr>
              <a:t> </a:t>
            </a:r>
            <a:r>
              <a:rPr sz="2400" dirty="0">
                <a:latin typeface="Arial MT"/>
                <a:cs typeface="Arial MT"/>
              </a:rPr>
              <a:t>of</a:t>
            </a:r>
            <a:r>
              <a:rPr sz="2400" spc="380" dirty="0">
                <a:latin typeface="Arial MT"/>
                <a:cs typeface="Arial MT"/>
              </a:rPr>
              <a:t> </a:t>
            </a:r>
            <a:r>
              <a:rPr sz="2400" dirty="0">
                <a:latin typeface="Arial MT"/>
                <a:cs typeface="Arial MT"/>
              </a:rPr>
              <a:t>vehicles</a:t>
            </a:r>
            <a:r>
              <a:rPr sz="2400" spc="360" dirty="0">
                <a:latin typeface="Arial MT"/>
                <a:cs typeface="Arial MT"/>
              </a:rPr>
              <a:t> </a:t>
            </a:r>
            <a:r>
              <a:rPr sz="2400" dirty="0">
                <a:latin typeface="Arial MT"/>
                <a:cs typeface="Arial MT"/>
              </a:rPr>
              <a:t>and</a:t>
            </a:r>
            <a:r>
              <a:rPr sz="2400" spc="385" dirty="0">
                <a:latin typeface="Arial MT"/>
                <a:cs typeface="Arial MT"/>
              </a:rPr>
              <a:t> </a:t>
            </a:r>
            <a:r>
              <a:rPr sz="2400" dirty="0">
                <a:latin typeface="Arial MT"/>
                <a:cs typeface="Arial MT"/>
              </a:rPr>
              <a:t>the</a:t>
            </a:r>
            <a:r>
              <a:rPr sz="2400" spc="375" dirty="0">
                <a:latin typeface="Arial MT"/>
                <a:cs typeface="Arial MT"/>
              </a:rPr>
              <a:t> </a:t>
            </a:r>
            <a:r>
              <a:rPr sz="2400" dirty="0">
                <a:latin typeface="Arial MT"/>
                <a:cs typeface="Arial MT"/>
              </a:rPr>
              <a:t>rise</a:t>
            </a:r>
            <a:r>
              <a:rPr sz="2400" spc="370" dirty="0">
                <a:latin typeface="Arial MT"/>
                <a:cs typeface="Arial MT"/>
              </a:rPr>
              <a:t> </a:t>
            </a:r>
            <a:r>
              <a:rPr sz="2400" dirty="0">
                <a:latin typeface="Arial MT"/>
                <a:cs typeface="Arial MT"/>
              </a:rPr>
              <a:t>in</a:t>
            </a:r>
            <a:r>
              <a:rPr sz="2400" spc="375" dirty="0">
                <a:latin typeface="Arial MT"/>
                <a:cs typeface="Arial MT"/>
              </a:rPr>
              <a:t> </a:t>
            </a:r>
            <a:r>
              <a:rPr sz="2400" spc="-10" dirty="0">
                <a:latin typeface="Arial MT"/>
                <a:cs typeface="Arial MT"/>
              </a:rPr>
              <a:t>accident </a:t>
            </a:r>
            <a:r>
              <a:rPr sz="2400" dirty="0">
                <a:latin typeface="Arial MT"/>
                <a:cs typeface="Arial MT"/>
              </a:rPr>
              <a:t>rates</a:t>
            </a:r>
            <a:r>
              <a:rPr sz="2400" spc="380" dirty="0">
                <a:latin typeface="Arial MT"/>
                <a:cs typeface="Arial MT"/>
              </a:rPr>
              <a:t> </a:t>
            </a:r>
            <a:r>
              <a:rPr sz="2400" dirty="0">
                <a:latin typeface="Arial MT"/>
                <a:cs typeface="Arial MT"/>
              </a:rPr>
              <a:t>due</a:t>
            </a:r>
            <a:r>
              <a:rPr sz="2400" spc="375" dirty="0">
                <a:latin typeface="Arial MT"/>
                <a:cs typeface="Arial MT"/>
              </a:rPr>
              <a:t> </a:t>
            </a:r>
            <a:r>
              <a:rPr sz="2400" dirty="0">
                <a:latin typeface="Arial MT"/>
                <a:cs typeface="Arial MT"/>
              </a:rPr>
              <a:t>to</a:t>
            </a:r>
            <a:r>
              <a:rPr sz="2400" spc="380" dirty="0">
                <a:latin typeface="Arial MT"/>
                <a:cs typeface="Arial MT"/>
              </a:rPr>
              <a:t> </a:t>
            </a:r>
            <a:r>
              <a:rPr sz="2400" dirty="0">
                <a:latin typeface="Arial MT"/>
                <a:cs typeface="Arial MT"/>
              </a:rPr>
              <a:t>human</a:t>
            </a:r>
            <a:r>
              <a:rPr sz="2400" spc="375" dirty="0">
                <a:latin typeface="Arial MT"/>
                <a:cs typeface="Arial MT"/>
              </a:rPr>
              <a:t> </a:t>
            </a:r>
            <a:r>
              <a:rPr sz="2400" dirty="0">
                <a:latin typeface="Arial MT"/>
                <a:cs typeface="Arial MT"/>
              </a:rPr>
              <a:t>error,</a:t>
            </a:r>
            <a:r>
              <a:rPr sz="2400" spc="385" dirty="0">
                <a:latin typeface="Arial MT"/>
                <a:cs typeface="Arial MT"/>
              </a:rPr>
              <a:t> </a:t>
            </a:r>
            <a:r>
              <a:rPr sz="2400" dirty="0">
                <a:latin typeface="Arial MT"/>
                <a:cs typeface="Arial MT"/>
              </a:rPr>
              <a:t>it</a:t>
            </a:r>
            <a:r>
              <a:rPr sz="2400" spc="375" dirty="0">
                <a:latin typeface="Arial MT"/>
                <a:cs typeface="Arial MT"/>
              </a:rPr>
              <a:t> </a:t>
            </a:r>
            <a:r>
              <a:rPr sz="2400" dirty="0">
                <a:latin typeface="Arial MT"/>
                <a:cs typeface="Arial MT"/>
              </a:rPr>
              <a:t>has</a:t>
            </a:r>
            <a:r>
              <a:rPr sz="2400" spc="380" dirty="0">
                <a:latin typeface="Arial MT"/>
                <a:cs typeface="Arial MT"/>
              </a:rPr>
              <a:t> </a:t>
            </a:r>
            <a:r>
              <a:rPr sz="2400" dirty="0">
                <a:latin typeface="Arial MT"/>
                <a:cs typeface="Arial MT"/>
              </a:rPr>
              <a:t>become</a:t>
            </a:r>
            <a:r>
              <a:rPr sz="2400" spc="385" dirty="0">
                <a:latin typeface="Arial MT"/>
                <a:cs typeface="Arial MT"/>
              </a:rPr>
              <a:t> </a:t>
            </a:r>
            <a:r>
              <a:rPr sz="2400" dirty="0">
                <a:latin typeface="Arial MT"/>
                <a:cs typeface="Arial MT"/>
              </a:rPr>
              <a:t>essential</a:t>
            </a:r>
            <a:r>
              <a:rPr sz="2400" spc="385" dirty="0">
                <a:latin typeface="Arial MT"/>
                <a:cs typeface="Arial MT"/>
              </a:rPr>
              <a:t> </a:t>
            </a:r>
            <a:r>
              <a:rPr sz="2400" dirty="0">
                <a:latin typeface="Arial MT"/>
                <a:cs typeface="Arial MT"/>
              </a:rPr>
              <a:t>to</a:t>
            </a:r>
            <a:r>
              <a:rPr sz="2400" spc="375" dirty="0">
                <a:latin typeface="Arial MT"/>
                <a:cs typeface="Arial MT"/>
              </a:rPr>
              <a:t> </a:t>
            </a:r>
            <a:r>
              <a:rPr sz="2400" dirty="0">
                <a:latin typeface="Arial MT"/>
                <a:cs typeface="Arial MT"/>
              </a:rPr>
              <a:t>develop</a:t>
            </a:r>
            <a:r>
              <a:rPr sz="2400" spc="385" dirty="0">
                <a:latin typeface="Arial MT"/>
                <a:cs typeface="Arial MT"/>
              </a:rPr>
              <a:t> </a:t>
            </a:r>
            <a:r>
              <a:rPr sz="2400" spc="-10" dirty="0">
                <a:latin typeface="Arial MT"/>
                <a:cs typeface="Arial MT"/>
              </a:rPr>
              <a:t>intelligent </a:t>
            </a:r>
            <a:r>
              <a:rPr sz="2400" dirty="0">
                <a:latin typeface="Arial MT"/>
                <a:cs typeface="Arial MT"/>
              </a:rPr>
              <a:t>systems</a:t>
            </a:r>
            <a:r>
              <a:rPr sz="2400" spc="265" dirty="0">
                <a:latin typeface="Arial MT"/>
                <a:cs typeface="Arial MT"/>
              </a:rPr>
              <a:t> </a:t>
            </a:r>
            <a:r>
              <a:rPr sz="2400" dirty="0">
                <a:latin typeface="Arial MT"/>
                <a:cs typeface="Arial MT"/>
              </a:rPr>
              <a:t>that</a:t>
            </a:r>
            <a:r>
              <a:rPr sz="2400" spc="275" dirty="0">
                <a:latin typeface="Arial MT"/>
                <a:cs typeface="Arial MT"/>
              </a:rPr>
              <a:t> </a:t>
            </a:r>
            <a:r>
              <a:rPr sz="2400" dirty="0">
                <a:latin typeface="Arial MT"/>
                <a:cs typeface="Arial MT"/>
              </a:rPr>
              <a:t>can</a:t>
            </a:r>
            <a:r>
              <a:rPr sz="2400" spc="265" dirty="0">
                <a:latin typeface="Arial MT"/>
                <a:cs typeface="Arial MT"/>
              </a:rPr>
              <a:t> </a:t>
            </a:r>
            <a:r>
              <a:rPr sz="2400" dirty="0">
                <a:latin typeface="Arial MT"/>
                <a:cs typeface="Arial MT"/>
              </a:rPr>
              <a:t>monitor</a:t>
            </a:r>
            <a:r>
              <a:rPr sz="2400" spc="280" dirty="0">
                <a:latin typeface="Arial MT"/>
                <a:cs typeface="Arial MT"/>
              </a:rPr>
              <a:t> </a:t>
            </a:r>
            <a:r>
              <a:rPr sz="2400" dirty="0">
                <a:latin typeface="Arial MT"/>
                <a:cs typeface="Arial MT"/>
              </a:rPr>
              <a:t>and</a:t>
            </a:r>
            <a:r>
              <a:rPr sz="2400" spc="270" dirty="0">
                <a:latin typeface="Arial MT"/>
                <a:cs typeface="Arial MT"/>
              </a:rPr>
              <a:t> </a:t>
            </a:r>
            <a:r>
              <a:rPr sz="2400" dirty="0">
                <a:latin typeface="Arial MT"/>
                <a:cs typeface="Arial MT"/>
              </a:rPr>
              <a:t>analyze</a:t>
            </a:r>
            <a:r>
              <a:rPr sz="2400" spc="270" dirty="0">
                <a:latin typeface="Arial MT"/>
                <a:cs typeface="Arial MT"/>
              </a:rPr>
              <a:t> </a:t>
            </a:r>
            <a:r>
              <a:rPr sz="2400" dirty="0">
                <a:latin typeface="Arial MT"/>
                <a:cs typeface="Arial MT"/>
              </a:rPr>
              <a:t>driver</a:t>
            </a:r>
            <a:r>
              <a:rPr sz="2400" spc="270" dirty="0">
                <a:latin typeface="Arial MT"/>
                <a:cs typeface="Arial MT"/>
              </a:rPr>
              <a:t> </a:t>
            </a:r>
            <a:r>
              <a:rPr sz="2400" dirty="0">
                <a:latin typeface="Arial MT"/>
                <a:cs typeface="Arial MT"/>
              </a:rPr>
              <a:t>behavior</a:t>
            </a:r>
            <a:r>
              <a:rPr sz="2400" spc="280" dirty="0">
                <a:latin typeface="Arial MT"/>
                <a:cs typeface="Arial MT"/>
              </a:rPr>
              <a:t> </a:t>
            </a:r>
            <a:r>
              <a:rPr sz="2400" dirty="0">
                <a:latin typeface="Arial MT"/>
                <a:cs typeface="Arial MT"/>
              </a:rPr>
              <a:t>in</a:t>
            </a:r>
            <a:r>
              <a:rPr sz="2400" spc="270" dirty="0">
                <a:latin typeface="Arial MT"/>
                <a:cs typeface="Arial MT"/>
              </a:rPr>
              <a:t> </a:t>
            </a:r>
            <a:r>
              <a:rPr sz="2400" dirty="0">
                <a:latin typeface="Arial MT"/>
                <a:cs typeface="Arial MT"/>
              </a:rPr>
              <a:t>real</a:t>
            </a:r>
            <a:r>
              <a:rPr sz="2400" spc="265" dirty="0">
                <a:latin typeface="Arial MT"/>
                <a:cs typeface="Arial MT"/>
              </a:rPr>
              <a:t> </a:t>
            </a:r>
            <a:r>
              <a:rPr sz="2400" dirty="0">
                <a:latin typeface="Arial MT"/>
                <a:cs typeface="Arial MT"/>
              </a:rPr>
              <a:t>time.</a:t>
            </a:r>
            <a:r>
              <a:rPr sz="2400" spc="270" dirty="0">
                <a:latin typeface="Arial MT"/>
                <a:cs typeface="Arial MT"/>
              </a:rPr>
              <a:t> </a:t>
            </a:r>
            <a:r>
              <a:rPr sz="2400" spc="-10" dirty="0">
                <a:latin typeface="Arial MT"/>
                <a:cs typeface="Arial MT"/>
              </a:rPr>
              <a:t>Using </a:t>
            </a:r>
            <a:r>
              <a:rPr sz="2400" dirty="0">
                <a:latin typeface="Arial MT"/>
                <a:cs typeface="Arial MT"/>
              </a:rPr>
              <a:t>deep</a:t>
            </a:r>
            <a:r>
              <a:rPr sz="2400" spc="365" dirty="0">
                <a:latin typeface="Arial MT"/>
                <a:cs typeface="Arial MT"/>
              </a:rPr>
              <a:t> </a:t>
            </a:r>
            <a:r>
              <a:rPr sz="2400" dirty="0">
                <a:latin typeface="Arial MT"/>
                <a:cs typeface="Arial MT"/>
              </a:rPr>
              <a:t>learning</a:t>
            </a:r>
            <a:r>
              <a:rPr sz="2400" spc="360" dirty="0">
                <a:latin typeface="Arial MT"/>
                <a:cs typeface="Arial MT"/>
              </a:rPr>
              <a:t> </a:t>
            </a:r>
            <a:r>
              <a:rPr sz="2400" dirty="0">
                <a:latin typeface="Arial MT"/>
                <a:cs typeface="Arial MT"/>
              </a:rPr>
              <a:t>techniques,</a:t>
            </a:r>
            <a:r>
              <a:rPr sz="2400" spc="375" dirty="0">
                <a:latin typeface="Arial MT"/>
                <a:cs typeface="Arial MT"/>
              </a:rPr>
              <a:t> </a:t>
            </a:r>
            <a:r>
              <a:rPr sz="2400" dirty="0">
                <a:latin typeface="Arial MT"/>
                <a:cs typeface="Arial MT"/>
              </a:rPr>
              <a:t>this</a:t>
            </a:r>
            <a:r>
              <a:rPr sz="2400" spc="360" dirty="0">
                <a:latin typeface="Arial MT"/>
                <a:cs typeface="Arial MT"/>
              </a:rPr>
              <a:t> </a:t>
            </a:r>
            <a:r>
              <a:rPr sz="2400" dirty="0">
                <a:latin typeface="Arial MT"/>
                <a:cs typeface="Arial MT"/>
              </a:rPr>
              <a:t>project</a:t>
            </a:r>
            <a:r>
              <a:rPr sz="2400" spc="370" dirty="0">
                <a:latin typeface="Arial MT"/>
                <a:cs typeface="Arial MT"/>
              </a:rPr>
              <a:t> </a:t>
            </a:r>
            <a:r>
              <a:rPr sz="2400" dirty="0">
                <a:latin typeface="Arial MT"/>
                <a:cs typeface="Arial MT"/>
              </a:rPr>
              <a:t>aims</a:t>
            </a:r>
            <a:r>
              <a:rPr sz="2400" spc="365" dirty="0">
                <a:latin typeface="Arial MT"/>
                <a:cs typeface="Arial MT"/>
              </a:rPr>
              <a:t> </a:t>
            </a:r>
            <a:r>
              <a:rPr sz="2400" dirty="0">
                <a:latin typeface="Arial MT"/>
                <a:cs typeface="Arial MT"/>
              </a:rPr>
              <a:t>to</a:t>
            </a:r>
            <a:r>
              <a:rPr sz="2400" spc="360" dirty="0">
                <a:latin typeface="Arial MT"/>
                <a:cs typeface="Arial MT"/>
              </a:rPr>
              <a:t> </a:t>
            </a:r>
            <a:r>
              <a:rPr sz="2400" dirty="0">
                <a:latin typeface="Arial MT"/>
                <a:cs typeface="Arial MT"/>
              </a:rPr>
              <a:t>detect</a:t>
            </a:r>
            <a:r>
              <a:rPr sz="2400" spc="345" dirty="0">
                <a:latin typeface="Arial MT"/>
                <a:cs typeface="Arial MT"/>
              </a:rPr>
              <a:t> </a:t>
            </a:r>
            <a:r>
              <a:rPr sz="2400" dirty="0">
                <a:latin typeface="Arial MT"/>
                <a:cs typeface="Arial MT"/>
              </a:rPr>
              <a:t>anomalies</a:t>
            </a:r>
            <a:r>
              <a:rPr sz="2400" spc="370" dirty="0">
                <a:latin typeface="Arial MT"/>
                <a:cs typeface="Arial MT"/>
              </a:rPr>
              <a:t> </a:t>
            </a:r>
            <a:r>
              <a:rPr sz="2400" dirty="0">
                <a:latin typeface="Arial MT"/>
                <a:cs typeface="Arial MT"/>
              </a:rPr>
              <a:t>such</a:t>
            </a:r>
            <a:r>
              <a:rPr sz="2400" spc="375" dirty="0">
                <a:latin typeface="Arial MT"/>
                <a:cs typeface="Arial MT"/>
              </a:rPr>
              <a:t> </a:t>
            </a:r>
            <a:r>
              <a:rPr sz="2400" spc="-25" dirty="0">
                <a:latin typeface="Arial MT"/>
                <a:cs typeface="Arial MT"/>
              </a:rPr>
              <a:t>as </a:t>
            </a:r>
            <a:r>
              <a:rPr sz="2400" dirty="0">
                <a:latin typeface="Arial MT"/>
                <a:cs typeface="Arial MT"/>
              </a:rPr>
              <a:t>drowsiness,</a:t>
            </a:r>
            <a:r>
              <a:rPr sz="2400" spc="25" dirty="0">
                <a:latin typeface="Arial MT"/>
                <a:cs typeface="Arial MT"/>
              </a:rPr>
              <a:t>  </a:t>
            </a:r>
            <a:r>
              <a:rPr sz="2400" dirty="0">
                <a:latin typeface="Arial MT"/>
                <a:cs typeface="Arial MT"/>
              </a:rPr>
              <a:t>distraction,</a:t>
            </a:r>
            <a:r>
              <a:rPr sz="2400" spc="25" dirty="0">
                <a:latin typeface="Arial MT"/>
                <a:cs typeface="Arial MT"/>
              </a:rPr>
              <a:t>  </a:t>
            </a:r>
            <a:r>
              <a:rPr sz="2400" dirty="0">
                <a:latin typeface="Arial MT"/>
                <a:cs typeface="Arial MT"/>
              </a:rPr>
              <a:t>rash</a:t>
            </a:r>
            <a:r>
              <a:rPr sz="2400" spc="20" dirty="0">
                <a:latin typeface="Arial MT"/>
                <a:cs typeface="Arial MT"/>
              </a:rPr>
              <a:t>  </a:t>
            </a:r>
            <a:r>
              <a:rPr sz="2400" dirty="0">
                <a:latin typeface="Arial MT"/>
                <a:cs typeface="Arial MT"/>
              </a:rPr>
              <a:t>driving,</a:t>
            </a:r>
            <a:r>
              <a:rPr sz="2400" spc="20" dirty="0">
                <a:latin typeface="Arial MT"/>
                <a:cs typeface="Arial MT"/>
              </a:rPr>
              <a:t>  </a:t>
            </a:r>
            <a:r>
              <a:rPr sz="2400" dirty="0">
                <a:latin typeface="Arial MT"/>
                <a:cs typeface="Arial MT"/>
              </a:rPr>
              <a:t>or</a:t>
            </a:r>
            <a:r>
              <a:rPr sz="2400" spc="25" dirty="0">
                <a:latin typeface="Arial MT"/>
                <a:cs typeface="Arial MT"/>
              </a:rPr>
              <a:t>  </a:t>
            </a:r>
            <a:r>
              <a:rPr sz="2400" dirty="0">
                <a:latin typeface="Arial MT"/>
                <a:cs typeface="Arial MT"/>
              </a:rPr>
              <a:t>inattention,</a:t>
            </a:r>
            <a:r>
              <a:rPr sz="2400" spc="15" dirty="0">
                <a:latin typeface="Arial MT"/>
                <a:cs typeface="Arial MT"/>
              </a:rPr>
              <a:t>  </a:t>
            </a:r>
            <a:r>
              <a:rPr sz="2400" dirty="0">
                <a:latin typeface="Arial MT"/>
                <a:cs typeface="Arial MT"/>
              </a:rPr>
              <a:t>and</a:t>
            </a:r>
            <a:r>
              <a:rPr sz="2400" spc="20" dirty="0">
                <a:latin typeface="Arial MT"/>
                <a:cs typeface="Arial MT"/>
              </a:rPr>
              <a:t>  </a:t>
            </a:r>
            <a:r>
              <a:rPr sz="2400" dirty="0">
                <a:latin typeface="Arial MT"/>
                <a:cs typeface="Arial MT"/>
              </a:rPr>
              <a:t>provide</a:t>
            </a:r>
            <a:r>
              <a:rPr sz="2400" spc="20" dirty="0">
                <a:latin typeface="Arial MT"/>
                <a:cs typeface="Arial MT"/>
              </a:rPr>
              <a:t>  </a:t>
            </a:r>
            <a:r>
              <a:rPr sz="2400" spc="-10" dirty="0">
                <a:latin typeface="Arial MT"/>
                <a:cs typeface="Arial MT"/>
              </a:rPr>
              <a:t>timely </a:t>
            </a:r>
            <a:r>
              <a:rPr sz="2400" dirty="0">
                <a:latin typeface="Arial MT"/>
                <a:cs typeface="Arial MT"/>
              </a:rPr>
              <a:t>alerts</a:t>
            </a:r>
            <a:r>
              <a:rPr sz="2400" spc="-30" dirty="0">
                <a:latin typeface="Arial MT"/>
                <a:cs typeface="Arial MT"/>
              </a:rPr>
              <a:t> </a:t>
            </a:r>
            <a:r>
              <a:rPr sz="2400" dirty="0">
                <a:latin typeface="Arial MT"/>
                <a:cs typeface="Arial MT"/>
              </a:rPr>
              <a:t>to</a:t>
            </a:r>
            <a:r>
              <a:rPr sz="2400" spc="-45" dirty="0">
                <a:latin typeface="Arial MT"/>
                <a:cs typeface="Arial MT"/>
              </a:rPr>
              <a:t> </a:t>
            </a:r>
            <a:r>
              <a:rPr sz="2400" dirty="0">
                <a:latin typeface="Arial MT"/>
                <a:cs typeface="Arial MT"/>
              </a:rPr>
              <a:t>prevent</a:t>
            </a:r>
            <a:r>
              <a:rPr sz="2400" spc="-35" dirty="0">
                <a:latin typeface="Arial MT"/>
                <a:cs typeface="Arial MT"/>
              </a:rPr>
              <a:t> </a:t>
            </a:r>
            <a:r>
              <a:rPr sz="2400" spc="-10" dirty="0">
                <a:latin typeface="Arial MT"/>
                <a:cs typeface="Arial MT"/>
              </a:rPr>
              <a:t>accidents.</a:t>
            </a:r>
            <a:endParaRPr sz="2400">
              <a:latin typeface="Arial MT"/>
              <a:cs typeface="Arial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1490852" y="1167129"/>
            <a:ext cx="10060305" cy="2754630"/>
          </a:xfrm>
          <a:prstGeom prst="rect">
            <a:avLst/>
          </a:prstGeom>
        </p:spPr>
        <p:txBody>
          <a:bodyPr vert="horz" wrap="square" lIns="0" tIns="12700" rIns="0" bIns="0" rtlCol="0">
            <a:spAutoFit/>
          </a:bodyPr>
          <a:lstStyle/>
          <a:p>
            <a:pPr marR="967105" algn="r">
              <a:lnSpc>
                <a:spcPct val="100000"/>
              </a:lnSpc>
              <a:spcBef>
                <a:spcPts val="100"/>
              </a:spcBef>
            </a:pPr>
            <a:r>
              <a:rPr sz="2400" spc="-10" dirty="0">
                <a:solidFill>
                  <a:srgbClr val="FF0000"/>
                </a:solidFill>
                <a:latin typeface="Trebuchet MS"/>
                <a:cs typeface="Trebuchet MS"/>
              </a:rPr>
              <a:t>Motivation</a:t>
            </a:r>
            <a:endParaRPr sz="2400" dirty="0">
              <a:latin typeface="Trebuchet MS"/>
              <a:cs typeface="Trebuchet MS"/>
            </a:endParaRPr>
          </a:p>
          <a:p>
            <a:pPr>
              <a:lnSpc>
                <a:spcPct val="100000"/>
              </a:lnSpc>
              <a:spcBef>
                <a:spcPts val="1430"/>
              </a:spcBef>
            </a:pPr>
            <a:endParaRPr sz="2400" dirty="0">
              <a:latin typeface="Trebuchet MS"/>
              <a:cs typeface="Trebuchet MS"/>
            </a:endParaRPr>
          </a:p>
          <a:p>
            <a:pPr marL="12065" marR="5080" indent="6985" algn="l">
              <a:lnSpc>
                <a:spcPct val="100000"/>
              </a:lnSpc>
            </a:pPr>
            <a:r>
              <a:rPr sz="2400" dirty="0">
                <a:latin typeface="Arial MT"/>
                <a:cs typeface="Arial MT"/>
              </a:rPr>
              <a:t>The</a:t>
            </a:r>
            <a:r>
              <a:rPr sz="2400" spc="-80" dirty="0">
                <a:latin typeface="Arial MT"/>
                <a:cs typeface="Arial MT"/>
              </a:rPr>
              <a:t> </a:t>
            </a:r>
            <a:r>
              <a:rPr sz="2400" dirty="0">
                <a:latin typeface="Arial MT"/>
                <a:cs typeface="Arial MT"/>
              </a:rPr>
              <a:t>main</a:t>
            </a:r>
            <a:r>
              <a:rPr sz="2400" spc="-60" dirty="0">
                <a:latin typeface="Arial MT"/>
                <a:cs typeface="Arial MT"/>
              </a:rPr>
              <a:t> </a:t>
            </a:r>
            <a:r>
              <a:rPr sz="2400" dirty="0">
                <a:latin typeface="Arial MT"/>
                <a:cs typeface="Arial MT"/>
              </a:rPr>
              <a:t>motivation</a:t>
            </a:r>
            <a:r>
              <a:rPr sz="2400" spc="-70" dirty="0">
                <a:latin typeface="Arial MT"/>
                <a:cs typeface="Arial MT"/>
              </a:rPr>
              <a:t> </a:t>
            </a:r>
            <a:r>
              <a:rPr sz="2400" dirty="0">
                <a:latin typeface="Arial MT"/>
                <a:cs typeface="Arial MT"/>
              </a:rPr>
              <a:t>behind</a:t>
            </a:r>
            <a:r>
              <a:rPr sz="2400" spc="-40" dirty="0">
                <a:latin typeface="Arial MT"/>
                <a:cs typeface="Arial MT"/>
              </a:rPr>
              <a:t> </a:t>
            </a:r>
            <a:r>
              <a:rPr sz="2400" dirty="0">
                <a:latin typeface="Arial MT"/>
                <a:cs typeface="Arial MT"/>
              </a:rPr>
              <a:t>selecting</a:t>
            </a:r>
            <a:r>
              <a:rPr sz="2400" spc="-65" dirty="0">
                <a:latin typeface="Arial MT"/>
                <a:cs typeface="Arial MT"/>
              </a:rPr>
              <a:t> </a:t>
            </a:r>
            <a:r>
              <a:rPr sz="2400" dirty="0">
                <a:latin typeface="Arial MT"/>
                <a:cs typeface="Arial MT"/>
              </a:rPr>
              <a:t>this</a:t>
            </a:r>
            <a:r>
              <a:rPr sz="2400" spc="-65" dirty="0">
                <a:latin typeface="Arial MT"/>
                <a:cs typeface="Arial MT"/>
              </a:rPr>
              <a:t> </a:t>
            </a:r>
            <a:r>
              <a:rPr sz="2400" dirty="0">
                <a:latin typeface="Arial MT"/>
                <a:cs typeface="Arial MT"/>
              </a:rPr>
              <a:t>problem</a:t>
            </a:r>
            <a:r>
              <a:rPr sz="2400" spc="-60" dirty="0">
                <a:latin typeface="Arial MT"/>
                <a:cs typeface="Arial MT"/>
              </a:rPr>
              <a:t> </a:t>
            </a:r>
            <a:r>
              <a:rPr sz="2400" dirty="0">
                <a:latin typeface="Arial MT"/>
                <a:cs typeface="Arial MT"/>
              </a:rPr>
              <a:t>statement</a:t>
            </a:r>
            <a:r>
              <a:rPr sz="2400" spc="-70" dirty="0">
                <a:latin typeface="Arial MT"/>
                <a:cs typeface="Arial MT"/>
              </a:rPr>
              <a:t> </a:t>
            </a:r>
            <a:r>
              <a:rPr sz="2400" dirty="0">
                <a:latin typeface="Arial MT"/>
                <a:cs typeface="Arial MT"/>
              </a:rPr>
              <a:t>is</a:t>
            </a:r>
            <a:r>
              <a:rPr sz="2400" spc="-70" dirty="0">
                <a:latin typeface="Arial MT"/>
                <a:cs typeface="Arial MT"/>
              </a:rPr>
              <a:t> </a:t>
            </a:r>
            <a:r>
              <a:rPr sz="2400" dirty="0">
                <a:latin typeface="Arial MT"/>
                <a:cs typeface="Arial MT"/>
              </a:rPr>
              <a:t>the</a:t>
            </a:r>
            <a:r>
              <a:rPr sz="2400" spc="-80" dirty="0">
                <a:latin typeface="Arial MT"/>
                <a:cs typeface="Arial MT"/>
              </a:rPr>
              <a:t> </a:t>
            </a:r>
            <a:r>
              <a:rPr sz="2400" spc="-10" dirty="0">
                <a:latin typeface="Arial MT"/>
                <a:cs typeface="Arial MT"/>
              </a:rPr>
              <a:t>desire </a:t>
            </a:r>
            <a:r>
              <a:rPr sz="2400" dirty="0">
                <a:latin typeface="Arial MT"/>
                <a:cs typeface="Arial MT"/>
              </a:rPr>
              <a:t>to</a:t>
            </a:r>
            <a:r>
              <a:rPr sz="2400" spc="-80" dirty="0">
                <a:latin typeface="Arial MT"/>
                <a:cs typeface="Arial MT"/>
              </a:rPr>
              <a:t> </a:t>
            </a:r>
            <a:r>
              <a:rPr sz="2400" dirty="0">
                <a:latin typeface="Arial MT"/>
                <a:cs typeface="Arial MT"/>
              </a:rPr>
              <a:t>reduce</a:t>
            </a:r>
            <a:r>
              <a:rPr sz="2400" spc="-80" dirty="0">
                <a:latin typeface="Arial MT"/>
                <a:cs typeface="Arial MT"/>
              </a:rPr>
              <a:t> </a:t>
            </a:r>
            <a:r>
              <a:rPr sz="2400" dirty="0">
                <a:latin typeface="Arial MT"/>
                <a:cs typeface="Arial MT"/>
              </a:rPr>
              <a:t>road</a:t>
            </a:r>
            <a:r>
              <a:rPr sz="2400" spc="-80" dirty="0">
                <a:latin typeface="Arial MT"/>
                <a:cs typeface="Arial MT"/>
              </a:rPr>
              <a:t> </a:t>
            </a:r>
            <a:r>
              <a:rPr sz="2400" dirty="0">
                <a:latin typeface="Arial MT"/>
                <a:cs typeface="Arial MT"/>
              </a:rPr>
              <a:t>accidents</a:t>
            </a:r>
            <a:r>
              <a:rPr sz="2400" spc="-70" dirty="0">
                <a:latin typeface="Arial MT"/>
                <a:cs typeface="Arial MT"/>
              </a:rPr>
              <a:t> </a:t>
            </a:r>
            <a:r>
              <a:rPr sz="2400" dirty="0">
                <a:latin typeface="Arial MT"/>
                <a:cs typeface="Arial MT"/>
              </a:rPr>
              <a:t>and</a:t>
            </a:r>
            <a:r>
              <a:rPr sz="2400" spc="-90" dirty="0">
                <a:latin typeface="Arial MT"/>
                <a:cs typeface="Arial MT"/>
              </a:rPr>
              <a:t> </a:t>
            </a:r>
            <a:r>
              <a:rPr sz="2400" dirty="0">
                <a:latin typeface="Arial MT"/>
                <a:cs typeface="Arial MT"/>
              </a:rPr>
              <a:t>save</a:t>
            </a:r>
            <a:r>
              <a:rPr sz="2400" spc="-70" dirty="0">
                <a:latin typeface="Arial MT"/>
                <a:cs typeface="Arial MT"/>
              </a:rPr>
              <a:t> </a:t>
            </a:r>
            <a:r>
              <a:rPr sz="2400" dirty="0">
                <a:latin typeface="Arial MT"/>
                <a:cs typeface="Arial MT"/>
              </a:rPr>
              <a:t>lives</a:t>
            </a:r>
            <a:r>
              <a:rPr sz="2400" spc="-70" dirty="0">
                <a:latin typeface="Arial MT"/>
                <a:cs typeface="Arial MT"/>
              </a:rPr>
              <a:t> </a:t>
            </a:r>
            <a:r>
              <a:rPr sz="2400" dirty="0">
                <a:latin typeface="Arial MT"/>
                <a:cs typeface="Arial MT"/>
              </a:rPr>
              <a:t>by</a:t>
            </a:r>
            <a:r>
              <a:rPr sz="2400" spc="-75" dirty="0">
                <a:latin typeface="Arial MT"/>
                <a:cs typeface="Arial MT"/>
              </a:rPr>
              <a:t> </a:t>
            </a:r>
            <a:r>
              <a:rPr sz="2400" dirty="0">
                <a:latin typeface="Arial MT"/>
                <a:cs typeface="Arial MT"/>
              </a:rPr>
              <a:t>minimizing</a:t>
            </a:r>
            <a:r>
              <a:rPr sz="2400" spc="-55" dirty="0">
                <a:latin typeface="Arial MT"/>
                <a:cs typeface="Arial MT"/>
              </a:rPr>
              <a:t> </a:t>
            </a:r>
            <a:r>
              <a:rPr sz="2400" dirty="0">
                <a:latin typeface="Arial MT"/>
                <a:cs typeface="Arial MT"/>
              </a:rPr>
              <a:t>human</a:t>
            </a:r>
            <a:r>
              <a:rPr sz="2400" spc="-80" dirty="0">
                <a:latin typeface="Arial MT"/>
                <a:cs typeface="Arial MT"/>
              </a:rPr>
              <a:t> </a:t>
            </a:r>
            <a:r>
              <a:rPr sz="2400" spc="-10" dirty="0">
                <a:latin typeface="Arial MT"/>
                <a:cs typeface="Arial MT"/>
              </a:rPr>
              <a:t>error.</a:t>
            </a:r>
            <a:r>
              <a:rPr sz="2400" spc="-80" dirty="0">
                <a:latin typeface="Arial MT"/>
                <a:cs typeface="Arial MT"/>
              </a:rPr>
              <a:t> </a:t>
            </a:r>
            <a:r>
              <a:rPr sz="2400" spc="-25" dirty="0">
                <a:latin typeface="Arial MT"/>
                <a:cs typeface="Arial MT"/>
              </a:rPr>
              <a:t>By </a:t>
            </a:r>
            <a:r>
              <a:rPr sz="2400" dirty="0">
                <a:latin typeface="Arial MT"/>
                <a:cs typeface="Arial MT"/>
              </a:rPr>
              <a:t>integrating</a:t>
            </a:r>
            <a:r>
              <a:rPr sz="2400" spc="-70" dirty="0">
                <a:latin typeface="Arial MT"/>
                <a:cs typeface="Arial MT"/>
              </a:rPr>
              <a:t> </a:t>
            </a:r>
            <a:r>
              <a:rPr sz="2400" dirty="0">
                <a:latin typeface="Arial MT"/>
                <a:cs typeface="Arial MT"/>
              </a:rPr>
              <a:t>artificial</a:t>
            </a:r>
            <a:r>
              <a:rPr sz="2400" spc="-85" dirty="0">
                <a:latin typeface="Arial MT"/>
                <a:cs typeface="Arial MT"/>
              </a:rPr>
              <a:t> </a:t>
            </a:r>
            <a:r>
              <a:rPr sz="2400" dirty="0">
                <a:latin typeface="Arial MT"/>
                <a:cs typeface="Arial MT"/>
              </a:rPr>
              <a:t>intelligence</a:t>
            </a:r>
            <a:r>
              <a:rPr sz="2400" spc="-50" dirty="0">
                <a:latin typeface="Arial MT"/>
                <a:cs typeface="Arial MT"/>
              </a:rPr>
              <a:t> </a:t>
            </a:r>
            <a:r>
              <a:rPr sz="2400" dirty="0">
                <a:latin typeface="Arial MT"/>
                <a:cs typeface="Arial MT"/>
              </a:rPr>
              <a:t>with</a:t>
            </a:r>
            <a:r>
              <a:rPr sz="2400" spc="-70" dirty="0">
                <a:latin typeface="Arial MT"/>
                <a:cs typeface="Arial MT"/>
              </a:rPr>
              <a:t> </a:t>
            </a:r>
            <a:r>
              <a:rPr sz="2400" dirty="0">
                <a:latin typeface="Arial MT"/>
                <a:cs typeface="Arial MT"/>
              </a:rPr>
              <a:t>transportation</a:t>
            </a:r>
            <a:r>
              <a:rPr sz="2400" spc="-90" dirty="0">
                <a:latin typeface="Arial MT"/>
                <a:cs typeface="Arial MT"/>
              </a:rPr>
              <a:t> </a:t>
            </a:r>
            <a:r>
              <a:rPr sz="2400" dirty="0">
                <a:latin typeface="Arial MT"/>
                <a:cs typeface="Arial MT"/>
              </a:rPr>
              <a:t>systems,</a:t>
            </a:r>
            <a:r>
              <a:rPr sz="2400" spc="-95" dirty="0">
                <a:latin typeface="Arial MT"/>
                <a:cs typeface="Arial MT"/>
              </a:rPr>
              <a:t> </a:t>
            </a:r>
            <a:r>
              <a:rPr sz="2400" dirty="0">
                <a:latin typeface="Arial MT"/>
                <a:cs typeface="Arial MT"/>
              </a:rPr>
              <a:t>we</a:t>
            </a:r>
            <a:r>
              <a:rPr sz="2400" spc="-95" dirty="0">
                <a:latin typeface="Arial MT"/>
                <a:cs typeface="Arial MT"/>
              </a:rPr>
              <a:t> </a:t>
            </a:r>
            <a:r>
              <a:rPr sz="2400" dirty="0">
                <a:latin typeface="Arial MT"/>
                <a:cs typeface="Arial MT"/>
              </a:rPr>
              <a:t>can</a:t>
            </a:r>
            <a:r>
              <a:rPr sz="2400" spc="-90" dirty="0">
                <a:latin typeface="Arial MT"/>
                <a:cs typeface="Arial MT"/>
              </a:rPr>
              <a:t> </a:t>
            </a:r>
            <a:r>
              <a:rPr sz="2400" spc="-20" dirty="0">
                <a:latin typeface="Arial MT"/>
                <a:cs typeface="Arial MT"/>
              </a:rPr>
              <a:t>move </a:t>
            </a:r>
            <a:r>
              <a:rPr sz="2400" dirty="0">
                <a:latin typeface="Arial MT"/>
                <a:cs typeface="Arial MT"/>
              </a:rPr>
              <a:t>toward</a:t>
            </a:r>
            <a:r>
              <a:rPr sz="2400" spc="-95" dirty="0">
                <a:latin typeface="Arial MT"/>
                <a:cs typeface="Arial MT"/>
              </a:rPr>
              <a:t> </a:t>
            </a:r>
            <a:r>
              <a:rPr sz="2400" dirty="0">
                <a:latin typeface="Arial MT"/>
                <a:cs typeface="Arial MT"/>
              </a:rPr>
              <a:t>safer,</a:t>
            </a:r>
            <a:r>
              <a:rPr sz="2400" spc="-110" dirty="0">
                <a:latin typeface="Arial MT"/>
                <a:cs typeface="Arial MT"/>
              </a:rPr>
              <a:t> </a:t>
            </a:r>
            <a:r>
              <a:rPr sz="2400" dirty="0">
                <a:latin typeface="Arial MT"/>
                <a:cs typeface="Arial MT"/>
              </a:rPr>
              <a:t>smarter,</a:t>
            </a:r>
            <a:r>
              <a:rPr sz="2400" spc="-110" dirty="0">
                <a:latin typeface="Arial MT"/>
                <a:cs typeface="Arial MT"/>
              </a:rPr>
              <a:t> </a:t>
            </a:r>
            <a:r>
              <a:rPr sz="2400" dirty="0">
                <a:latin typeface="Arial MT"/>
                <a:cs typeface="Arial MT"/>
              </a:rPr>
              <a:t>and</a:t>
            </a:r>
            <a:r>
              <a:rPr sz="2400" spc="-85" dirty="0">
                <a:latin typeface="Arial MT"/>
                <a:cs typeface="Arial MT"/>
              </a:rPr>
              <a:t> </a:t>
            </a:r>
            <a:r>
              <a:rPr sz="2400" dirty="0">
                <a:latin typeface="Arial MT"/>
                <a:cs typeface="Arial MT"/>
              </a:rPr>
              <a:t>more</a:t>
            </a:r>
            <a:r>
              <a:rPr sz="2400" spc="-100" dirty="0">
                <a:latin typeface="Arial MT"/>
                <a:cs typeface="Arial MT"/>
              </a:rPr>
              <a:t> </a:t>
            </a:r>
            <a:r>
              <a:rPr sz="2400" dirty="0">
                <a:latin typeface="Arial MT"/>
                <a:cs typeface="Arial MT"/>
              </a:rPr>
              <a:t>reliable</a:t>
            </a:r>
            <a:r>
              <a:rPr sz="2400" spc="-75" dirty="0">
                <a:latin typeface="Arial MT"/>
                <a:cs typeface="Arial MT"/>
              </a:rPr>
              <a:t> </a:t>
            </a:r>
            <a:r>
              <a:rPr sz="2400" dirty="0">
                <a:latin typeface="Arial MT"/>
                <a:cs typeface="Arial MT"/>
              </a:rPr>
              <a:t>driving</a:t>
            </a:r>
            <a:r>
              <a:rPr sz="2400" spc="-80" dirty="0">
                <a:latin typeface="Arial MT"/>
                <a:cs typeface="Arial MT"/>
              </a:rPr>
              <a:t> </a:t>
            </a:r>
            <a:r>
              <a:rPr sz="2400" dirty="0">
                <a:latin typeface="Arial MT"/>
                <a:cs typeface="Arial MT"/>
              </a:rPr>
              <a:t>environments</a:t>
            </a:r>
            <a:r>
              <a:rPr sz="2400" spc="-65" dirty="0">
                <a:latin typeface="Arial MT"/>
                <a:cs typeface="Arial MT"/>
              </a:rPr>
              <a:t> </a:t>
            </a:r>
            <a:r>
              <a:rPr sz="2400" dirty="0">
                <a:latin typeface="Arial MT"/>
                <a:cs typeface="Arial MT"/>
              </a:rPr>
              <a:t>—</a:t>
            </a:r>
            <a:r>
              <a:rPr sz="2400" spc="-100" dirty="0">
                <a:latin typeface="Arial MT"/>
                <a:cs typeface="Arial MT"/>
              </a:rPr>
              <a:t> </a:t>
            </a:r>
            <a:r>
              <a:rPr sz="2400" spc="-10" dirty="0">
                <a:latin typeface="Arial MT"/>
                <a:cs typeface="Arial MT"/>
              </a:rPr>
              <a:t>ultimately </a:t>
            </a:r>
            <a:r>
              <a:rPr sz="2400" dirty="0">
                <a:latin typeface="Arial MT"/>
                <a:cs typeface="Arial MT"/>
              </a:rPr>
              <a:t>helping</a:t>
            </a:r>
            <a:r>
              <a:rPr sz="2400" spc="-45" dirty="0">
                <a:latin typeface="Arial MT"/>
                <a:cs typeface="Arial MT"/>
              </a:rPr>
              <a:t> </a:t>
            </a:r>
            <a:r>
              <a:rPr sz="2400" dirty="0">
                <a:latin typeface="Arial MT"/>
                <a:cs typeface="Arial MT"/>
              </a:rPr>
              <a:t>drivers</a:t>
            </a:r>
            <a:r>
              <a:rPr sz="2400" spc="-70" dirty="0">
                <a:latin typeface="Arial MT"/>
                <a:cs typeface="Arial MT"/>
              </a:rPr>
              <a:t> </a:t>
            </a:r>
            <a:r>
              <a:rPr sz="2400" dirty="0">
                <a:latin typeface="Arial MT"/>
                <a:cs typeface="Arial MT"/>
              </a:rPr>
              <a:t>stay</a:t>
            </a:r>
            <a:r>
              <a:rPr sz="2400" spc="-80" dirty="0">
                <a:latin typeface="Arial MT"/>
                <a:cs typeface="Arial MT"/>
              </a:rPr>
              <a:t> </a:t>
            </a:r>
            <a:r>
              <a:rPr sz="2400" dirty="0">
                <a:latin typeface="Arial MT"/>
                <a:cs typeface="Arial MT"/>
              </a:rPr>
              <a:t>alert</a:t>
            </a:r>
            <a:r>
              <a:rPr sz="2400" spc="-65" dirty="0">
                <a:latin typeface="Arial MT"/>
                <a:cs typeface="Arial MT"/>
              </a:rPr>
              <a:t> </a:t>
            </a:r>
            <a:r>
              <a:rPr sz="2400" dirty="0">
                <a:latin typeface="Arial MT"/>
                <a:cs typeface="Arial MT"/>
              </a:rPr>
              <a:t>and</a:t>
            </a:r>
            <a:r>
              <a:rPr sz="2400" spc="-65" dirty="0">
                <a:latin typeface="Arial MT"/>
                <a:cs typeface="Arial MT"/>
              </a:rPr>
              <a:t> </a:t>
            </a:r>
            <a:r>
              <a:rPr sz="2400" dirty="0">
                <a:latin typeface="Arial MT"/>
                <a:cs typeface="Arial MT"/>
              </a:rPr>
              <a:t>ensuring</a:t>
            </a:r>
            <a:r>
              <a:rPr sz="2400" spc="-50" dirty="0">
                <a:latin typeface="Arial MT"/>
                <a:cs typeface="Arial MT"/>
              </a:rPr>
              <a:t> </a:t>
            </a:r>
            <a:r>
              <a:rPr sz="2400" spc="-20" dirty="0">
                <a:latin typeface="Arial MT"/>
                <a:cs typeface="Arial MT"/>
              </a:rPr>
              <a:t>longer,</a:t>
            </a:r>
            <a:r>
              <a:rPr sz="2400" spc="-70" dirty="0">
                <a:latin typeface="Arial MT"/>
                <a:cs typeface="Arial MT"/>
              </a:rPr>
              <a:t> </a:t>
            </a:r>
            <a:r>
              <a:rPr sz="2400" dirty="0">
                <a:latin typeface="Arial MT"/>
                <a:cs typeface="Arial MT"/>
              </a:rPr>
              <a:t>safer</a:t>
            </a:r>
            <a:r>
              <a:rPr sz="2400" spc="-70" dirty="0">
                <a:latin typeface="Arial MT"/>
                <a:cs typeface="Arial MT"/>
              </a:rPr>
              <a:t> </a:t>
            </a:r>
            <a:r>
              <a:rPr sz="2400" spc="-10" dirty="0">
                <a:latin typeface="Arial MT"/>
                <a:cs typeface="Arial MT"/>
              </a:rPr>
              <a:t>journeys.</a:t>
            </a:r>
            <a:endParaRPr sz="2400" dirty="0">
              <a:latin typeface="Arial MT"/>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1765807" y="2230323"/>
            <a:ext cx="9297670" cy="2585720"/>
          </a:xfrm>
          <a:prstGeom prst="rect">
            <a:avLst/>
          </a:prstGeom>
        </p:spPr>
        <p:txBody>
          <a:bodyPr vert="horz" wrap="square" lIns="0" tIns="12700" rIns="0" bIns="0" rtlCol="0">
            <a:spAutoFit/>
          </a:bodyPr>
          <a:lstStyle/>
          <a:p>
            <a:pPr marL="12065" marR="5080" indent="9525" algn="l">
              <a:lnSpc>
                <a:spcPct val="100000"/>
              </a:lnSpc>
              <a:spcBef>
                <a:spcPts val="100"/>
              </a:spcBef>
            </a:pPr>
            <a:r>
              <a:rPr sz="2400" dirty="0">
                <a:latin typeface="Arial MT"/>
                <a:cs typeface="Arial MT"/>
              </a:rPr>
              <a:t>Despite</a:t>
            </a:r>
            <a:r>
              <a:rPr sz="2400" spc="-80" dirty="0">
                <a:latin typeface="Arial MT"/>
                <a:cs typeface="Arial MT"/>
              </a:rPr>
              <a:t> </a:t>
            </a:r>
            <a:r>
              <a:rPr sz="2400" dirty="0">
                <a:latin typeface="Arial MT"/>
                <a:cs typeface="Arial MT"/>
              </a:rPr>
              <a:t>significant</a:t>
            </a:r>
            <a:r>
              <a:rPr sz="2400" spc="-65" dirty="0">
                <a:latin typeface="Arial MT"/>
                <a:cs typeface="Arial MT"/>
              </a:rPr>
              <a:t> </a:t>
            </a:r>
            <a:r>
              <a:rPr sz="2400" spc="-10" dirty="0">
                <a:latin typeface="Arial MT"/>
                <a:cs typeface="Arial MT"/>
              </a:rPr>
              <a:t>advancements</a:t>
            </a:r>
            <a:r>
              <a:rPr sz="2400" spc="-70" dirty="0">
                <a:latin typeface="Arial MT"/>
                <a:cs typeface="Arial MT"/>
              </a:rPr>
              <a:t> </a:t>
            </a:r>
            <a:r>
              <a:rPr sz="2400" dirty="0">
                <a:latin typeface="Arial MT"/>
                <a:cs typeface="Arial MT"/>
              </a:rPr>
              <a:t>in</a:t>
            </a:r>
            <a:r>
              <a:rPr sz="2400" spc="-95" dirty="0">
                <a:latin typeface="Arial MT"/>
                <a:cs typeface="Arial MT"/>
              </a:rPr>
              <a:t> </a:t>
            </a:r>
            <a:r>
              <a:rPr sz="2400" dirty="0">
                <a:latin typeface="Arial MT"/>
                <a:cs typeface="Arial MT"/>
              </a:rPr>
              <a:t>vehicle</a:t>
            </a:r>
            <a:r>
              <a:rPr sz="2400" spc="-80" dirty="0">
                <a:latin typeface="Arial MT"/>
                <a:cs typeface="Arial MT"/>
              </a:rPr>
              <a:t> </a:t>
            </a:r>
            <a:r>
              <a:rPr sz="2400" spc="-20" dirty="0">
                <a:latin typeface="Arial MT"/>
                <a:cs typeface="Arial MT"/>
              </a:rPr>
              <a:t>technology,</a:t>
            </a:r>
            <a:r>
              <a:rPr sz="2400" spc="-75" dirty="0">
                <a:latin typeface="Arial MT"/>
                <a:cs typeface="Arial MT"/>
              </a:rPr>
              <a:t> </a:t>
            </a:r>
            <a:r>
              <a:rPr sz="2400" spc="-10" dirty="0">
                <a:latin typeface="Arial MT"/>
                <a:cs typeface="Arial MT"/>
              </a:rPr>
              <a:t>human</a:t>
            </a:r>
            <a:r>
              <a:rPr sz="2400" spc="600" dirty="0">
                <a:latin typeface="Arial MT"/>
                <a:cs typeface="Arial MT"/>
              </a:rPr>
              <a:t>  </a:t>
            </a:r>
            <a:r>
              <a:rPr sz="2400" dirty="0">
                <a:latin typeface="Arial MT"/>
                <a:cs typeface="Arial MT"/>
              </a:rPr>
              <a:t>error</a:t>
            </a:r>
            <a:r>
              <a:rPr sz="2400" spc="-65" dirty="0">
                <a:latin typeface="Arial MT"/>
                <a:cs typeface="Arial MT"/>
              </a:rPr>
              <a:t> </a:t>
            </a:r>
            <a:r>
              <a:rPr sz="2400" dirty="0">
                <a:latin typeface="Arial MT"/>
                <a:cs typeface="Arial MT"/>
              </a:rPr>
              <a:t>remains</a:t>
            </a:r>
            <a:r>
              <a:rPr sz="2400" spc="-55" dirty="0">
                <a:latin typeface="Arial MT"/>
                <a:cs typeface="Arial MT"/>
              </a:rPr>
              <a:t> </a:t>
            </a:r>
            <a:r>
              <a:rPr sz="2400" dirty="0">
                <a:latin typeface="Arial MT"/>
                <a:cs typeface="Arial MT"/>
              </a:rPr>
              <a:t>one</a:t>
            </a:r>
            <a:r>
              <a:rPr sz="2400" spc="-70" dirty="0">
                <a:latin typeface="Arial MT"/>
                <a:cs typeface="Arial MT"/>
              </a:rPr>
              <a:t> </a:t>
            </a:r>
            <a:r>
              <a:rPr sz="2400" dirty="0">
                <a:latin typeface="Arial MT"/>
                <a:cs typeface="Arial MT"/>
              </a:rPr>
              <a:t>of</a:t>
            </a:r>
            <a:r>
              <a:rPr sz="2400" spc="-55" dirty="0">
                <a:latin typeface="Arial MT"/>
                <a:cs typeface="Arial MT"/>
              </a:rPr>
              <a:t> </a:t>
            </a:r>
            <a:r>
              <a:rPr sz="2400" dirty="0">
                <a:latin typeface="Arial MT"/>
                <a:cs typeface="Arial MT"/>
              </a:rPr>
              <a:t>the</a:t>
            </a:r>
            <a:r>
              <a:rPr sz="2400" spc="-70" dirty="0">
                <a:latin typeface="Arial MT"/>
                <a:cs typeface="Arial MT"/>
              </a:rPr>
              <a:t> </a:t>
            </a:r>
            <a:r>
              <a:rPr sz="2400" dirty="0">
                <a:latin typeface="Arial MT"/>
                <a:cs typeface="Arial MT"/>
              </a:rPr>
              <a:t>leading</a:t>
            </a:r>
            <a:r>
              <a:rPr sz="2400" spc="-35" dirty="0">
                <a:latin typeface="Arial MT"/>
                <a:cs typeface="Arial MT"/>
              </a:rPr>
              <a:t> </a:t>
            </a:r>
            <a:r>
              <a:rPr sz="2400" dirty="0">
                <a:latin typeface="Arial MT"/>
                <a:cs typeface="Arial MT"/>
              </a:rPr>
              <a:t>causes</a:t>
            </a:r>
            <a:r>
              <a:rPr sz="2400" spc="-60" dirty="0">
                <a:latin typeface="Arial MT"/>
                <a:cs typeface="Arial MT"/>
              </a:rPr>
              <a:t> </a:t>
            </a:r>
            <a:r>
              <a:rPr sz="2400" dirty="0">
                <a:latin typeface="Arial MT"/>
                <a:cs typeface="Arial MT"/>
              </a:rPr>
              <a:t>of</a:t>
            </a:r>
            <a:r>
              <a:rPr sz="2400" spc="-60" dirty="0">
                <a:latin typeface="Arial MT"/>
                <a:cs typeface="Arial MT"/>
              </a:rPr>
              <a:t> </a:t>
            </a:r>
            <a:r>
              <a:rPr sz="2400" dirty="0">
                <a:latin typeface="Arial MT"/>
                <a:cs typeface="Arial MT"/>
              </a:rPr>
              <a:t>road</a:t>
            </a:r>
            <a:r>
              <a:rPr sz="2400" spc="-70" dirty="0">
                <a:latin typeface="Arial MT"/>
                <a:cs typeface="Arial MT"/>
              </a:rPr>
              <a:t> </a:t>
            </a:r>
            <a:r>
              <a:rPr sz="2400" dirty="0">
                <a:latin typeface="Arial MT"/>
                <a:cs typeface="Arial MT"/>
              </a:rPr>
              <a:t>accidents.</a:t>
            </a:r>
            <a:r>
              <a:rPr sz="2400" spc="-40" dirty="0">
                <a:latin typeface="Arial MT"/>
                <a:cs typeface="Arial MT"/>
              </a:rPr>
              <a:t> </a:t>
            </a:r>
            <a:r>
              <a:rPr sz="2400" spc="-10" dirty="0">
                <a:latin typeface="Arial MT"/>
                <a:cs typeface="Arial MT"/>
              </a:rPr>
              <a:t>Drivers </a:t>
            </a:r>
            <a:r>
              <a:rPr sz="2400" dirty="0">
                <a:latin typeface="Arial MT"/>
                <a:cs typeface="Arial MT"/>
              </a:rPr>
              <a:t>often</a:t>
            </a:r>
            <a:r>
              <a:rPr sz="2400" spc="-110" dirty="0">
                <a:latin typeface="Arial MT"/>
                <a:cs typeface="Arial MT"/>
              </a:rPr>
              <a:t> </a:t>
            </a:r>
            <a:r>
              <a:rPr sz="2400" dirty="0">
                <a:latin typeface="Arial MT"/>
                <a:cs typeface="Arial MT"/>
              </a:rPr>
              <a:t>exhibit</a:t>
            </a:r>
            <a:r>
              <a:rPr sz="2400" spc="-65" dirty="0">
                <a:latin typeface="Arial MT"/>
                <a:cs typeface="Arial MT"/>
              </a:rPr>
              <a:t> </a:t>
            </a:r>
            <a:r>
              <a:rPr sz="2400" dirty="0">
                <a:latin typeface="Arial MT"/>
                <a:cs typeface="Arial MT"/>
              </a:rPr>
              <a:t>abnormal</a:t>
            </a:r>
            <a:r>
              <a:rPr sz="2400" spc="-80" dirty="0">
                <a:latin typeface="Arial MT"/>
                <a:cs typeface="Arial MT"/>
              </a:rPr>
              <a:t> </a:t>
            </a:r>
            <a:r>
              <a:rPr sz="2400" dirty="0">
                <a:latin typeface="Arial MT"/>
                <a:cs typeface="Arial MT"/>
              </a:rPr>
              <a:t>behaviors</a:t>
            </a:r>
            <a:r>
              <a:rPr sz="2400" spc="-70" dirty="0">
                <a:latin typeface="Arial MT"/>
                <a:cs typeface="Arial MT"/>
              </a:rPr>
              <a:t> </a:t>
            </a:r>
            <a:r>
              <a:rPr sz="2400" dirty="0">
                <a:latin typeface="Arial MT"/>
                <a:cs typeface="Arial MT"/>
              </a:rPr>
              <a:t>such</a:t>
            </a:r>
            <a:r>
              <a:rPr sz="2400" spc="-90" dirty="0">
                <a:latin typeface="Arial MT"/>
                <a:cs typeface="Arial MT"/>
              </a:rPr>
              <a:t> </a:t>
            </a:r>
            <a:r>
              <a:rPr sz="2400" dirty="0">
                <a:latin typeface="Arial MT"/>
                <a:cs typeface="Arial MT"/>
              </a:rPr>
              <a:t>as</a:t>
            </a:r>
            <a:r>
              <a:rPr sz="2400" spc="-95" dirty="0">
                <a:latin typeface="Arial MT"/>
                <a:cs typeface="Arial MT"/>
              </a:rPr>
              <a:t> </a:t>
            </a:r>
            <a:r>
              <a:rPr sz="2400" dirty="0">
                <a:latin typeface="Arial MT"/>
                <a:cs typeface="Arial MT"/>
              </a:rPr>
              <a:t>drowsiness,</a:t>
            </a:r>
            <a:r>
              <a:rPr sz="2400" spc="-80" dirty="0">
                <a:latin typeface="Arial MT"/>
                <a:cs typeface="Arial MT"/>
              </a:rPr>
              <a:t> </a:t>
            </a:r>
            <a:r>
              <a:rPr sz="2400" spc="-10" dirty="0">
                <a:latin typeface="Arial MT"/>
                <a:cs typeface="Arial MT"/>
              </a:rPr>
              <a:t>distraction, </a:t>
            </a:r>
            <a:r>
              <a:rPr sz="2400" dirty="0">
                <a:latin typeface="Arial MT"/>
                <a:cs typeface="Arial MT"/>
              </a:rPr>
              <a:t>speeding,</a:t>
            </a:r>
            <a:r>
              <a:rPr sz="2400" spc="-50" dirty="0">
                <a:latin typeface="Arial MT"/>
                <a:cs typeface="Arial MT"/>
              </a:rPr>
              <a:t> </a:t>
            </a:r>
            <a:r>
              <a:rPr sz="2400" dirty="0">
                <a:latin typeface="Arial MT"/>
                <a:cs typeface="Arial MT"/>
              </a:rPr>
              <a:t>or</a:t>
            </a:r>
            <a:r>
              <a:rPr sz="2400" spc="-70" dirty="0">
                <a:latin typeface="Arial MT"/>
                <a:cs typeface="Arial MT"/>
              </a:rPr>
              <a:t> </a:t>
            </a:r>
            <a:r>
              <a:rPr sz="2400" dirty="0">
                <a:latin typeface="Arial MT"/>
                <a:cs typeface="Arial MT"/>
              </a:rPr>
              <a:t>mobile</a:t>
            </a:r>
            <a:r>
              <a:rPr sz="2400" spc="-60" dirty="0">
                <a:latin typeface="Arial MT"/>
                <a:cs typeface="Arial MT"/>
              </a:rPr>
              <a:t> </a:t>
            </a:r>
            <a:r>
              <a:rPr sz="2400" dirty="0">
                <a:latin typeface="Arial MT"/>
                <a:cs typeface="Arial MT"/>
              </a:rPr>
              <a:t>phone</a:t>
            </a:r>
            <a:r>
              <a:rPr sz="2400" spc="-50" dirty="0">
                <a:latin typeface="Arial MT"/>
                <a:cs typeface="Arial MT"/>
              </a:rPr>
              <a:t> </a:t>
            </a:r>
            <a:r>
              <a:rPr sz="2400" dirty="0">
                <a:latin typeface="Arial MT"/>
                <a:cs typeface="Arial MT"/>
              </a:rPr>
              <a:t>usage,</a:t>
            </a:r>
            <a:r>
              <a:rPr sz="2400" spc="-65" dirty="0">
                <a:latin typeface="Arial MT"/>
                <a:cs typeface="Arial MT"/>
              </a:rPr>
              <a:t> </a:t>
            </a:r>
            <a:r>
              <a:rPr sz="2400" dirty="0">
                <a:latin typeface="Arial MT"/>
                <a:cs typeface="Arial MT"/>
              </a:rPr>
              <a:t>which</a:t>
            </a:r>
            <a:r>
              <a:rPr sz="2400" spc="-60" dirty="0">
                <a:latin typeface="Arial MT"/>
                <a:cs typeface="Arial MT"/>
              </a:rPr>
              <a:t> </a:t>
            </a:r>
            <a:r>
              <a:rPr sz="2400" dirty="0">
                <a:latin typeface="Arial MT"/>
                <a:cs typeface="Arial MT"/>
              </a:rPr>
              <a:t>can</a:t>
            </a:r>
            <a:r>
              <a:rPr sz="2400" spc="-70" dirty="0">
                <a:latin typeface="Arial MT"/>
                <a:cs typeface="Arial MT"/>
              </a:rPr>
              <a:t> </a:t>
            </a:r>
            <a:r>
              <a:rPr sz="2400" dirty="0">
                <a:latin typeface="Arial MT"/>
                <a:cs typeface="Arial MT"/>
              </a:rPr>
              <a:t>lead</a:t>
            </a:r>
            <a:r>
              <a:rPr sz="2400" spc="-60" dirty="0">
                <a:latin typeface="Arial MT"/>
                <a:cs typeface="Arial MT"/>
              </a:rPr>
              <a:t> </a:t>
            </a:r>
            <a:r>
              <a:rPr sz="2400" dirty="0">
                <a:latin typeface="Arial MT"/>
                <a:cs typeface="Arial MT"/>
              </a:rPr>
              <a:t>to</a:t>
            </a:r>
            <a:r>
              <a:rPr sz="2400" spc="-70" dirty="0">
                <a:latin typeface="Arial MT"/>
                <a:cs typeface="Arial MT"/>
              </a:rPr>
              <a:t> </a:t>
            </a:r>
            <a:r>
              <a:rPr sz="2400" spc="-10" dirty="0">
                <a:latin typeface="Arial MT"/>
                <a:cs typeface="Arial MT"/>
              </a:rPr>
              <a:t>severe</a:t>
            </a:r>
            <a:r>
              <a:rPr sz="2400" spc="600" dirty="0">
                <a:latin typeface="Arial MT"/>
                <a:cs typeface="Arial MT"/>
              </a:rPr>
              <a:t> </a:t>
            </a:r>
            <a:r>
              <a:rPr sz="2400" dirty="0">
                <a:latin typeface="Arial MT"/>
                <a:cs typeface="Arial MT"/>
              </a:rPr>
              <a:t>collisions</a:t>
            </a:r>
            <a:r>
              <a:rPr sz="2400" spc="-35" dirty="0">
                <a:latin typeface="Arial MT"/>
                <a:cs typeface="Arial MT"/>
              </a:rPr>
              <a:t> </a:t>
            </a:r>
            <a:r>
              <a:rPr sz="2400" dirty="0">
                <a:latin typeface="Arial MT"/>
                <a:cs typeface="Arial MT"/>
              </a:rPr>
              <a:t>and</a:t>
            </a:r>
            <a:r>
              <a:rPr sz="2400" spc="-65" dirty="0">
                <a:latin typeface="Arial MT"/>
                <a:cs typeface="Arial MT"/>
              </a:rPr>
              <a:t> </a:t>
            </a:r>
            <a:r>
              <a:rPr sz="2400" dirty="0">
                <a:latin typeface="Arial MT"/>
                <a:cs typeface="Arial MT"/>
              </a:rPr>
              <a:t>loss</a:t>
            </a:r>
            <a:r>
              <a:rPr sz="2400" spc="-60" dirty="0">
                <a:latin typeface="Arial MT"/>
                <a:cs typeface="Arial MT"/>
              </a:rPr>
              <a:t> </a:t>
            </a:r>
            <a:r>
              <a:rPr sz="2400" dirty="0">
                <a:latin typeface="Arial MT"/>
                <a:cs typeface="Arial MT"/>
              </a:rPr>
              <a:t>of</a:t>
            </a:r>
            <a:r>
              <a:rPr sz="2400" spc="-70" dirty="0">
                <a:latin typeface="Arial MT"/>
                <a:cs typeface="Arial MT"/>
              </a:rPr>
              <a:t> </a:t>
            </a:r>
            <a:r>
              <a:rPr sz="2400" dirty="0">
                <a:latin typeface="Arial MT"/>
                <a:cs typeface="Arial MT"/>
              </a:rPr>
              <a:t>life.</a:t>
            </a:r>
            <a:r>
              <a:rPr sz="2400" spc="-65" dirty="0">
                <a:latin typeface="Arial MT"/>
                <a:cs typeface="Arial MT"/>
              </a:rPr>
              <a:t> </a:t>
            </a:r>
            <a:r>
              <a:rPr sz="2400" dirty="0">
                <a:latin typeface="Arial MT"/>
                <a:cs typeface="Arial MT"/>
              </a:rPr>
              <a:t>Existing</a:t>
            </a:r>
            <a:r>
              <a:rPr sz="2400" spc="-40" dirty="0">
                <a:latin typeface="Arial MT"/>
                <a:cs typeface="Arial MT"/>
              </a:rPr>
              <a:t> </a:t>
            </a:r>
            <a:r>
              <a:rPr sz="2400" dirty="0">
                <a:latin typeface="Arial MT"/>
                <a:cs typeface="Arial MT"/>
              </a:rPr>
              <a:t>systems</a:t>
            </a:r>
            <a:r>
              <a:rPr sz="2400" spc="-90" dirty="0">
                <a:latin typeface="Arial MT"/>
                <a:cs typeface="Arial MT"/>
              </a:rPr>
              <a:t> </a:t>
            </a:r>
            <a:r>
              <a:rPr sz="2400" dirty="0">
                <a:latin typeface="Arial MT"/>
                <a:cs typeface="Arial MT"/>
              </a:rPr>
              <a:t>in</a:t>
            </a:r>
            <a:r>
              <a:rPr sz="2400" spc="-60" dirty="0">
                <a:latin typeface="Arial MT"/>
                <a:cs typeface="Arial MT"/>
              </a:rPr>
              <a:t> </a:t>
            </a:r>
            <a:r>
              <a:rPr sz="2400" dirty="0">
                <a:latin typeface="Arial MT"/>
                <a:cs typeface="Arial MT"/>
              </a:rPr>
              <a:t>vehicles</a:t>
            </a:r>
            <a:r>
              <a:rPr sz="2400" spc="-55" dirty="0">
                <a:latin typeface="Arial MT"/>
                <a:cs typeface="Arial MT"/>
              </a:rPr>
              <a:t> </a:t>
            </a:r>
            <a:r>
              <a:rPr sz="2400" dirty="0">
                <a:latin typeface="Arial MT"/>
                <a:cs typeface="Arial MT"/>
              </a:rPr>
              <a:t>primarily</a:t>
            </a:r>
            <a:r>
              <a:rPr sz="2400" spc="-60" dirty="0">
                <a:latin typeface="Arial MT"/>
                <a:cs typeface="Arial MT"/>
              </a:rPr>
              <a:t> </a:t>
            </a:r>
            <a:r>
              <a:rPr sz="2400" spc="-10" dirty="0">
                <a:latin typeface="Arial MT"/>
                <a:cs typeface="Arial MT"/>
              </a:rPr>
              <a:t>focus </a:t>
            </a:r>
            <a:r>
              <a:rPr sz="2400" dirty="0">
                <a:latin typeface="Arial MT"/>
                <a:cs typeface="Arial MT"/>
              </a:rPr>
              <a:t>on</a:t>
            </a:r>
            <a:r>
              <a:rPr sz="2400" spc="-75" dirty="0">
                <a:latin typeface="Arial MT"/>
                <a:cs typeface="Arial MT"/>
              </a:rPr>
              <a:t> </a:t>
            </a:r>
            <a:r>
              <a:rPr sz="2400" spc="-20" dirty="0">
                <a:latin typeface="Arial MT"/>
                <a:cs typeface="Arial MT"/>
              </a:rPr>
              <a:t>post-</a:t>
            </a:r>
            <a:r>
              <a:rPr sz="2400" dirty="0">
                <a:latin typeface="Arial MT"/>
                <a:cs typeface="Arial MT"/>
              </a:rPr>
              <a:t>accident</a:t>
            </a:r>
            <a:r>
              <a:rPr sz="2400" spc="-60" dirty="0">
                <a:latin typeface="Arial MT"/>
                <a:cs typeface="Arial MT"/>
              </a:rPr>
              <a:t> </a:t>
            </a:r>
            <a:r>
              <a:rPr sz="2400" dirty="0">
                <a:latin typeface="Arial MT"/>
                <a:cs typeface="Arial MT"/>
              </a:rPr>
              <a:t>analysis</a:t>
            </a:r>
            <a:r>
              <a:rPr sz="2400" spc="-50" dirty="0">
                <a:latin typeface="Arial MT"/>
                <a:cs typeface="Arial MT"/>
              </a:rPr>
              <a:t> </a:t>
            </a:r>
            <a:r>
              <a:rPr sz="2400" dirty="0">
                <a:latin typeface="Arial MT"/>
                <a:cs typeface="Arial MT"/>
              </a:rPr>
              <a:t>rather</a:t>
            </a:r>
            <a:r>
              <a:rPr sz="2400" spc="-65" dirty="0">
                <a:latin typeface="Arial MT"/>
                <a:cs typeface="Arial MT"/>
              </a:rPr>
              <a:t> </a:t>
            </a:r>
            <a:r>
              <a:rPr sz="2400" dirty="0">
                <a:latin typeface="Arial MT"/>
                <a:cs typeface="Arial MT"/>
              </a:rPr>
              <a:t>than</a:t>
            </a:r>
            <a:r>
              <a:rPr sz="2400" spc="-75" dirty="0">
                <a:latin typeface="Arial MT"/>
                <a:cs typeface="Arial MT"/>
              </a:rPr>
              <a:t> </a:t>
            </a:r>
            <a:r>
              <a:rPr sz="2400" spc="-20" dirty="0">
                <a:latin typeface="Arial MT"/>
                <a:cs typeface="Arial MT"/>
              </a:rPr>
              <a:t>real-</a:t>
            </a:r>
            <a:r>
              <a:rPr sz="2400" dirty="0">
                <a:latin typeface="Arial MT"/>
                <a:cs typeface="Arial MT"/>
              </a:rPr>
              <a:t>time</a:t>
            </a:r>
            <a:r>
              <a:rPr sz="2400" spc="-70" dirty="0">
                <a:latin typeface="Arial MT"/>
                <a:cs typeface="Arial MT"/>
              </a:rPr>
              <a:t> </a:t>
            </a:r>
            <a:r>
              <a:rPr sz="2400" dirty="0">
                <a:latin typeface="Arial MT"/>
                <a:cs typeface="Arial MT"/>
              </a:rPr>
              <a:t>detection</a:t>
            </a:r>
            <a:r>
              <a:rPr sz="2400" spc="-65" dirty="0">
                <a:latin typeface="Arial MT"/>
                <a:cs typeface="Arial MT"/>
              </a:rPr>
              <a:t> </a:t>
            </a:r>
            <a:r>
              <a:rPr sz="2400" spc="-25" dirty="0">
                <a:latin typeface="Arial MT"/>
                <a:cs typeface="Arial MT"/>
              </a:rPr>
              <a:t>and </a:t>
            </a:r>
            <a:r>
              <a:rPr sz="2400" dirty="0">
                <a:latin typeface="Arial MT"/>
                <a:cs typeface="Arial MT"/>
              </a:rPr>
              <a:t>prevention</a:t>
            </a:r>
            <a:r>
              <a:rPr sz="2400" spc="-75" dirty="0">
                <a:latin typeface="Arial MT"/>
                <a:cs typeface="Arial MT"/>
              </a:rPr>
              <a:t> </a:t>
            </a:r>
            <a:r>
              <a:rPr sz="2400" dirty="0">
                <a:latin typeface="Arial MT"/>
                <a:cs typeface="Arial MT"/>
              </a:rPr>
              <a:t>of</a:t>
            </a:r>
            <a:r>
              <a:rPr sz="2400" spc="-85" dirty="0">
                <a:latin typeface="Arial MT"/>
                <a:cs typeface="Arial MT"/>
              </a:rPr>
              <a:t> </a:t>
            </a:r>
            <a:r>
              <a:rPr sz="2400" dirty="0">
                <a:latin typeface="Arial MT"/>
                <a:cs typeface="Arial MT"/>
              </a:rPr>
              <a:t>such</a:t>
            </a:r>
            <a:r>
              <a:rPr sz="2400" spc="-85" dirty="0">
                <a:latin typeface="Arial MT"/>
                <a:cs typeface="Arial MT"/>
              </a:rPr>
              <a:t> </a:t>
            </a:r>
            <a:r>
              <a:rPr sz="2400" dirty="0">
                <a:latin typeface="Arial MT"/>
                <a:cs typeface="Arial MT"/>
              </a:rPr>
              <a:t>unsafe</a:t>
            </a:r>
            <a:r>
              <a:rPr sz="2400" spc="-85" dirty="0">
                <a:latin typeface="Arial MT"/>
                <a:cs typeface="Arial MT"/>
              </a:rPr>
              <a:t> </a:t>
            </a:r>
            <a:r>
              <a:rPr sz="2400" dirty="0">
                <a:latin typeface="Arial MT"/>
                <a:cs typeface="Arial MT"/>
              </a:rPr>
              <a:t>driving</a:t>
            </a:r>
            <a:r>
              <a:rPr sz="2400" spc="-70" dirty="0">
                <a:latin typeface="Arial MT"/>
                <a:cs typeface="Arial MT"/>
              </a:rPr>
              <a:t> </a:t>
            </a:r>
            <a:r>
              <a:rPr sz="2400" spc="-10" dirty="0">
                <a:latin typeface="Arial MT"/>
                <a:cs typeface="Arial MT"/>
              </a:rPr>
              <a:t>behaviors.</a:t>
            </a:r>
            <a:endParaRPr sz="2400" dirty="0">
              <a:latin typeface="Arial MT"/>
              <a:cs typeface="Arial MT"/>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2006600">
              <a:lnSpc>
                <a:spcPct val="100000"/>
              </a:lnSpc>
              <a:spcBef>
                <a:spcPts val="100"/>
              </a:spcBef>
            </a:pPr>
            <a:r>
              <a:rPr dirty="0"/>
              <a:t>Problem</a:t>
            </a:r>
            <a:r>
              <a:rPr spc="-180" dirty="0"/>
              <a:t> </a:t>
            </a:r>
            <a:r>
              <a:rPr spc="-10" dirty="0"/>
              <a:t>Statement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1540255" y="2230323"/>
            <a:ext cx="8950960" cy="2219960"/>
          </a:xfrm>
          <a:prstGeom prst="rect">
            <a:avLst/>
          </a:prstGeom>
        </p:spPr>
        <p:txBody>
          <a:bodyPr vert="horz" wrap="square" lIns="0" tIns="12700" rIns="0" bIns="0" rtlCol="0">
            <a:spAutoFit/>
          </a:bodyPr>
          <a:lstStyle/>
          <a:p>
            <a:pPr marL="1270" algn="l">
              <a:lnSpc>
                <a:spcPct val="100000"/>
              </a:lnSpc>
              <a:spcBef>
                <a:spcPts val="100"/>
              </a:spcBef>
            </a:pPr>
            <a:r>
              <a:rPr sz="2400" dirty="0">
                <a:latin typeface="Arial MT"/>
                <a:cs typeface="Arial MT"/>
              </a:rPr>
              <a:t>This</a:t>
            </a:r>
            <a:r>
              <a:rPr sz="2400" spc="-55" dirty="0">
                <a:latin typeface="Arial MT"/>
                <a:cs typeface="Arial MT"/>
              </a:rPr>
              <a:t> </a:t>
            </a:r>
            <a:r>
              <a:rPr sz="2400" dirty="0">
                <a:latin typeface="Arial MT"/>
                <a:cs typeface="Arial MT"/>
              </a:rPr>
              <a:t>project,</a:t>
            </a:r>
            <a:r>
              <a:rPr sz="2400" spc="-50" dirty="0">
                <a:latin typeface="Arial MT"/>
                <a:cs typeface="Arial MT"/>
              </a:rPr>
              <a:t> </a:t>
            </a:r>
            <a:r>
              <a:rPr sz="2400" dirty="0">
                <a:latin typeface="Arial MT"/>
                <a:cs typeface="Arial MT"/>
              </a:rPr>
              <a:t>“Driver</a:t>
            </a:r>
            <a:r>
              <a:rPr sz="2400" spc="-60" dirty="0">
                <a:latin typeface="Arial MT"/>
                <a:cs typeface="Arial MT"/>
              </a:rPr>
              <a:t> </a:t>
            </a:r>
            <a:r>
              <a:rPr sz="2400" spc="-20" dirty="0">
                <a:latin typeface="Arial MT"/>
                <a:cs typeface="Arial MT"/>
              </a:rPr>
              <a:t>Behavior</a:t>
            </a:r>
            <a:r>
              <a:rPr sz="2400" spc="-150" dirty="0">
                <a:latin typeface="Arial MT"/>
                <a:cs typeface="Arial MT"/>
              </a:rPr>
              <a:t> </a:t>
            </a:r>
            <a:r>
              <a:rPr sz="2400" dirty="0">
                <a:latin typeface="Arial MT"/>
                <a:cs typeface="Arial MT"/>
              </a:rPr>
              <a:t>Anomaly</a:t>
            </a:r>
            <a:r>
              <a:rPr sz="2400" spc="-40" dirty="0">
                <a:latin typeface="Arial MT"/>
                <a:cs typeface="Arial MT"/>
              </a:rPr>
              <a:t> </a:t>
            </a:r>
            <a:r>
              <a:rPr sz="2400" dirty="0">
                <a:latin typeface="Arial MT"/>
                <a:cs typeface="Arial MT"/>
              </a:rPr>
              <a:t>Detection</a:t>
            </a:r>
            <a:r>
              <a:rPr sz="2400" spc="-45" dirty="0">
                <a:latin typeface="Arial MT"/>
                <a:cs typeface="Arial MT"/>
              </a:rPr>
              <a:t> </a:t>
            </a:r>
            <a:r>
              <a:rPr sz="2400" dirty="0">
                <a:latin typeface="Arial MT"/>
                <a:cs typeface="Arial MT"/>
              </a:rPr>
              <a:t>using</a:t>
            </a:r>
            <a:r>
              <a:rPr sz="2400" spc="-40" dirty="0">
                <a:latin typeface="Arial MT"/>
                <a:cs typeface="Arial MT"/>
              </a:rPr>
              <a:t> </a:t>
            </a:r>
            <a:r>
              <a:rPr sz="2400" spc="-20" dirty="0">
                <a:latin typeface="Arial MT"/>
                <a:cs typeface="Arial MT"/>
              </a:rPr>
              <a:t>Deep</a:t>
            </a:r>
            <a:endParaRPr sz="2400" dirty="0">
              <a:latin typeface="Arial MT"/>
              <a:cs typeface="Arial MT"/>
            </a:endParaRPr>
          </a:p>
          <a:p>
            <a:pPr algn="l">
              <a:lnSpc>
                <a:spcPct val="100000"/>
              </a:lnSpc>
              <a:spcBef>
                <a:spcPts val="5"/>
              </a:spcBef>
            </a:pPr>
            <a:r>
              <a:rPr sz="2400" dirty="0">
                <a:latin typeface="Arial MT"/>
                <a:cs typeface="Arial MT"/>
              </a:rPr>
              <a:t>Learning,”</a:t>
            </a:r>
            <a:r>
              <a:rPr sz="2400" spc="-65" dirty="0">
                <a:latin typeface="Arial MT"/>
                <a:cs typeface="Arial MT"/>
              </a:rPr>
              <a:t> </a:t>
            </a:r>
            <a:r>
              <a:rPr sz="2400" dirty="0">
                <a:latin typeface="Arial MT"/>
                <a:cs typeface="Arial MT"/>
              </a:rPr>
              <a:t>aims</a:t>
            </a:r>
            <a:r>
              <a:rPr sz="2400" spc="-75" dirty="0">
                <a:latin typeface="Arial MT"/>
                <a:cs typeface="Arial MT"/>
              </a:rPr>
              <a:t> </a:t>
            </a:r>
            <a:r>
              <a:rPr sz="2400" dirty="0">
                <a:latin typeface="Arial MT"/>
                <a:cs typeface="Arial MT"/>
              </a:rPr>
              <a:t>to</a:t>
            </a:r>
            <a:r>
              <a:rPr sz="2400" spc="-80" dirty="0">
                <a:latin typeface="Arial MT"/>
                <a:cs typeface="Arial MT"/>
              </a:rPr>
              <a:t> </a:t>
            </a:r>
            <a:r>
              <a:rPr sz="2400" dirty="0">
                <a:latin typeface="Arial MT"/>
                <a:cs typeface="Arial MT"/>
              </a:rPr>
              <a:t>reduce</a:t>
            </a:r>
            <a:r>
              <a:rPr sz="2400" spc="-80" dirty="0">
                <a:latin typeface="Arial MT"/>
                <a:cs typeface="Arial MT"/>
              </a:rPr>
              <a:t> </a:t>
            </a:r>
            <a:r>
              <a:rPr sz="2400" dirty="0">
                <a:latin typeface="Arial MT"/>
                <a:cs typeface="Arial MT"/>
              </a:rPr>
              <a:t>road</a:t>
            </a:r>
            <a:r>
              <a:rPr sz="2400" spc="-80" dirty="0">
                <a:latin typeface="Arial MT"/>
                <a:cs typeface="Arial MT"/>
              </a:rPr>
              <a:t> </a:t>
            </a:r>
            <a:r>
              <a:rPr sz="2400" dirty="0">
                <a:latin typeface="Arial MT"/>
                <a:cs typeface="Arial MT"/>
              </a:rPr>
              <a:t>accidents</a:t>
            </a:r>
            <a:r>
              <a:rPr sz="2400" spc="-75" dirty="0">
                <a:latin typeface="Arial MT"/>
                <a:cs typeface="Arial MT"/>
              </a:rPr>
              <a:t> </a:t>
            </a:r>
            <a:r>
              <a:rPr sz="2400" dirty="0">
                <a:latin typeface="Arial MT"/>
                <a:cs typeface="Arial MT"/>
              </a:rPr>
              <a:t>caused</a:t>
            </a:r>
            <a:r>
              <a:rPr sz="2400" spc="-80" dirty="0">
                <a:latin typeface="Arial MT"/>
                <a:cs typeface="Arial MT"/>
              </a:rPr>
              <a:t> </a:t>
            </a:r>
            <a:r>
              <a:rPr sz="2400" dirty="0">
                <a:latin typeface="Arial MT"/>
                <a:cs typeface="Arial MT"/>
              </a:rPr>
              <a:t>by</a:t>
            </a:r>
            <a:r>
              <a:rPr sz="2400" spc="-80" dirty="0">
                <a:latin typeface="Arial MT"/>
                <a:cs typeface="Arial MT"/>
              </a:rPr>
              <a:t> </a:t>
            </a:r>
            <a:r>
              <a:rPr sz="2400" dirty="0">
                <a:latin typeface="Arial MT"/>
                <a:cs typeface="Arial MT"/>
              </a:rPr>
              <a:t>human</a:t>
            </a:r>
            <a:r>
              <a:rPr sz="2400" spc="-70" dirty="0">
                <a:latin typeface="Arial MT"/>
                <a:cs typeface="Arial MT"/>
              </a:rPr>
              <a:t> </a:t>
            </a:r>
            <a:r>
              <a:rPr sz="2400" spc="-10" dirty="0">
                <a:latin typeface="Arial MT"/>
                <a:cs typeface="Arial MT"/>
              </a:rPr>
              <a:t>error.</a:t>
            </a:r>
            <a:endParaRPr sz="2400" dirty="0">
              <a:latin typeface="Arial MT"/>
              <a:cs typeface="Arial MT"/>
            </a:endParaRPr>
          </a:p>
          <a:p>
            <a:pPr marL="12065" marR="5080" indent="-2540" algn="l">
              <a:lnSpc>
                <a:spcPct val="100000"/>
              </a:lnSpc>
            </a:pPr>
            <a:r>
              <a:rPr sz="2400" dirty="0">
                <a:latin typeface="Arial MT"/>
                <a:cs typeface="Arial MT"/>
              </a:rPr>
              <a:t>Using</a:t>
            </a:r>
            <a:r>
              <a:rPr sz="2400" spc="-55" dirty="0">
                <a:latin typeface="Arial MT"/>
                <a:cs typeface="Arial MT"/>
              </a:rPr>
              <a:t> </a:t>
            </a:r>
            <a:r>
              <a:rPr sz="2400" dirty="0">
                <a:latin typeface="Arial MT"/>
                <a:cs typeface="Arial MT"/>
              </a:rPr>
              <a:t>deep</a:t>
            </a:r>
            <a:r>
              <a:rPr sz="2400" spc="-65" dirty="0">
                <a:latin typeface="Arial MT"/>
                <a:cs typeface="Arial MT"/>
              </a:rPr>
              <a:t> </a:t>
            </a:r>
            <a:r>
              <a:rPr sz="2400" dirty="0">
                <a:latin typeface="Arial MT"/>
                <a:cs typeface="Arial MT"/>
              </a:rPr>
              <a:t>learning,</a:t>
            </a:r>
            <a:r>
              <a:rPr sz="2400" spc="-50" dirty="0">
                <a:latin typeface="Arial MT"/>
                <a:cs typeface="Arial MT"/>
              </a:rPr>
              <a:t> </a:t>
            </a:r>
            <a:r>
              <a:rPr sz="2400" dirty="0">
                <a:latin typeface="Arial MT"/>
                <a:cs typeface="Arial MT"/>
              </a:rPr>
              <a:t>the</a:t>
            </a:r>
            <a:r>
              <a:rPr sz="2400" spc="-70" dirty="0">
                <a:latin typeface="Arial MT"/>
                <a:cs typeface="Arial MT"/>
              </a:rPr>
              <a:t> </a:t>
            </a:r>
            <a:r>
              <a:rPr sz="2400" dirty="0">
                <a:latin typeface="Arial MT"/>
                <a:cs typeface="Arial MT"/>
              </a:rPr>
              <a:t>system</a:t>
            </a:r>
            <a:r>
              <a:rPr sz="2400" spc="-70" dirty="0">
                <a:latin typeface="Arial MT"/>
                <a:cs typeface="Arial MT"/>
              </a:rPr>
              <a:t> </a:t>
            </a:r>
            <a:r>
              <a:rPr sz="2400" dirty="0">
                <a:latin typeface="Arial MT"/>
                <a:cs typeface="Arial MT"/>
              </a:rPr>
              <a:t>detects</a:t>
            </a:r>
            <a:r>
              <a:rPr sz="2400" spc="-70" dirty="0">
                <a:latin typeface="Arial MT"/>
                <a:cs typeface="Arial MT"/>
              </a:rPr>
              <a:t> </a:t>
            </a:r>
            <a:r>
              <a:rPr sz="2400" dirty="0">
                <a:latin typeface="Arial MT"/>
                <a:cs typeface="Arial MT"/>
              </a:rPr>
              <a:t>unsafe</a:t>
            </a:r>
            <a:r>
              <a:rPr sz="2400" spc="-75" dirty="0">
                <a:latin typeface="Arial MT"/>
                <a:cs typeface="Arial MT"/>
              </a:rPr>
              <a:t> </a:t>
            </a:r>
            <a:r>
              <a:rPr sz="2400" dirty="0">
                <a:latin typeface="Arial MT"/>
                <a:cs typeface="Arial MT"/>
              </a:rPr>
              <a:t>behaviors</a:t>
            </a:r>
            <a:r>
              <a:rPr sz="2400" spc="-45" dirty="0">
                <a:latin typeface="Arial MT"/>
                <a:cs typeface="Arial MT"/>
              </a:rPr>
              <a:t> </a:t>
            </a:r>
            <a:r>
              <a:rPr sz="2400" spc="-20" dirty="0">
                <a:latin typeface="Arial MT"/>
                <a:cs typeface="Arial MT"/>
              </a:rPr>
              <a:t>like </a:t>
            </a:r>
            <a:r>
              <a:rPr sz="2400" dirty="0">
                <a:latin typeface="Arial MT"/>
                <a:cs typeface="Arial MT"/>
              </a:rPr>
              <a:t>drowsiness,</a:t>
            </a:r>
            <a:r>
              <a:rPr sz="2400" spc="-50" dirty="0">
                <a:latin typeface="Arial MT"/>
                <a:cs typeface="Arial MT"/>
              </a:rPr>
              <a:t> </a:t>
            </a:r>
            <a:r>
              <a:rPr sz="2400" dirty="0">
                <a:latin typeface="Arial MT"/>
                <a:cs typeface="Arial MT"/>
              </a:rPr>
              <a:t>distraction,</a:t>
            </a:r>
            <a:r>
              <a:rPr sz="2400" spc="-80" dirty="0">
                <a:latin typeface="Arial MT"/>
                <a:cs typeface="Arial MT"/>
              </a:rPr>
              <a:t> </a:t>
            </a:r>
            <a:r>
              <a:rPr sz="2400" dirty="0">
                <a:latin typeface="Arial MT"/>
                <a:cs typeface="Arial MT"/>
              </a:rPr>
              <a:t>and</a:t>
            </a:r>
            <a:r>
              <a:rPr sz="2400" spc="-70" dirty="0">
                <a:latin typeface="Arial MT"/>
                <a:cs typeface="Arial MT"/>
              </a:rPr>
              <a:t> </a:t>
            </a:r>
            <a:r>
              <a:rPr sz="2400" dirty="0">
                <a:latin typeface="Arial MT"/>
                <a:cs typeface="Arial MT"/>
              </a:rPr>
              <a:t>rash</a:t>
            </a:r>
            <a:r>
              <a:rPr sz="2400" spc="-70" dirty="0">
                <a:latin typeface="Arial MT"/>
                <a:cs typeface="Arial MT"/>
              </a:rPr>
              <a:t> </a:t>
            </a:r>
            <a:r>
              <a:rPr sz="2400" dirty="0">
                <a:latin typeface="Arial MT"/>
                <a:cs typeface="Arial MT"/>
              </a:rPr>
              <a:t>driving</a:t>
            </a:r>
            <a:r>
              <a:rPr sz="2400" spc="-55" dirty="0">
                <a:latin typeface="Arial MT"/>
                <a:cs typeface="Arial MT"/>
              </a:rPr>
              <a:t> </a:t>
            </a:r>
            <a:r>
              <a:rPr sz="2400" dirty="0">
                <a:latin typeface="Arial MT"/>
                <a:cs typeface="Arial MT"/>
              </a:rPr>
              <a:t>from</a:t>
            </a:r>
            <a:r>
              <a:rPr sz="2400" spc="-90" dirty="0">
                <a:latin typeface="Arial MT"/>
                <a:cs typeface="Arial MT"/>
              </a:rPr>
              <a:t> </a:t>
            </a:r>
            <a:r>
              <a:rPr sz="2400" spc="-20" dirty="0">
                <a:latin typeface="Arial MT"/>
                <a:cs typeface="Arial MT"/>
              </a:rPr>
              <a:t>real-</a:t>
            </a:r>
            <a:r>
              <a:rPr sz="2400" dirty="0">
                <a:latin typeface="Arial MT"/>
                <a:cs typeface="Arial MT"/>
              </a:rPr>
              <a:t>time</a:t>
            </a:r>
            <a:r>
              <a:rPr sz="2400" spc="-70" dirty="0">
                <a:latin typeface="Arial MT"/>
                <a:cs typeface="Arial MT"/>
              </a:rPr>
              <a:t> </a:t>
            </a:r>
            <a:r>
              <a:rPr sz="2400" dirty="0">
                <a:latin typeface="Arial MT"/>
                <a:cs typeface="Arial MT"/>
              </a:rPr>
              <a:t>data</a:t>
            </a:r>
            <a:r>
              <a:rPr sz="2400" spc="-70" dirty="0">
                <a:latin typeface="Arial MT"/>
                <a:cs typeface="Arial MT"/>
              </a:rPr>
              <a:t> </a:t>
            </a:r>
            <a:r>
              <a:rPr sz="2400" spc="-25" dirty="0">
                <a:latin typeface="Arial MT"/>
                <a:cs typeface="Arial MT"/>
              </a:rPr>
              <a:t>and </a:t>
            </a:r>
            <a:r>
              <a:rPr sz="2400" dirty="0">
                <a:latin typeface="Arial MT"/>
                <a:cs typeface="Arial MT"/>
              </a:rPr>
              <a:t>provides</a:t>
            </a:r>
            <a:r>
              <a:rPr sz="2400" spc="-55" dirty="0">
                <a:latin typeface="Arial MT"/>
                <a:cs typeface="Arial MT"/>
              </a:rPr>
              <a:t> </a:t>
            </a:r>
            <a:r>
              <a:rPr sz="2400" dirty="0">
                <a:latin typeface="Arial MT"/>
                <a:cs typeface="Arial MT"/>
              </a:rPr>
              <a:t>early</a:t>
            </a:r>
            <a:r>
              <a:rPr sz="2400" spc="-50" dirty="0">
                <a:latin typeface="Arial MT"/>
                <a:cs typeface="Arial MT"/>
              </a:rPr>
              <a:t> </a:t>
            </a:r>
            <a:r>
              <a:rPr sz="2400" dirty="0">
                <a:latin typeface="Arial MT"/>
                <a:cs typeface="Arial MT"/>
              </a:rPr>
              <a:t>alerts</a:t>
            </a:r>
            <a:r>
              <a:rPr sz="2400" spc="-55" dirty="0">
                <a:latin typeface="Arial MT"/>
                <a:cs typeface="Arial MT"/>
              </a:rPr>
              <a:t> </a:t>
            </a:r>
            <a:r>
              <a:rPr sz="2400" dirty="0">
                <a:latin typeface="Arial MT"/>
                <a:cs typeface="Arial MT"/>
              </a:rPr>
              <a:t>to</a:t>
            </a:r>
            <a:r>
              <a:rPr sz="2400" spc="-70" dirty="0">
                <a:latin typeface="Arial MT"/>
                <a:cs typeface="Arial MT"/>
              </a:rPr>
              <a:t> </a:t>
            </a:r>
            <a:r>
              <a:rPr sz="2400" dirty="0">
                <a:latin typeface="Arial MT"/>
                <a:cs typeface="Arial MT"/>
              </a:rPr>
              <a:t>prevent</a:t>
            </a:r>
            <a:r>
              <a:rPr sz="2400" spc="-60" dirty="0">
                <a:latin typeface="Arial MT"/>
                <a:cs typeface="Arial MT"/>
              </a:rPr>
              <a:t> </a:t>
            </a:r>
            <a:r>
              <a:rPr sz="2400" dirty="0">
                <a:latin typeface="Arial MT"/>
                <a:cs typeface="Arial MT"/>
              </a:rPr>
              <a:t>accidents.</a:t>
            </a:r>
            <a:r>
              <a:rPr sz="2400" spc="-55" dirty="0">
                <a:latin typeface="Arial MT"/>
                <a:cs typeface="Arial MT"/>
              </a:rPr>
              <a:t> </a:t>
            </a:r>
            <a:r>
              <a:rPr sz="2400" dirty="0">
                <a:latin typeface="Arial MT"/>
                <a:cs typeface="Arial MT"/>
              </a:rPr>
              <a:t>It</a:t>
            </a:r>
            <a:r>
              <a:rPr sz="2400" spc="-70" dirty="0">
                <a:latin typeface="Arial MT"/>
                <a:cs typeface="Arial MT"/>
              </a:rPr>
              <a:t> </a:t>
            </a:r>
            <a:r>
              <a:rPr sz="2400" dirty="0">
                <a:latin typeface="Arial MT"/>
                <a:cs typeface="Arial MT"/>
              </a:rPr>
              <a:t>contributes</a:t>
            </a:r>
            <a:r>
              <a:rPr sz="2400" spc="-65" dirty="0">
                <a:latin typeface="Arial MT"/>
                <a:cs typeface="Arial MT"/>
              </a:rPr>
              <a:t> </a:t>
            </a:r>
            <a:r>
              <a:rPr sz="2400" dirty="0">
                <a:latin typeface="Arial MT"/>
                <a:cs typeface="Arial MT"/>
              </a:rPr>
              <a:t>to</a:t>
            </a:r>
            <a:r>
              <a:rPr sz="2400" spc="-70" dirty="0">
                <a:latin typeface="Arial MT"/>
                <a:cs typeface="Arial MT"/>
              </a:rPr>
              <a:t> </a:t>
            </a:r>
            <a:r>
              <a:rPr sz="2400" spc="-10" dirty="0">
                <a:latin typeface="Arial MT"/>
                <a:cs typeface="Arial MT"/>
              </a:rPr>
              <a:t>building safer,</a:t>
            </a:r>
            <a:r>
              <a:rPr sz="2400" spc="-110" dirty="0">
                <a:latin typeface="Arial MT"/>
                <a:cs typeface="Arial MT"/>
              </a:rPr>
              <a:t> </a:t>
            </a:r>
            <a:r>
              <a:rPr sz="2400" spc="-10" dirty="0">
                <a:latin typeface="Arial MT"/>
                <a:cs typeface="Arial MT"/>
              </a:rPr>
              <a:t>smarter,</a:t>
            </a:r>
            <a:r>
              <a:rPr sz="2400" spc="-110" dirty="0">
                <a:latin typeface="Arial MT"/>
                <a:cs typeface="Arial MT"/>
              </a:rPr>
              <a:t> </a:t>
            </a:r>
            <a:r>
              <a:rPr sz="2400" dirty="0">
                <a:latin typeface="Arial MT"/>
                <a:cs typeface="Arial MT"/>
              </a:rPr>
              <a:t>and</a:t>
            </a:r>
            <a:r>
              <a:rPr sz="2400" spc="-105" dirty="0">
                <a:latin typeface="Arial MT"/>
                <a:cs typeface="Arial MT"/>
              </a:rPr>
              <a:t> </a:t>
            </a:r>
            <a:r>
              <a:rPr sz="2400" dirty="0">
                <a:latin typeface="Arial MT"/>
                <a:cs typeface="Arial MT"/>
              </a:rPr>
              <a:t>more</a:t>
            </a:r>
            <a:r>
              <a:rPr sz="2400" spc="-95" dirty="0">
                <a:latin typeface="Arial MT"/>
                <a:cs typeface="Arial MT"/>
              </a:rPr>
              <a:t> </a:t>
            </a:r>
            <a:r>
              <a:rPr sz="2400" dirty="0">
                <a:latin typeface="Arial MT"/>
                <a:cs typeface="Arial MT"/>
              </a:rPr>
              <a:t>reliable</a:t>
            </a:r>
            <a:r>
              <a:rPr sz="2400" spc="-65" dirty="0">
                <a:latin typeface="Arial MT"/>
                <a:cs typeface="Arial MT"/>
              </a:rPr>
              <a:t> </a:t>
            </a:r>
            <a:r>
              <a:rPr sz="2400" dirty="0">
                <a:latin typeface="Arial MT"/>
                <a:cs typeface="Arial MT"/>
              </a:rPr>
              <a:t>transportation</a:t>
            </a:r>
            <a:r>
              <a:rPr sz="2400" spc="-95" dirty="0">
                <a:latin typeface="Arial MT"/>
                <a:cs typeface="Arial MT"/>
              </a:rPr>
              <a:t> </a:t>
            </a:r>
            <a:r>
              <a:rPr sz="2400" spc="-10" dirty="0">
                <a:latin typeface="Arial MT"/>
                <a:cs typeface="Arial MT"/>
              </a:rPr>
              <a:t>systems.</a:t>
            </a:r>
            <a:endParaRPr sz="2400" dirty="0">
              <a:latin typeface="Arial MT"/>
              <a:cs typeface="Arial MT"/>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3509010">
              <a:lnSpc>
                <a:spcPct val="100000"/>
              </a:lnSpc>
              <a:spcBef>
                <a:spcPts val="100"/>
              </a:spcBef>
            </a:pPr>
            <a:r>
              <a:rPr spc="-10" dirty="0"/>
              <a:t>Abstract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1549400" y="1185417"/>
            <a:ext cx="8719185" cy="2610485"/>
          </a:xfrm>
          <a:prstGeom prst="rect">
            <a:avLst/>
          </a:prstGeom>
        </p:spPr>
        <p:txBody>
          <a:bodyPr vert="horz" wrap="square" lIns="0" tIns="12700" rIns="0" bIns="0" rtlCol="0">
            <a:spAutoFit/>
          </a:bodyPr>
          <a:lstStyle/>
          <a:p>
            <a:pPr marR="5080" algn="r">
              <a:lnSpc>
                <a:spcPct val="100000"/>
              </a:lnSpc>
              <a:spcBef>
                <a:spcPts val="100"/>
              </a:spcBef>
            </a:pPr>
            <a:r>
              <a:rPr sz="2400" spc="-10" dirty="0">
                <a:solidFill>
                  <a:srgbClr val="FF0000"/>
                </a:solidFill>
                <a:latin typeface="Trebuchet MS"/>
                <a:cs typeface="Trebuchet MS"/>
              </a:rPr>
              <a:t>Scope</a:t>
            </a:r>
            <a:endParaRPr sz="2400">
              <a:latin typeface="Trebuchet MS"/>
              <a:cs typeface="Trebuchet MS"/>
            </a:endParaRPr>
          </a:p>
          <a:p>
            <a:pPr>
              <a:lnSpc>
                <a:spcPct val="100000"/>
              </a:lnSpc>
              <a:spcBef>
                <a:spcPts val="295"/>
              </a:spcBef>
            </a:pPr>
            <a:endParaRPr sz="2400">
              <a:latin typeface="Trebuchet MS"/>
              <a:cs typeface="Trebuchet MS"/>
            </a:endParaRPr>
          </a:p>
          <a:p>
            <a:pPr marL="12700" marR="5715" algn="just">
              <a:lnSpc>
                <a:spcPct val="99900"/>
              </a:lnSpc>
            </a:pPr>
            <a:r>
              <a:rPr sz="2400" dirty="0">
                <a:latin typeface="Arial MT"/>
                <a:cs typeface="Arial MT"/>
              </a:rPr>
              <a:t>The</a:t>
            </a:r>
            <a:r>
              <a:rPr sz="2400" spc="225" dirty="0">
                <a:latin typeface="Arial MT"/>
                <a:cs typeface="Arial MT"/>
              </a:rPr>
              <a:t> </a:t>
            </a:r>
            <a:r>
              <a:rPr sz="2400" dirty="0">
                <a:latin typeface="Arial MT"/>
                <a:cs typeface="Arial MT"/>
              </a:rPr>
              <a:t>main</a:t>
            </a:r>
            <a:r>
              <a:rPr sz="2400" spc="235" dirty="0">
                <a:latin typeface="Arial MT"/>
                <a:cs typeface="Arial MT"/>
              </a:rPr>
              <a:t> </a:t>
            </a:r>
            <a:r>
              <a:rPr sz="2400" dirty="0">
                <a:latin typeface="Arial MT"/>
                <a:cs typeface="Arial MT"/>
              </a:rPr>
              <a:t>scope</a:t>
            </a:r>
            <a:r>
              <a:rPr sz="2400" spc="220" dirty="0">
                <a:latin typeface="Arial MT"/>
                <a:cs typeface="Arial MT"/>
              </a:rPr>
              <a:t> </a:t>
            </a:r>
            <a:r>
              <a:rPr sz="2400" dirty="0">
                <a:latin typeface="Arial MT"/>
                <a:cs typeface="Arial MT"/>
              </a:rPr>
              <a:t>of</a:t>
            </a:r>
            <a:r>
              <a:rPr sz="2400" spc="229" dirty="0">
                <a:latin typeface="Arial MT"/>
                <a:cs typeface="Arial MT"/>
              </a:rPr>
              <a:t> </a:t>
            </a:r>
            <a:r>
              <a:rPr sz="2400" dirty="0">
                <a:latin typeface="Arial MT"/>
                <a:cs typeface="Arial MT"/>
              </a:rPr>
              <a:t>this</a:t>
            </a:r>
            <a:r>
              <a:rPr sz="2400" spc="220" dirty="0">
                <a:latin typeface="Arial MT"/>
                <a:cs typeface="Arial MT"/>
              </a:rPr>
              <a:t> </a:t>
            </a:r>
            <a:r>
              <a:rPr sz="2400" dirty="0">
                <a:latin typeface="Arial MT"/>
                <a:cs typeface="Arial MT"/>
              </a:rPr>
              <a:t>project</a:t>
            </a:r>
            <a:r>
              <a:rPr sz="2400" spc="235" dirty="0">
                <a:latin typeface="Arial MT"/>
                <a:cs typeface="Arial MT"/>
              </a:rPr>
              <a:t> </a:t>
            </a:r>
            <a:r>
              <a:rPr sz="2400" dirty="0">
                <a:latin typeface="Arial MT"/>
                <a:cs typeface="Arial MT"/>
              </a:rPr>
              <a:t>is</a:t>
            </a:r>
            <a:r>
              <a:rPr sz="2400" spc="215" dirty="0">
                <a:latin typeface="Arial MT"/>
                <a:cs typeface="Arial MT"/>
              </a:rPr>
              <a:t> </a:t>
            </a:r>
            <a:r>
              <a:rPr sz="2400" dirty="0">
                <a:latin typeface="Arial MT"/>
                <a:cs typeface="Arial MT"/>
              </a:rPr>
              <a:t>to</a:t>
            </a:r>
            <a:r>
              <a:rPr sz="2400" spc="225" dirty="0">
                <a:latin typeface="Arial MT"/>
                <a:cs typeface="Arial MT"/>
              </a:rPr>
              <a:t> </a:t>
            </a:r>
            <a:r>
              <a:rPr sz="2400" dirty="0">
                <a:latin typeface="Arial MT"/>
                <a:cs typeface="Arial MT"/>
              </a:rPr>
              <a:t>detect</a:t>
            </a:r>
            <a:r>
              <a:rPr sz="2400" spc="220" dirty="0">
                <a:latin typeface="Arial MT"/>
                <a:cs typeface="Arial MT"/>
              </a:rPr>
              <a:t> </a:t>
            </a:r>
            <a:r>
              <a:rPr sz="2400" dirty="0">
                <a:latin typeface="Arial MT"/>
                <a:cs typeface="Arial MT"/>
              </a:rPr>
              <a:t>and</a:t>
            </a:r>
            <a:r>
              <a:rPr sz="2400" spc="225" dirty="0">
                <a:latin typeface="Arial MT"/>
                <a:cs typeface="Arial MT"/>
              </a:rPr>
              <a:t> </a:t>
            </a:r>
            <a:r>
              <a:rPr sz="2400" dirty="0">
                <a:latin typeface="Arial MT"/>
                <a:cs typeface="Arial MT"/>
              </a:rPr>
              <a:t>prevent</a:t>
            </a:r>
            <a:r>
              <a:rPr sz="2400" spc="225" dirty="0">
                <a:latin typeface="Arial MT"/>
                <a:cs typeface="Arial MT"/>
              </a:rPr>
              <a:t> </a:t>
            </a:r>
            <a:r>
              <a:rPr sz="2400" spc="-10" dirty="0">
                <a:latin typeface="Arial MT"/>
                <a:cs typeface="Arial MT"/>
              </a:rPr>
              <a:t>unsafe </a:t>
            </a:r>
            <a:r>
              <a:rPr sz="2400" dirty="0">
                <a:latin typeface="Arial MT"/>
                <a:cs typeface="Arial MT"/>
              </a:rPr>
              <a:t>driving</a:t>
            </a:r>
            <a:r>
              <a:rPr sz="2400" spc="335" dirty="0">
                <a:latin typeface="Arial MT"/>
                <a:cs typeface="Arial MT"/>
              </a:rPr>
              <a:t> </a:t>
            </a:r>
            <a:r>
              <a:rPr sz="2400" dirty="0">
                <a:latin typeface="Arial MT"/>
                <a:cs typeface="Arial MT"/>
              </a:rPr>
              <a:t>behaviors</a:t>
            </a:r>
            <a:r>
              <a:rPr sz="2400" spc="340" dirty="0">
                <a:latin typeface="Arial MT"/>
                <a:cs typeface="Arial MT"/>
              </a:rPr>
              <a:t> </a:t>
            </a:r>
            <a:r>
              <a:rPr sz="2400" dirty="0">
                <a:latin typeface="Arial MT"/>
                <a:cs typeface="Arial MT"/>
              </a:rPr>
              <a:t>in</a:t>
            </a:r>
            <a:r>
              <a:rPr sz="2400" spc="325" dirty="0">
                <a:latin typeface="Arial MT"/>
                <a:cs typeface="Arial MT"/>
              </a:rPr>
              <a:t> </a:t>
            </a:r>
            <a:r>
              <a:rPr sz="2400" dirty="0">
                <a:latin typeface="Arial MT"/>
                <a:cs typeface="Arial MT"/>
              </a:rPr>
              <a:t>real</a:t>
            </a:r>
            <a:r>
              <a:rPr sz="2400" spc="330" dirty="0">
                <a:latin typeface="Arial MT"/>
                <a:cs typeface="Arial MT"/>
              </a:rPr>
              <a:t> </a:t>
            </a:r>
            <a:r>
              <a:rPr sz="2400" dirty="0">
                <a:latin typeface="Arial MT"/>
                <a:cs typeface="Arial MT"/>
              </a:rPr>
              <a:t>time</a:t>
            </a:r>
            <a:r>
              <a:rPr sz="2400" spc="330" dirty="0">
                <a:latin typeface="Arial MT"/>
                <a:cs typeface="Arial MT"/>
              </a:rPr>
              <a:t> </a:t>
            </a:r>
            <a:r>
              <a:rPr sz="2400" dirty="0">
                <a:latin typeface="Arial MT"/>
                <a:cs typeface="Arial MT"/>
              </a:rPr>
              <a:t>using</a:t>
            </a:r>
            <a:r>
              <a:rPr sz="2400" spc="330" dirty="0">
                <a:latin typeface="Arial MT"/>
                <a:cs typeface="Arial MT"/>
              </a:rPr>
              <a:t> </a:t>
            </a:r>
            <a:r>
              <a:rPr sz="2400" dirty="0">
                <a:latin typeface="Arial MT"/>
                <a:cs typeface="Arial MT"/>
              </a:rPr>
              <a:t>deep</a:t>
            </a:r>
            <a:r>
              <a:rPr sz="2400" spc="330" dirty="0">
                <a:latin typeface="Arial MT"/>
                <a:cs typeface="Arial MT"/>
              </a:rPr>
              <a:t> </a:t>
            </a:r>
            <a:r>
              <a:rPr sz="2400" dirty="0">
                <a:latin typeface="Arial MT"/>
                <a:cs typeface="Arial MT"/>
              </a:rPr>
              <a:t>learning</a:t>
            </a:r>
            <a:r>
              <a:rPr sz="2400" spc="335" dirty="0">
                <a:latin typeface="Arial MT"/>
                <a:cs typeface="Arial MT"/>
              </a:rPr>
              <a:t> </a:t>
            </a:r>
            <a:r>
              <a:rPr sz="2400" spc="-10" dirty="0">
                <a:latin typeface="Arial MT"/>
                <a:cs typeface="Arial MT"/>
              </a:rPr>
              <a:t>techniques. </a:t>
            </a:r>
            <a:r>
              <a:rPr sz="2400" dirty="0">
                <a:latin typeface="Arial MT"/>
                <a:cs typeface="Arial MT"/>
              </a:rPr>
              <a:t>By</a:t>
            </a:r>
            <a:r>
              <a:rPr sz="2400" spc="10" dirty="0">
                <a:latin typeface="Arial MT"/>
                <a:cs typeface="Arial MT"/>
              </a:rPr>
              <a:t>  </a:t>
            </a:r>
            <a:r>
              <a:rPr sz="2400" dirty="0">
                <a:latin typeface="Arial MT"/>
                <a:cs typeface="Arial MT"/>
              </a:rPr>
              <a:t>analyzing</a:t>
            </a:r>
            <a:r>
              <a:rPr sz="2400" spc="15" dirty="0">
                <a:latin typeface="Arial MT"/>
                <a:cs typeface="Arial MT"/>
              </a:rPr>
              <a:t>  </a:t>
            </a:r>
            <a:r>
              <a:rPr sz="2400" dirty="0">
                <a:latin typeface="Arial MT"/>
                <a:cs typeface="Arial MT"/>
              </a:rPr>
              <a:t>driver</a:t>
            </a:r>
            <a:r>
              <a:rPr sz="2400" spc="15" dirty="0">
                <a:latin typeface="Arial MT"/>
                <a:cs typeface="Arial MT"/>
              </a:rPr>
              <a:t>  </a:t>
            </a:r>
            <a:r>
              <a:rPr sz="2400" dirty="0">
                <a:latin typeface="Arial MT"/>
                <a:cs typeface="Arial MT"/>
              </a:rPr>
              <a:t>actions</a:t>
            </a:r>
            <a:r>
              <a:rPr sz="2400" spc="15" dirty="0">
                <a:latin typeface="Arial MT"/>
                <a:cs typeface="Arial MT"/>
              </a:rPr>
              <a:t>  </a:t>
            </a:r>
            <a:r>
              <a:rPr sz="2400" dirty="0">
                <a:latin typeface="Arial MT"/>
                <a:cs typeface="Arial MT"/>
              </a:rPr>
              <a:t>and</a:t>
            </a:r>
            <a:r>
              <a:rPr sz="2400" spc="15" dirty="0">
                <a:latin typeface="Arial MT"/>
                <a:cs typeface="Arial MT"/>
              </a:rPr>
              <a:t>  </a:t>
            </a:r>
            <a:r>
              <a:rPr sz="2400" dirty="0">
                <a:latin typeface="Arial MT"/>
                <a:cs typeface="Arial MT"/>
              </a:rPr>
              <a:t>generating</a:t>
            </a:r>
            <a:r>
              <a:rPr sz="2400" spc="10" dirty="0">
                <a:latin typeface="Arial MT"/>
                <a:cs typeface="Arial MT"/>
              </a:rPr>
              <a:t>  </a:t>
            </a:r>
            <a:r>
              <a:rPr sz="2400" dirty="0">
                <a:latin typeface="Arial MT"/>
                <a:cs typeface="Arial MT"/>
              </a:rPr>
              <a:t>early</a:t>
            </a:r>
            <a:r>
              <a:rPr sz="2400" spc="15" dirty="0">
                <a:latin typeface="Arial MT"/>
                <a:cs typeface="Arial MT"/>
              </a:rPr>
              <a:t>  </a:t>
            </a:r>
            <a:r>
              <a:rPr sz="2400" dirty="0">
                <a:latin typeface="Arial MT"/>
                <a:cs typeface="Arial MT"/>
              </a:rPr>
              <a:t>alerts,</a:t>
            </a:r>
            <a:r>
              <a:rPr sz="2400" spc="15" dirty="0">
                <a:latin typeface="Arial MT"/>
                <a:cs typeface="Arial MT"/>
              </a:rPr>
              <a:t>  </a:t>
            </a:r>
            <a:r>
              <a:rPr sz="2400" spc="-25" dirty="0">
                <a:latin typeface="Arial MT"/>
                <a:cs typeface="Arial MT"/>
              </a:rPr>
              <a:t>the </a:t>
            </a:r>
            <a:r>
              <a:rPr sz="2400" dirty="0">
                <a:latin typeface="Arial MT"/>
                <a:cs typeface="Arial MT"/>
              </a:rPr>
              <a:t>system</a:t>
            </a:r>
            <a:r>
              <a:rPr sz="2400" spc="325" dirty="0">
                <a:latin typeface="Arial MT"/>
                <a:cs typeface="Arial MT"/>
              </a:rPr>
              <a:t> </a:t>
            </a:r>
            <a:r>
              <a:rPr sz="2400" dirty="0">
                <a:latin typeface="Arial MT"/>
                <a:cs typeface="Arial MT"/>
              </a:rPr>
              <a:t>aims</a:t>
            </a:r>
            <a:r>
              <a:rPr sz="2400" spc="325" dirty="0">
                <a:latin typeface="Arial MT"/>
                <a:cs typeface="Arial MT"/>
              </a:rPr>
              <a:t> </a:t>
            </a:r>
            <a:r>
              <a:rPr sz="2400" dirty="0">
                <a:latin typeface="Arial MT"/>
                <a:cs typeface="Arial MT"/>
              </a:rPr>
              <a:t>to</a:t>
            </a:r>
            <a:r>
              <a:rPr sz="2400" spc="325" dirty="0">
                <a:latin typeface="Arial MT"/>
                <a:cs typeface="Arial MT"/>
              </a:rPr>
              <a:t> </a:t>
            </a:r>
            <a:r>
              <a:rPr sz="2400" dirty="0">
                <a:latin typeface="Arial MT"/>
                <a:cs typeface="Arial MT"/>
              </a:rPr>
              <a:t>reduce</a:t>
            </a:r>
            <a:r>
              <a:rPr sz="2400" spc="335" dirty="0">
                <a:latin typeface="Arial MT"/>
                <a:cs typeface="Arial MT"/>
              </a:rPr>
              <a:t> </a:t>
            </a:r>
            <a:r>
              <a:rPr sz="2400" dirty="0">
                <a:latin typeface="Arial MT"/>
                <a:cs typeface="Arial MT"/>
              </a:rPr>
              <a:t>accidents</a:t>
            </a:r>
            <a:r>
              <a:rPr sz="2400" spc="335" dirty="0">
                <a:latin typeface="Arial MT"/>
                <a:cs typeface="Arial MT"/>
              </a:rPr>
              <a:t> </a:t>
            </a:r>
            <a:r>
              <a:rPr sz="2400" dirty="0">
                <a:latin typeface="Arial MT"/>
                <a:cs typeface="Arial MT"/>
              </a:rPr>
              <a:t>caused</a:t>
            </a:r>
            <a:r>
              <a:rPr sz="2400" spc="330" dirty="0">
                <a:latin typeface="Arial MT"/>
                <a:cs typeface="Arial MT"/>
              </a:rPr>
              <a:t> </a:t>
            </a:r>
            <a:r>
              <a:rPr sz="2400" dirty="0">
                <a:latin typeface="Arial MT"/>
                <a:cs typeface="Arial MT"/>
              </a:rPr>
              <a:t>by</a:t>
            </a:r>
            <a:r>
              <a:rPr sz="2400" spc="330" dirty="0">
                <a:latin typeface="Arial MT"/>
                <a:cs typeface="Arial MT"/>
              </a:rPr>
              <a:t> </a:t>
            </a:r>
            <a:r>
              <a:rPr sz="2400" dirty="0">
                <a:latin typeface="Arial MT"/>
                <a:cs typeface="Arial MT"/>
              </a:rPr>
              <a:t>human</a:t>
            </a:r>
            <a:r>
              <a:rPr sz="2400" spc="335" dirty="0">
                <a:latin typeface="Arial MT"/>
                <a:cs typeface="Arial MT"/>
              </a:rPr>
              <a:t> </a:t>
            </a:r>
            <a:r>
              <a:rPr sz="2400" dirty="0">
                <a:latin typeface="Arial MT"/>
                <a:cs typeface="Arial MT"/>
              </a:rPr>
              <a:t>error</a:t>
            </a:r>
            <a:r>
              <a:rPr sz="2400" spc="340" dirty="0">
                <a:latin typeface="Arial MT"/>
                <a:cs typeface="Arial MT"/>
              </a:rPr>
              <a:t> </a:t>
            </a:r>
            <a:r>
              <a:rPr sz="2400" spc="-25" dirty="0">
                <a:latin typeface="Arial MT"/>
                <a:cs typeface="Arial MT"/>
              </a:rPr>
              <a:t>and </a:t>
            </a:r>
            <a:r>
              <a:rPr sz="2400" dirty="0">
                <a:latin typeface="Arial MT"/>
                <a:cs typeface="Arial MT"/>
              </a:rPr>
              <a:t>promote</a:t>
            </a:r>
            <a:r>
              <a:rPr sz="2400" spc="-95" dirty="0">
                <a:latin typeface="Arial MT"/>
                <a:cs typeface="Arial MT"/>
              </a:rPr>
              <a:t> </a:t>
            </a:r>
            <a:r>
              <a:rPr sz="2400" spc="-10" dirty="0">
                <a:latin typeface="Arial MT"/>
                <a:cs typeface="Arial MT"/>
              </a:rPr>
              <a:t>safer,</a:t>
            </a:r>
            <a:r>
              <a:rPr sz="2400" spc="-110" dirty="0">
                <a:latin typeface="Arial MT"/>
                <a:cs typeface="Arial MT"/>
              </a:rPr>
              <a:t> </a:t>
            </a:r>
            <a:r>
              <a:rPr sz="2400" dirty="0">
                <a:latin typeface="Arial MT"/>
                <a:cs typeface="Arial MT"/>
              </a:rPr>
              <a:t>smarter</a:t>
            </a:r>
            <a:r>
              <a:rPr sz="2400" spc="-100" dirty="0">
                <a:latin typeface="Arial MT"/>
                <a:cs typeface="Arial MT"/>
              </a:rPr>
              <a:t> </a:t>
            </a:r>
            <a:r>
              <a:rPr sz="2400" dirty="0">
                <a:latin typeface="Arial MT"/>
                <a:cs typeface="Arial MT"/>
              </a:rPr>
              <a:t>transportation</a:t>
            </a:r>
            <a:r>
              <a:rPr sz="2400" spc="-90" dirty="0">
                <a:latin typeface="Arial MT"/>
                <a:cs typeface="Arial MT"/>
              </a:rPr>
              <a:t> </a:t>
            </a:r>
            <a:r>
              <a:rPr sz="2400" spc="-10" dirty="0">
                <a:latin typeface="Arial MT"/>
                <a:cs typeface="Arial MT"/>
              </a:rPr>
              <a:t>systems.</a:t>
            </a:r>
            <a:endParaRPr sz="2400">
              <a:latin typeface="Arial MT"/>
              <a:cs typeface="Arial M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927604" y="1010348"/>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613054" y="572770"/>
            <a:ext cx="10807065" cy="5226685"/>
          </a:xfrm>
          <a:prstGeom prst="rect">
            <a:avLst/>
          </a:prstGeom>
        </p:spPr>
        <p:txBody>
          <a:bodyPr vert="horz" wrap="square" lIns="0" tIns="12700" rIns="0" bIns="0" rtlCol="0">
            <a:spAutoFit/>
          </a:bodyPr>
          <a:lstStyle/>
          <a:p>
            <a:pPr marL="5570220">
              <a:lnSpc>
                <a:spcPct val="100000"/>
              </a:lnSpc>
              <a:spcBef>
                <a:spcPts val="100"/>
              </a:spcBef>
            </a:pPr>
            <a:r>
              <a:rPr sz="2400" dirty="0">
                <a:solidFill>
                  <a:srgbClr val="FF0000"/>
                </a:solidFill>
                <a:latin typeface="Trebuchet MS"/>
                <a:cs typeface="Trebuchet MS"/>
              </a:rPr>
              <a:t>Suggestions</a:t>
            </a:r>
            <a:r>
              <a:rPr sz="2400" spc="-50" dirty="0">
                <a:solidFill>
                  <a:srgbClr val="FF0000"/>
                </a:solidFill>
                <a:latin typeface="Trebuchet MS"/>
                <a:cs typeface="Trebuchet MS"/>
              </a:rPr>
              <a:t> </a:t>
            </a:r>
            <a:r>
              <a:rPr sz="2400" dirty="0">
                <a:solidFill>
                  <a:srgbClr val="FF0000"/>
                </a:solidFill>
                <a:latin typeface="Trebuchet MS"/>
                <a:cs typeface="Trebuchet MS"/>
              </a:rPr>
              <a:t>from</a:t>
            </a:r>
            <a:r>
              <a:rPr sz="2400" spc="-75" dirty="0">
                <a:solidFill>
                  <a:srgbClr val="FF0000"/>
                </a:solidFill>
                <a:latin typeface="Trebuchet MS"/>
                <a:cs typeface="Trebuchet MS"/>
              </a:rPr>
              <a:t> </a:t>
            </a:r>
            <a:r>
              <a:rPr sz="2400" spc="-10" dirty="0">
                <a:solidFill>
                  <a:srgbClr val="FF0000"/>
                </a:solidFill>
                <a:latin typeface="Trebuchet MS"/>
                <a:cs typeface="Trebuchet MS"/>
              </a:rPr>
              <a:t>Review</a:t>
            </a:r>
            <a:r>
              <a:rPr sz="2400" spc="-50" dirty="0">
                <a:solidFill>
                  <a:srgbClr val="FF0000"/>
                </a:solidFill>
                <a:latin typeface="Trebuchet MS"/>
                <a:cs typeface="Trebuchet MS"/>
              </a:rPr>
              <a:t> </a:t>
            </a:r>
            <a:r>
              <a:rPr sz="2400" dirty="0">
                <a:solidFill>
                  <a:srgbClr val="FF0000"/>
                </a:solidFill>
                <a:latin typeface="Trebuchet MS"/>
                <a:cs typeface="Trebuchet MS"/>
              </a:rPr>
              <a:t>-</a:t>
            </a:r>
            <a:r>
              <a:rPr sz="2400" spc="-70" dirty="0">
                <a:solidFill>
                  <a:srgbClr val="FF0000"/>
                </a:solidFill>
                <a:latin typeface="Trebuchet MS"/>
                <a:cs typeface="Trebuchet MS"/>
              </a:rPr>
              <a:t> </a:t>
            </a:r>
            <a:r>
              <a:rPr sz="2400" spc="-50" dirty="0">
                <a:solidFill>
                  <a:srgbClr val="FF0000"/>
                </a:solidFill>
                <a:latin typeface="Trebuchet MS"/>
                <a:cs typeface="Trebuchet MS"/>
              </a:rPr>
              <a:t>1</a:t>
            </a:r>
            <a:endParaRPr sz="2400">
              <a:latin typeface="Trebuchet MS"/>
              <a:cs typeface="Trebuchet MS"/>
            </a:endParaRPr>
          </a:p>
          <a:p>
            <a:pPr>
              <a:lnSpc>
                <a:spcPct val="100000"/>
              </a:lnSpc>
              <a:spcBef>
                <a:spcPts val="715"/>
              </a:spcBef>
            </a:pPr>
            <a:endParaRPr sz="2400">
              <a:latin typeface="Trebuchet MS"/>
              <a:cs typeface="Trebuchet MS"/>
            </a:endParaRPr>
          </a:p>
          <a:p>
            <a:pPr marL="12700">
              <a:lnSpc>
                <a:spcPct val="100000"/>
              </a:lnSpc>
            </a:pPr>
            <a:r>
              <a:rPr sz="2400" b="1" dirty="0">
                <a:latin typeface="Arial"/>
                <a:cs typeface="Arial"/>
              </a:rPr>
              <a:t>Key</a:t>
            </a:r>
            <a:r>
              <a:rPr sz="2400" b="1" spc="-35" dirty="0">
                <a:latin typeface="Arial"/>
                <a:cs typeface="Arial"/>
              </a:rPr>
              <a:t> </a:t>
            </a:r>
            <a:r>
              <a:rPr sz="2400" b="1" dirty="0">
                <a:latin typeface="Arial"/>
                <a:cs typeface="Arial"/>
              </a:rPr>
              <a:t>suggestions</a:t>
            </a:r>
            <a:r>
              <a:rPr sz="2400" b="1" spc="-55" dirty="0">
                <a:latin typeface="Arial"/>
                <a:cs typeface="Arial"/>
              </a:rPr>
              <a:t> </a:t>
            </a:r>
            <a:r>
              <a:rPr sz="2400" b="1" dirty="0">
                <a:latin typeface="Arial"/>
                <a:cs typeface="Arial"/>
              </a:rPr>
              <a:t>and</a:t>
            </a:r>
            <a:r>
              <a:rPr sz="2400" b="1" spc="-45" dirty="0">
                <a:latin typeface="Arial"/>
                <a:cs typeface="Arial"/>
              </a:rPr>
              <a:t> </a:t>
            </a:r>
            <a:r>
              <a:rPr sz="2400" b="1" dirty="0">
                <a:latin typeface="Arial"/>
                <a:cs typeface="Arial"/>
              </a:rPr>
              <a:t>remarks</a:t>
            </a:r>
            <a:r>
              <a:rPr sz="2400" b="1" spc="-25" dirty="0">
                <a:latin typeface="Arial"/>
                <a:cs typeface="Arial"/>
              </a:rPr>
              <a:t> </a:t>
            </a:r>
            <a:r>
              <a:rPr sz="2400" b="1" dirty="0">
                <a:latin typeface="Arial"/>
                <a:cs typeface="Arial"/>
              </a:rPr>
              <a:t>by</a:t>
            </a:r>
            <a:r>
              <a:rPr sz="2400" b="1" spc="-45" dirty="0">
                <a:latin typeface="Arial"/>
                <a:cs typeface="Arial"/>
              </a:rPr>
              <a:t> </a:t>
            </a:r>
            <a:r>
              <a:rPr sz="2400" b="1" dirty="0">
                <a:latin typeface="Arial"/>
                <a:cs typeface="Arial"/>
              </a:rPr>
              <a:t>the</a:t>
            </a:r>
            <a:r>
              <a:rPr sz="2400" b="1" spc="-55" dirty="0">
                <a:latin typeface="Arial"/>
                <a:cs typeface="Arial"/>
              </a:rPr>
              <a:t> </a:t>
            </a:r>
            <a:r>
              <a:rPr sz="2400" b="1" dirty="0">
                <a:latin typeface="Arial"/>
                <a:cs typeface="Arial"/>
              </a:rPr>
              <a:t>panel</a:t>
            </a:r>
            <a:r>
              <a:rPr sz="2400" b="1" spc="-45" dirty="0">
                <a:latin typeface="Arial"/>
                <a:cs typeface="Arial"/>
              </a:rPr>
              <a:t> </a:t>
            </a:r>
            <a:r>
              <a:rPr sz="2400" b="1" spc="-10" dirty="0">
                <a:latin typeface="Arial"/>
                <a:cs typeface="Arial"/>
              </a:rPr>
              <a:t>members:</a:t>
            </a:r>
            <a:endParaRPr sz="2400">
              <a:latin typeface="Arial"/>
              <a:cs typeface="Arial"/>
            </a:endParaRPr>
          </a:p>
          <a:p>
            <a:pPr>
              <a:lnSpc>
                <a:spcPct val="100000"/>
              </a:lnSpc>
              <a:spcBef>
                <a:spcPts val="1275"/>
              </a:spcBef>
            </a:pPr>
            <a:endParaRPr sz="2400">
              <a:latin typeface="Arial"/>
              <a:cs typeface="Arial"/>
            </a:endParaRPr>
          </a:p>
          <a:p>
            <a:pPr marL="353060" marR="5715" indent="-340360" algn="just">
              <a:lnSpc>
                <a:spcPct val="100000"/>
              </a:lnSpc>
              <a:buChar char="•"/>
              <a:tabLst>
                <a:tab pos="355600" algn="l"/>
              </a:tabLst>
            </a:pPr>
            <a:r>
              <a:rPr sz="2400" dirty="0">
                <a:latin typeface="Arial MT"/>
                <a:cs typeface="Arial MT"/>
              </a:rPr>
              <a:t>The</a:t>
            </a:r>
            <a:r>
              <a:rPr sz="2400" spc="135" dirty="0">
                <a:latin typeface="Arial MT"/>
                <a:cs typeface="Arial MT"/>
              </a:rPr>
              <a:t> </a:t>
            </a:r>
            <a:r>
              <a:rPr sz="2400" dirty="0">
                <a:latin typeface="Arial MT"/>
                <a:cs typeface="Arial MT"/>
              </a:rPr>
              <a:t>panel</a:t>
            </a:r>
            <a:r>
              <a:rPr sz="2400" spc="130" dirty="0">
                <a:latin typeface="Arial MT"/>
                <a:cs typeface="Arial MT"/>
              </a:rPr>
              <a:t> </a:t>
            </a:r>
            <a:r>
              <a:rPr sz="2400" dirty="0">
                <a:latin typeface="Arial MT"/>
                <a:cs typeface="Arial MT"/>
              </a:rPr>
              <a:t>advised</a:t>
            </a:r>
            <a:r>
              <a:rPr sz="2400" spc="140" dirty="0">
                <a:latin typeface="Arial MT"/>
                <a:cs typeface="Arial MT"/>
              </a:rPr>
              <a:t> </a:t>
            </a:r>
            <a:r>
              <a:rPr sz="2400" dirty="0">
                <a:latin typeface="Arial MT"/>
                <a:cs typeface="Arial MT"/>
              </a:rPr>
              <a:t>us</a:t>
            </a:r>
            <a:r>
              <a:rPr sz="2400" spc="125" dirty="0">
                <a:latin typeface="Arial MT"/>
                <a:cs typeface="Arial MT"/>
              </a:rPr>
              <a:t> </a:t>
            </a:r>
            <a:r>
              <a:rPr sz="2400" dirty="0">
                <a:latin typeface="Arial MT"/>
                <a:cs typeface="Arial MT"/>
              </a:rPr>
              <a:t>to</a:t>
            </a:r>
            <a:r>
              <a:rPr sz="2400" spc="135" dirty="0">
                <a:latin typeface="Arial MT"/>
                <a:cs typeface="Arial MT"/>
              </a:rPr>
              <a:t> </a:t>
            </a:r>
            <a:r>
              <a:rPr sz="2400" b="1" dirty="0">
                <a:latin typeface="Arial"/>
                <a:cs typeface="Arial"/>
              </a:rPr>
              <a:t>find</a:t>
            </a:r>
            <a:r>
              <a:rPr sz="2400" b="1" spc="120" dirty="0">
                <a:latin typeface="Arial"/>
                <a:cs typeface="Arial"/>
              </a:rPr>
              <a:t> </a:t>
            </a:r>
            <a:r>
              <a:rPr sz="2400" b="1" dirty="0">
                <a:latin typeface="Arial"/>
                <a:cs typeface="Arial"/>
              </a:rPr>
              <a:t>a</a:t>
            </a:r>
            <a:r>
              <a:rPr sz="2400" b="1" spc="114" dirty="0">
                <a:latin typeface="Arial"/>
                <a:cs typeface="Arial"/>
              </a:rPr>
              <a:t> </a:t>
            </a:r>
            <a:r>
              <a:rPr sz="2400" b="1" dirty="0">
                <a:latin typeface="Arial"/>
                <a:cs typeface="Arial"/>
              </a:rPr>
              <a:t>suitable</a:t>
            </a:r>
            <a:r>
              <a:rPr sz="2400" b="1" spc="135" dirty="0">
                <a:latin typeface="Arial"/>
                <a:cs typeface="Arial"/>
              </a:rPr>
              <a:t> </a:t>
            </a:r>
            <a:r>
              <a:rPr sz="2400" b="1" dirty="0">
                <a:latin typeface="Arial"/>
                <a:cs typeface="Arial"/>
              </a:rPr>
              <a:t>dataset</a:t>
            </a:r>
            <a:r>
              <a:rPr sz="2400" b="1" spc="135" dirty="0">
                <a:latin typeface="Arial"/>
                <a:cs typeface="Arial"/>
              </a:rPr>
              <a:t> </a:t>
            </a:r>
            <a:r>
              <a:rPr sz="2400" dirty="0">
                <a:latin typeface="Arial MT"/>
                <a:cs typeface="Arial MT"/>
              </a:rPr>
              <a:t>related</a:t>
            </a:r>
            <a:r>
              <a:rPr sz="2400" spc="135" dirty="0">
                <a:latin typeface="Arial MT"/>
                <a:cs typeface="Arial MT"/>
              </a:rPr>
              <a:t> </a:t>
            </a:r>
            <a:r>
              <a:rPr sz="2400" dirty="0">
                <a:latin typeface="Arial MT"/>
                <a:cs typeface="Arial MT"/>
              </a:rPr>
              <a:t>to</a:t>
            </a:r>
            <a:r>
              <a:rPr sz="2400" spc="135" dirty="0">
                <a:latin typeface="Arial MT"/>
                <a:cs typeface="Arial MT"/>
              </a:rPr>
              <a:t> </a:t>
            </a:r>
            <a:r>
              <a:rPr sz="2400" b="1" dirty="0">
                <a:latin typeface="Arial"/>
                <a:cs typeface="Arial"/>
              </a:rPr>
              <a:t>driver</a:t>
            </a:r>
            <a:r>
              <a:rPr sz="2400" b="1" spc="140" dirty="0">
                <a:latin typeface="Arial"/>
                <a:cs typeface="Arial"/>
              </a:rPr>
              <a:t> </a:t>
            </a:r>
            <a:r>
              <a:rPr sz="2400" b="1" spc="-10" dirty="0">
                <a:latin typeface="Arial"/>
                <a:cs typeface="Arial"/>
              </a:rPr>
              <a:t>behavior 	</a:t>
            </a:r>
            <a:r>
              <a:rPr sz="2400" b="1" dirty="0">
                <a:latin typeface="Arial"/>
                <a:cs typeface="Arial"/>
              </a:rPr>
              <a:t>anomalies</a:t>
            </a:r>
            <a:r>
              <a:rPr sz="2400" b="1" spc="-65" dirty="0">
                <a:latin typeface="Arial"/>
                <a:cs typeface="Arial"/>
              </a:rPr>
              <a:t> </a:t>
            </a:r>
            <a:r>
              <a:rPr sz="2400" dirty="0">
                <a:latin typeface="Arial MT"/>
                <a:cs typeface="Arial MT"/>
              </a:rPr>
              <a:t>for</a:t>
            </a:r>
            <a:r>
              <a:rPr sz="2400" spc="-50" dirty="0">
                <a:latin typeface="Arial MT"/>
                <a:cs typeface="Arial MT"/>
              </a:rPr>
              <a:t> </a:t>
            </a:r>
            <a:r>
              <a:rPr sz="2400" dirty="0">
                <a:latin typeface="Arial MT"/>
                <a:cs typeface="Arial MT"/>
              </a:rPr>
              <a:t>effective</a:t>
            </a:r>
            <a:r>
              <a:rPr sz="2400" spc="-65" dirty="0">
                <a:latin typeface="Arial MT"/>
                <a:cs typeface="Arial MT"/>
              </a:rPr>
              <a:t> </a:t>
            </a:r>
            <a:r>
              <a:rPr sz="2400" dirty="0">
                <a:latin typeface="Arial MT"/>
                <a:cs typeface="Arial MT"/>
              </a:rPr>
              <a:t>model</a:t>
            </a:r>
            <a:r>
              <a:rPr sz="2400" spc="-45" dirty="0">
                <a:latin typeface="Arial MT"/>
                <a:cs typeface="Arial MT"/>
              </a:rPr>
              <a:t> </a:t>
            </a:r>
            <a:r>
              <a:rPr sz="2400" spc="-10" dirty="0">
                <a:latin typeface="Arial MT"/>
                <a:cs typeface="Arial MT"/>
              </a:rPr>
              <a:t>training.</a:t>
            </a:r>
            <a:endParaRPr sz="2400">
              <a:latin typeface="Arial MT"/>
              <a:cs typeface="Arial MT"/>
            </a:endParaRPr>
          </a:p>
          <a:p>
            <a:pPr marL="353060" marR="6350" indent="-340360" algn="just">
              <a:lnSpc>
                <a:spcPct val="100000"/>
              </a:lnSpc>
              <a:spcBef>
                <a:spcPts val="575"/>
              </a:spcBef>
              <a:buChar char="•"/>
              <a:tabLst>
                <a:tab pos="355600" algn="l"/>
              </a:tabLst>
            </a:pPr>
            <a:r>
              <a:rPr sz="2400" dirty="0">
                <a:latin typeface="Arial MT"/>
                <a:cs typeface="Arial MT"/>
              </a:rPr>
              <a:t>They</a:t>
            </a:r>
            <a:r>
              <a:rPr sz="2400" spc="135" dirty="0">
                <a:latin typeface="Arial MT"/>
                <a:cs typeface="Arial MT"/>
              </a:rPr>
              <a:t> </a:t>
            </a:r>
            <a:r>
              <a:rPr sz="2400" dirty="0">
                <a:latin typeface="Arial MT"/>
                <a:cs typeface="Arial MT"/>
              </a:rPr>
              <a:t>suggested</a:t>
            </a:r>
            <a:r>
              <a:rPr sz="2400" spc="135" dirty="0">
                <a:latin typeface="Arial MT"/>
                <a:cs typeface="Arial MT"/>
              </a:rPr>
              <a:t> </a:t>
            </a:r>
            <a:r>
              <a:rPr sz="2400" dirty="0">
                <a:latin typeface="Arial MT"/>
                <a:cs typeface="Arial MT"/>
              </a:rPr>
              <a:t>adopting</a:t>
            </a:r>
            <a:r>
              <a:rPr sz="2400" spc="140" dirty="0">
                <a:latin typeface="Arial MT"/>
                <a:cs typeface="Arial MT"/>
              </a:rPr>
              <a:t> </a:t>
            </a:r>
            <a:r>
              <a:rPr sz="2400" dirty="0">
                <a:latin typeface="Arial MT"/>
                <a:cs typeface="Arial MT"/>
              </a:rPr>
              <a:t>a</a:t>
            </a:r>
            <a:r>
              <a:rPr sz="2400" spc="130" dirty="0">
                <a:latin typeface="Arial MT"/>
                <a:cs typeface="Arial MT"/>
              </a:rPr>
              <a:t> </a:t>
            </a:r>
            <a:r>
              <a:rPr sz="2400" b="1" dirty="0">
                <a:latin typeface="Arial"/>
                <a:cs typeface="Arial"/>
              </a:rPr>
              <a:t>deep</a:t>
            </a:r>
            <a:r>
              <a:rPr sz="2400" b="1" spc="130" dirty="0">
                <a:latin typeface="Arial"/>
                <a:cs typeface="Arial"/>
              </a:rPr>
              <a:t> </a:t>
            </a:r>
            <a:r>
              <a:rPr sz="2400" b="1" dirty="0">
                <a:latin typeface="Arial"/>
                <a:cs typeface="Arial"/>
              </a:rPr>
              <a:t>learning</a:t>
            </a:r>
            <a:r>
              <a:rPr sz="2400" b="1" spc="130" dirty="0">
                <a:latin typeface="Arial"/>
                <a:cs typeface="Arial"/>
              </a:rPr>
              <a:t> </a:t>
            </a:r>
            <a:r>
              <a:rPr sz="2400" b="1" dirty="0">
                <a:latin typeface="Arial"/>
                <a:cs typeface="Arial"/>
              </a:rPr>
              <a:t>approach</a:t>
            </a:r>
            <a:r>
              <a:rPr sz="2400" b="1" spc="120" dirty="0">
                <a:latin typeface="Arial"/>
                <a:cs typeface="Arial"/>
              </a:rPr>
              <a:t> </a:t>
            </a:r>
            <a:r>
              <a:rPr sz="2400" dirty="0">
                <a:latin typeface="Arial MT"/>
                <a:cs typeface="Arial MT"/>
              </a:rPr>
              <a:t>for</a:t>
            </a:r>
            <a:r>
              <a:rPr sz="2400" spc="145" dirty="0">
                <a:latin typeface="Arial MT"/>
                <a:cs typeface="Arial MT"/>
              </a:rPr>
              <a:t> </a:t>
            </a:r>
            <a:r>
              <a:rPr sz="2400" dirty="0">
                <a:latin typeface="Arial MT"/>
                <a:cs typeface="Arial MT"/>
              </a:rPr>
              <a:t>accurate</a:t>
            </a:r>
            <a:r>
              <a:rPr sz="2400" spc="140" dirty="0">
                <a:latin typeface="Arial MT"/>
                <a:cs typeface="Arial MT"/>
              </a:rPr>
              <a:t> </a:t>
            </a:r>
            <a:r>
              <a:rPr sz="2400" spc="-10" dirty="0">
                <a:latin typeface="Arial MT"/>
                <a:cs typeface="Arial MT"/>
              </a:rPr>
              <a:t>detection 	</a:t>
            </a:r>
            <a:r>
              <a:rPr sz="2400" dirty="0">
                <a:latin typeface="Arial MT"/>
                <a:cs typeface="Arial MT"/>
              </a:rPr>
              <a:t>of</a:t>
            </a:r>
            <a:r>
              <a:rPr sz="2400" spc="-85" dirty="0">
                <a:latin typeface="Arial MT"/>
                <a:cs typeface="Arial MT"/>
              </a:rPr>
              <a:t> </a:t>
            </a:r>
            <a:r>
              <a:rPr sz="2400" dirty="0">
                <a:latin typeface="Arial MT"/>
                <a:cs typeface="Arial MT"/>
              </a:rPr>
              <a:t>abnormal</a:t>
            </a:r>
            <a:r>
              <a:rPr sz="2400" spc="-55" dirty="0">
                <a:latin typeface="Arial MT"/>
                <a:cs typeface="Arial MT"/>
              </a:rPr>
              <a:t> </a:t>
            </a:r>
            <a:r>
              <a:rPr sz="2400" dirty="0">
                <a:latin typeface="Arial MT"/>
                <a:cs typeface="Arial MT"/>
              </a:rPr>
              <a:t>driver</a:t>
            </a:r>
            <a:r>
              <a:rPr sz="2400" spc="-70" dirty="0">
                <a:latin typeface="Arial MT"/>
                <a:cs typeface="Arial MT"/>
              </a:rPr>
              <a:t> </a:t>
            </a:r>
            <a:r>
              <a:rPr sz="2400" spc="-10" dirty="0">
                <a:latin typeface="Arial MT"/>
                <a:cs typeface="Arial MT"/>
              </a:rPr>
              <a:t>behaviors.</a:t>
            </a:r>
            <a:endParaRPr sz="2400">
              <a:latin typeface="Arial MT"/>
              <a:cs typeface="Arial MT"/>
            </a:endParaRPr>
          </a:p>
          <a:p>
            <a:pPr marL="353060" marR="5080" indent="-340360" algn="just">
              <a:lnSpc>
                <a:spcPct val="100000"/>
              </a:lnSpc>
              <a:spcBef>
                <a:spcPts val="580"/>
              </a:spcBef>
              <a:buChar char="•"/>
              <a:tabLst>
                <a:tab pos="355600" algn="l"/>
              </a:tabLst>
            </a:pPr>
            <a:r>
              <a:rPr sz="2400" dirty="0">
                <a:latin typeface="Arial MT"/>
                <a:cs typeface="Arial MT"/>
              </a:rPr>
              <a:t>The</a:t>
            </a:r>
            <a:r>
              <a:rPr sz="2400" spc="-50" dirty="0">
                <a:latin typeface="Arial MT"/>
                <a:cs typeface="Arial MT"/>
              </a:rPr>
              <a:t> </a:t>
            </a:r>
            <a:r>
              <a:rPr sz="2400" dirty="0">
                <a:latin typeface="Arial MT"/>
                <a:cs typeface="Arial MT"/>
              </a:rPr>
              <a:t>members</a:t>
            </a:r>
            <a:r>
              <a:rPr sz="2400" spc="-55" dirty="0">
                <a:latin typeface="Arial MT"/>
                <a:cs typeface="Arial MT"/>
              </a:rPr>
              <a:t> </a:t>
            </a:r>
            <a:r>
              <a:rPr sz="2400" dirty="0">
                <a:latin typeface="Arial MT"/>
                <a:cs typeface="Arial MT"/>
              </a:rPr>
              <a:t>recommended</a:t>
            </a:r>
            <a:r>
              <a:rPr sz="2400" spc="-45" dirty="0">
                <a:latin typeface="Arial MT"/>
                <a:cs typeface="Arial MT"/>
              </a:rPr>
              <a:t> </a:t>
            </a:r>
            <a:r>
              <a:rPr sz="2400" dirty="0">
                <a:latin typeface="Arial MT"/>
                <a:cs typeface="Arial MT"/>
              </a:rPr>
              <a:t>exploring</a:t>
            </a:r>
            <a:r>
              <a:rPr sz="2400" spc="-45" dirty="0">
                <a:latin typeface="Arial MT"/>
                <a:cs typeface="Arial MT"/>
              </a:rPr>
              <a:t> </a:t>
            </a:r>
            <a:r>
              <a:rPr sz="2400" b="1" dirty="0">
                <a:latin typeface="Arial"/>
                <a:cs typeface="Arial"/>
              </a:rPr>
              <a:t>deep</a:t>
            </a:r>
            <a:r>
              <a:rPr sz="2400" b="1" spc="-65" dirty="0">
                <a:latin typeface="Arial"/>
                <a:cs typeface="Arial"/>
              </a:rPr>
              <a:t> </a:t>
            </a:r>
            <a:r>
              <a:rPr sz="2400" b="1" dirty="0">
                <a:latin typeface="Arial"/>
                <a:cs typeface="Arial"/>
              </a:rPr>
              <a:t>learning</a:t>
            </a:r>
            <a:r>
              <a:rPr sz="2400" b="1" spc="-60" dirty="0">
                <a:latin typeface="Arial"/>
                <a:cs typeface="Arial"/>
              </a:rPr>
              <a:t> </a:t>
            </a:r>
            <a:r>
              <a:rPr sz="2400" b="1" dirty="0">
                <a:latin typeface="Arial"/>
                <a:cs typeface="Arial"/>
              </a:rPr>
              <a:t>models</a:t>
            </a:r>
            <a:r>
              <a:rPr sz="2400" b="1" spc="-50" dirty="0">
                <a:latin typeface="Arial"/>
                <a:cs typeface="Arial"/>
              </a:rPr>
              <a:t> </a:t>
            </a:r>
            <a:r>
              <a:rPr sz="2400" dirty="0">
                <a:latin typeface="Arial MT"/>
                <a:cs typeface="Arial MT"/>
              </a:rPr>
              <a:t>such</a:t>
            </a:r>
            <a:r>
              <a:rPr sz="2400" spc="-50" dirty="0">
                <a:latin typeface="Arial MT"/>
                <a:cs typeface="Arial MT"/>
              </a:rPr>
              <a:t> </a:t>
            </a:r>
            <a:r>
              <a:rPr sz="2400" dirty="0">
                <a:latin typeface="Arial MT"/>
                <a:cs typeface="Arial MT"/>
              </a:rPr>
              <a:t>as</a:t>
            </a:r>
            <a:r>
              <a:rPr sz="2400" spc="-50" dirty="0">
                <a:latin typeface="Arial MT"/>
                <a:cs typeface="Arial MT"/>
              </a:rPr>
              <a:t> </a:t>
            </a:r>
            <a:r>
              <a:rPr sz="2400" b="1" spc="-20" dirty="0">
                <a:latin typeface="Arial"/>
                <a:cs typeface="Arial"/>
              </a:rPr>
              <a:t>CNN, 	</a:t>
            </a:r>
            <a:r>
              <a:rPr sz="2400" b="1" dirty="0">
                <a:latin typeface="Arial"/>
                <a:cs typeface="Arial"/>
              </a:rPr>
              <a:t>Autoencoders,</a:t>
            </a:r>
            <a:r>
              <a:rPr sz="2400" b="1" spc="-50" dirty="0">
                <a:latin typeface="Arial"/>
                <a:cs typeface="Arial"/>
              </a:rPr>
              <a:t> </a:t>
            </a:r>
            <a:r>
              <a:rPr sz="2400" b="1" dirty="0">
                <a:latin typeface="Arial"/>
                <a:cs typeface="Arial"/>
              </a:rPr>
              <a:t>LSTM,</a:t>
            </a:r>
            <a:r>
              <a:rPr sz="2400" b="1" spc="-55" dirty="0">
                <a:latin typeface="Arial"/>
                <a:cs typeface="Arial"/>
              </a:rPr>
              <a:t> </a:t>
            </a:r>
            <a:r>
              <a:rPr sz="2400" b="1" dirty="0">
                <a:latin typeface="Arial"/>
                <a:cs typeface="Arial"/>
              </a:rPr>
              <a:t>and</a:t>
            </a:r>
            <a:r>
              <a:rPr sz="2400" b="1" spc="-130" dirty="0">
                <a:latin typeface="Arial"/>
                <a:cs typeface="Arial"/>
              </a:rPr>
              <a:t> </a:t>
            </a:r>
            <a:r>
              <a:rPr sz="2400" b="1" spc="-25" dirty="0">
                <a:latin typeface="Arial"/>
                <a:cs typeface="Arial"/>
              </a:rPr>
              <a:t>ADA</a:t>
            </a:r>
            <a:endParaRPr sz="2400">
              <a:latin typeface="Arial"/>
              <a:cs typeface="Arial"/>
            </a:endParaRPr>
          </a:p>
          <a:p>
            <a:pPr marL="353060" marR="6985" indent="-340360" algn="just">
              <a:lnSpc>
                <a:spcPct val="100000"/>
              </a:lnSpc>
              <a:spcBef>
                <a:spcPts val="575"/>
              </a:spcBef>
              <a:buChar char="•"/>
              <a:tabLst>
                <a:tab pos="355600" algn="l"/>
              </a:tabLst>
            </a:pPr>
            <a:r>
              <a:rPr sz="2400" dirty="0">
                <a:latin typeface="Arial MT"/>
                <a:cs typeface="Arial MT"/>
              </a:rPr>
              <a:t>itially,</a:t>
            </a:r>
            <a:r>
              <a:rPr sz="2400" spc="155" dirty="0">
                <a:latin typeface="Arial MT"/>
                <a:cs typeface="Arial MT"/>
              </a:rPr>
              <a:t> </a:t>
            </a:r>
            <a:r>
              <a:rPr sz="2400" dirty="0">
                <a:latin typeface="Arial MT"/>
                <a:cs typeface="Arial MT"/>
              </a:rPr>
              <a:t>we</a:t>
            </a:r>
            <a:r>
              <a:rPr sz="2400" spc="150" dirty="0">
                <a:latin typeface="Arial MT"/>
                <a:cs typeface="Arial MT"/>
              </a:rPr>
              <a:t> </a:t>
            </a:r>
            <a:r>
              <a:rPr sz="2400" dirty="0">
                <a:latin typeface="Arial MT"/>
                <a:cs typeface="Arial MT"/>
              </a:rPr>
              <a:t>planned</a:t>
            </a:r>
            <a:r>
              <a:rPr sz="2400" spc="150" dirty="0">
                <a:latin typeface="Arial MT"/>
                <a:cs typeface="Arial MT"/>
              </a:rPr>
              <a:t> </a:t>
            </a:r>
            <a:r>
              <a:rPr sz="2400" dirty="0">
                <a:latin typeface="Arial MT"/>
                <a:cs typeface="Arial MT"/>
              </a:rPr>
              <a:t>to</a:t>
            </a:r>
            <a:r>
              <a:rPr sz="2400" spc="150" dirty="0">
                <a:latin typeface="Arial MT"/>
                <a:cs typeface="Arial MT"/>
              </a:rPr>
              <a:t> </a:t>
            </a:r>
            <a:r>
              <a:rPr sz="2400" dirty="0">
                <a:latin typeface="Arial MT"/>
                <a:cs typeface="Arial MT"/>
              </a:rPr>
              <a:t>use</a:t>
            </a:r>
            <a:r>
              <a:rPr sz="2400" spc="150" dirty="0">
                <a:latin typeface="Arial MT"/>
                <a:cs typeface="Arial MT"/>
              </a:rPr>
              <a:t> </a:t>
            </a:r>
            <a:r>
              <a:rPr sz="2400" b="1" dirty="0">
                <a:latin typeface="Arial"/>
                <a:cs typeface="Arial"/>
              </a:rPr>
              <a:t>V2V/V2I</a:t>
            </a:r>
            <a:r>
              <a:rPr sz="2400" b="1" spc="155" dirty="0">
                <a:latin typeface="Arial"/>
                <a:cs typeface="Arial"/>
              </a:rPr>
              <a:t> </a:t>
            </a:r>
            <a:r>
              <a:rPr sz="2400" b="1" dirty="0">
                <a:latin typeface="Arial"/>
                <a:cs typeface="Arial"/>
              </a:rPr>
              <a:t>communication</a:t>
            </a:r>
            <a:r>
              <a:rPr sz="2400" b="1" spc="125" dirty="0">
                <a:latin typeface="Arial"/>
                <a:cs typeface="Arial"/>
              </a:rPr>
              <a:t> </a:t>
            </a:r>
            <a:r>
              <a:rPr sz="2400" dirty="0">
                <a:latin typeface="Arial MT"/>
                <a:cs typeface="Arial MT"/>
              </a:rPr>
              <a:t>to</a:t>
            </a:r>
            <a:r>
              <a:rPr sz="2400" spc="150" dirty="0">
                <a:latin typeface="Arial MT"/>
                <a:cs typeface="Arial MT"/>
              </a:rPr>
              <a:t> </a:t>
            </a:r>
            <a:r>
              <a:rPr sz="2400" dirty="0">
                <a:latin typeface="Arial MT"/>
                <a:cs typeface="Arial MT"/>
              </a:rPr>
              <a:t>alert</a:t>
            </a:r>
            <a:r>
              <a:rPr sz="2400" spc="160" dirty="0">
                <a:latin typeface="Arial MT"/>
                <a:cs typeface="Arial MT"/>
              </a:rPr>
              <a:t> </a:t>
            </a:r>
            <a:r>
              <a:rPr sz="2400" dirty="0">
                <a:latin typeface="Arial MT"/>
                <a:cs typeface="Arial MT"/>
              </a:rPr>
              <a:t>traffic</a:t>
            </a:r>
            <a:r>
              <a:rPr sz="2400" spc="155" dirty="0">
                <a:latin typeface="Arial MT"/>
                <a:cs typeface="Arial MT"/>
              </a:rPr>
              <a:t> </a:t>
            </a:r>
            <a:r>
              <a:rPr sz="2400" spc="-10" dirty="0">
                <a:latin typeface="Arial MT"/>
                <a:cs typeface="Arial MT"/>
              </a:rPr>
              <a:t>authorities 	</a:t>
            </a:r>
            <a:r>
              <a:rPr sz="2400" dirty="0">
                <a:latin typeface="Arial MT"/>
                <a:cs typeface="Arial MT"/>
              </a:rPr>
              <a:t>during</a:t>
            </a:r>
            <a:r>
              <a:rPr sz="2400" spc="395" dirty="0">
                <a:latin typeface="Arial MT"/>
                <a:cs typeface="Arial MT"/>
              </a:rPr>
              <a:t> </a:t>
            </a:r>
            <a:r>
              <a:rPr sz="2400" dirty="0">
                <a:latin typeface="Arial MT"/>
                <a:cs typeface="Arial MT"/>
              </a:rPr>
              <a:t>anomalies,</a:t>
            </a:r>
            <a:r>
              <a:rPr sz="2400" spc="400" dirty="0">
                <a:latin typeface="Arial MT"/>
                <a:cs typeface="Arial MT"/>
              </a:rPr>
              <a:t> </a:t>
            </a:r>
            <a:r>
              <a:rPr sz="2400" dirty="0">
                <a:latin typeface="Arial MT"/>
                <a:cs typeface="Arial MT"/>
              </a:rPr>
              <a:t>but</a:t>
            </a:r>
            <a:r>
              <a:rPr sz="2400" spc="375" dirty="0">
                <a:latin typeface="Arial MT"/>
                <a:cs typeface="Arial MT"/>
              </a:rPr>
              <a:t> </a:t>
            </a:r>
            <a:r>
              <a:rPr sz="2400" dirty="0">
                <a:latin typeface="Arial MT"/>
                <a:cs typeface="Arial MT"/>
              </a:rPr>
              <a:t>the</a:t>
            </a:r>
            <a:r>
              <a:rPr sz="2400" spc="400" dirty="0">
                <a:latin typeface="Arial MT"/>
                <a:cs typeface="Arial MT"/>
              </a:rPr>
              <a:t> </a:t>
            </a:r>
            <a:r>
              <a:rPr sz="2400" dirty="0">
                <a:latin typeface="Arial MT"/>
                <a:cs typeface="Arial MT"/>
              </a:rPr>
              <a:t>panel</a:t>
            </a:r>
            <a:r>
              <a:rPr sz="2400" spc="400" dirty="0">
                <a:latin typeface="Arial MT"/>
                <a:cs typeface="Arial MT"/>
              </a:rPr>
              <a:t> </a:t>
            </a:r>
            <a:r>
              <a:rPr sz="2400" dirty="0">
                <a:latin typeface="Arial MT"/>
                <a:cs typeface="Arial MT"/>
              </a:rPr>
              <a:t>advised</a:t>
            </a:r>
            <a:r>
              <a:rPr sz="2400" spc="395" dirty="0">
                <a:latin typeface="Arial MT"/>
                <a:cs typeface="Arial MT"/>
              </a:rPr>
              <a:t> </a:t>
            </a:r>
            <a:r>
              <a:rPr sz="2400" dirty="0">
                <a:latin typeface="Arial MT"/>
                <a:cs typeface="Arial MT"/>
              </a:rPr>
              <a:t>it’s</a:t>
            </a:r>
            <a:r>
              <a:rPr sz="2400" spc="400" dirty="0">
                <a:latin typeface="Arial MT"/>
                <a:cs typeface="Arial MT"/>
              </a:rPr>
              <a:t> </a:t>
            </a:r>
            <a:r>
              <a:rPr sz="2400" b="1" dirty="0">
                <a:latin typeface="Arial"/>
                <a:cs typeface="Arial"/>
              </a:rPr>
              <a:t>not</a:t>
            </a:r>
            <a:r>
              <a:rPr sz="2400" b="1" spc="385" dirty="0">
                <a:latin typeface="Arial"/>
                <a:cs typeface="Arial"/>
              </a:rPr>
              <a:t> </a:t>
            </a:r>
            <a:r>
              <a:rPr sz="2400" b="1" dirty="0">
                <a:latin typeface="Arial"/>
                <a:cs typeface="Arial"/>
              </a:rPr>
              <a:t>feasible</a:t>
            </a:r>
            <a:r>
              <a:rPr sz="2400" b="1" spc="390" dirty="0">
                <a:latin typeface="Arial"/>
                <a:cs typeface="Arial"/>
              </a:rPr>
              <a:t> </a:t>
            </a:r>
            <a:r>
              <a:rPr sz="2400" b="1" dirty="0">
                <a:latin typeface="Arial"/>
                <a:cs typeface="Arial"/>
              </a:rPr>
              <a:t>for</a:t>
            </a:r>
            <a:r>
              <a:rPr sz="2400" b="1" spc="395" dirty="0">
                <a:latin typeface="Arial"/>
                <a:cs typeface="Arial"/>
              </a:rPr>
              <a:t> </a:t>
            </a:r>
            <a:r>
              <a:rPr sz="2400" b="1" dirty="0">
                <a:latin typeface="Arial"/>
                <a:cs typeface="Arial"/>
              </a:rPr>
              <a:t>the</a:t>
            </a:r>
            <a:r>
              <a:rPr sz="2400" b="1" spc="390" dirty="0">
                <a:latin typeface="Arial"/>
                <a:cs typeface="Arial"/>
              </a:rPr>
              <a:t> </a:t>
            </a:r>
            <a:r>
              <a:rPr sz="2400" b="1" spc="-10" dirty="0">
                <a:latin typeface="Arial"/>
                <a:cs typeface="Arial"/>
              </a:rPr>
              <a:t>current 	scope</a:t>
            </a:r>
            <a:endParaRPr sz="2400">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927604" y="1010348"/>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613054" y="1383538"/>
            <a:ext cx="10808335" cy="4415790"/>
          </a:xfrm>
          <a:prstGeom prst="rect">
            <a:avLst/>
          </a:prstGeom>
        </p:spPr>
        <p:txBody>
          <a:bodyPr vert="horz" wrap="square" lIns="0" tIns="12700" rIns="0" bIns="0" rtlCol="0">
            <a:spAutoFit/>
          </a:bodyPr>
          <a:lstStyle/>
          <a:p>
            <a:pPr marL="12700">
              <a:lnSpc>
                <a:spcPct val="100000"/>
              </a:lnSpc>
              <a:spcBef>
                <a:spcPts val="100"/>
              </a:spcBef>
            </a:pPr>
            <a:r>
              <a:rPr sz="2400" b="1" spc="-10" dirty="0">
                <a:latin typeface="Arial"/>
                <a:cs typeface="Arial"/>
              </a:rPr>
              <a:t>Implementation:</a:t>
            </a:r>
            <a:endParaRPr sz="2400">
              <a:latin typeface="Arial"/>
              <a:cs typeface="Arial"/>
            </a:endParaRPr>
          </a:p>
          <a:p>
            <a:pPr>
              <a:lnSpc>
                <a:spcPct val="100000"/>
              </a:lnSpc>
              <a:spcBef>
                <a:spcPts val="1275"/>
              </a:spcBef>
            </a:pPr>
            <a:endParaRPr sz="2400">
              <a:latin typeface="Arial"/>
              <a:cs typeface="Arial"/>
            </a:endParaRPr>
          </a:p>
          <a:p>
            <a:pPr marL="354965" indent="-342265">
              <a:lnSpc>
                <a:spcPct val="100000"/>
              </a:lnSpc>
              <a:buChar char="•"/>
              <a:tabLst>
                <a:tab pos="354965" algn="l"/>
              </a:tabLst>
            </a:pPr>
            <a:r>
              <a:rPr sz="2400" dirty="0">
                <a:latin typeface="Arial MT"/>
                <a:cs typeface="Arial MT"/>
              </a:rPr>
              <a:t>We</a:t>
            </a:r>
            <a:r>
              <a:rPr sz="2400" spc="140" dirty="0">
                <a:latin typeface="Arial MT"/>
                <a:cs typeface="Arial MT"/>
              </a:rPr>
              <a:t> </a:t>
            </a:r>
            <a:r>
              <a:rPr sz="2400" dirty="0">
                <a:latin typeface="Arial MT"/>
                <a:cs typeface="Arial MT"/>
              </a:rPr>
              <a:t>have</a:t>
            </a:r>
            <a:r>
              <a:rPr sz="2400" spc="145" dirty="0">
                <a:latin typeface="Arial MT"/>
                <a:cs typeface="Arial MT"/>
              </a:rPr>
              <a:t> </a:t>
            </a:r>
            <a:r>
              <a:rPr sz="2400" b="1" dirty="0">
                <a:latin typeface="Arial"/>
                <a:cs typeface="Arial"/>
              </a:rPr>
              <a:t>identified</a:t>
            </a:r>
            <a:r>
              <a:rPr sz="2400" b="1" spc="125" dirty="0">
                <a:latin typeface="Arial"/>
                <a:cs typeface="Arial"/>
              </a:rPr>
              <a:t> </a:t>
            </a:r>
            <a:r>
              <a:rPr sz="2400" b="1" dirty="0">
                <a:latin typeface="Arial"/>
                <a:cs typeface="Arial"/>
              </a:rPr>
              <a:t>and</a:t>
            </a:r>
            <a:r>
              <a:rPr sz="2400" b="1" spc="150" dirty="0">
                <a:latin typeface="Arial"/>
                <a:cs typeface="Arial"/>
              </a:rPr>
              <a:t> </a:t>
            </a:r>
            <a:r>
              <a:rPr sz="2400" b="1" dirty="0">
                <a:latin typeface="Arial"/>
                <a:cs typeface="Arial"/>
              </a:rPr>
              <a:t>collected</a:t>
            </a:r>
            <a:r>
              <a:rPr sz="2400" b="1" spc="145" dirty="0">
                <a:latin typeface="Arial"/>
                <a:cs typeface="Arial"/>
              </a:rPr>
              <a:t> </a:t>
            </a:r>
            <a:r>
              <a:rPr sz="2400" b="1" dirty="0">
                <a:latin typeface="Arial"/>
                <a:cs typeface="Arial"/>
              </a:rPr>
              <a:t>datasets</a:t>
            </a:r>
            <a:r>
              <a:rPr sz="2400" b="1" spc="145" dirty="0">
                <a:latin typeface="Arial"/>
                <a:cs typeface="Arial"/>
              </a:rPr>
              <a:t> </a:t>
            </a:r>
            <a:r>
              <a:rPr sz="2400" dirty="0">
                <a:latin typeface="Arial MT"/>
                <a:cs typeface="Arial MT"/>
              </a:rPr>
              <a:t>representing</a:t>
            </a:r>
            <a:r>
              <a:rPr sz="2400" spc="145" dirty="0">
                <a:latin typeface="Arial MT"/>
                <a:cs typeface="Arial MT"/>
              </a:rPr>
              <a:t> </a:t>
            </a:r>
            <a:r>
              <a:rPr sz="2400" dirty="0">
                <a:latin typeface="Arial MT"/>
                <a:cs typeface="Arial MT"/>
              </a:rPr>
              <a:t>driver</a:t>
            </a:r>
            <a:r>
              <a:rPr sz="2400" spc="150" dirty="0">
                <a:latin typeface="Arial MT"/>
                <a:cs typeface="Arial MT"/>
              </a:rPr>
              <a:t> </a:t>
            </a:r>
            <a:r>
              <a:rPr sz="2400" dirty="0">
                <a:latin typeface="Arial MT"/>
                <a:cs typeface="Arial MT"/>
              </a:rPr>
              <a:t>behavior</a:t>
            </a:r>
            <a:r>
              <a:rPr sz="2400" spc="150" dirty="0">
                <a:latin typeface="Arial MT"/>
                <a:cs typeface="Arial MT"/>
              </a:rPr>
              <a:t> </a:t>
            </a:r>
            <a:r>
              <a:rPr sz="2400" spc="-25" dirty="0">
                <a:latin typeface="Arial MT"/>
                <a:cs typeface="Arial MT"/>
              </a:rPr>
              <a:t>in</a:t>
            </a:r>
            <a:endParaRPr sz="2400">
              <a:latin typeface="Arial MT"/>
              <a:cs typeface="Arial MT"/>
            </a:endParaRPr>
          </a:p>
          <a:p>
            <a:pPr marL="355600">
              <a:lnSpc>
                <a:spcPct val="100000"/>
              </a:lnSpc>
            </a:pPr>
            <a:r>
              <a:rPr sz="2400" b="1" dirty="0">
                <a:latin typeface="Arial"/>
                <a:cs typeface="Arial"/>
              </a:rPr>
              <a:t>daylight</a:t>
            </a:r>
            <a:r>
              <a:rPr sz="2400" b="1" spc="-20" dirty="0">
                <a:latin typeface="Arial"/>
                <a:cs typeface="Arial"/>
              </a:rPr>
              <a:t> </a:t>
            </a:r>
            <a:r>
              <a:rPr sz="2400" b="1" dirty="0">
                <a:latin typeface="Arial"/>
                <a:cs typeface="Arial"/>
              </a:rPr>
              <a:t>and</a:t>
            </a:r>
            <a:r>
              <a:rPr sz="2400" b="1" spc="-40" dirty="0">
                <a:latin typeface="Arial"/>
                <a:cs typeface="Arial"/>
              </a:rPr>
              <a:t> </a:t>
            </a:r>
            <a:r>
              <a:rPr sz="2400" b="1" dirty="0">
                <a:latin typeface="Arial"/>
                <a:cs typeface="Arial"/>
              </a:rPr>
              <a:t>night</a:t>
            </a:r>
            <a:r>
              <a:rPr sz="2400" b="1" spc="-40" dirty="0">
                <a:latin typeface="Arial"/>
                <a:cs typeface="Arial"/>
              </a:rPr>
              <a:t> </a:t>
            </a:r>
            <a:r>
              <a:rPr sz="2400" b="1" dirty="0">
                <a:latin typeface="Arial"/>
                <a:cs typeface="Arial"/>
              </a:rPr>
              <a:t>(IR)</a:t>
            </a:r>
            <a:r>
              <a:rPr sz="2400" b="1" spc="-35" dirty="0">
                <a:latin typeface="Arial"/>
                <a:cs typeface="Arial"/>
              </a:rPr>
              <a:t> </a:t>
            </a:r>
            <a:r>
              <a:rPr sz="2400" b="1" spc="-10" dirty="0">
                <a:latin typeface="Arial"/>
                <a:cs typeface="Arial"/>
              </a:rPr>
              <a:t>conditions</a:t>
            </a:r>
            <a:r>
              <a:rPr sz="2400" spc="-10" dirty="0">
                <a:latin typeface="Arial MT"/>
                <a:cs typeface="Arial MT"/>
              </a:rPr>
              <a:t>.</a:t>
            </a:r>
            <a:endParaRPr sz="2400">
              <a:latin typeface="Arial MT"/>
              <a:cs typeface="Arial MT"/>
            </a:endParaRPr>
          </a:p>
          <a:p>
            <a:pPr marL="353060" marR="8890" indent="-340360" algn="just">
              <a:lnSpc>
                <a:spcPct val="100000"/>
              </a:lnSpc>
              <a:spcBef>
                <a:spcPts val="575"/>
              </a:spcBef>
              <a:buChar char="•"/>
              <a:tabLst>
                <a:tab pos="355600" algn="l"/>
              </a:tabLst>
            </a:pPr>
            <a:r>
              <a:rPr sz="2400" dirty="0">
                <a:latin typeface="Arial MT"/>
                <a:cs typeface="Arial MT"/>
              </a:rPr>
              <a:t>The</a:t>
            </a:r>
            <a:r>
              <a:rPr sz="2400" spc="254" dirty="0">
                <a:latin typeface="Arial MT"/>
                <a:cs typeface="Arial MT"/>
              </a:rPr>
              <a:t> </a:t>
            </a:r>
            <a:r>
              <a:rPr sz="2400" dirty="0">
                <a:latin typeface="Arial MT"/>
                <a:cs typeface="Arial MT"/>
              </a:rPr>
              <a:t>system</a:t>
            </a:r>
            <a:r>
              <a:rPr sz="2400" spc="260" dirty="0">
                <a:latin typeface="Arial MT"/>
                <a:cs typeface="Arial MT"/>
              </a:rPr>
              <a:t> </a:t>
            </a:r>
            <a:r>
              <a:rPr sz="2400" dirty="0">
                <a:latin typeface="Arial MT"/>
                <a:cs typeface="Arial MT"/>
              </a:rPr>
              <a:t>is</a:t>
            </a:r>
            <a:r>
              <a:rPr sz="2400" spc="254" dirty="0">
                <a:latin typeface="Arial MT"/>
                <a:cs typeface="Arial MT"/>
              </a:rPr>
              <a:t> </a:t>
            </a:r>
            <a:r>
              <a:rPr sz="2400" dirty="0">
                <a:latin typeface="Arial MT"/>
                <a:cs typeface="Arial MT"/>
              </a:rPr>
              <a:t>being</a:t>
            </a:r>
            <a:r>
              <a:rPr sz="2400" spc="265" dirty="0">
                <a:latin typeface="Arial MT"/>
                <a:cs typeface="Arial MT"/>
              </a:rPr>
              <a:t> </a:t>
            </a:r>
            <a:r>
              <a:rPr sz="2400" dirty="0">
                <a:latin typeface="Arial MT"/>
                <a:cs typeface="Arial MT"/>
              </a:rPr>
              <a:t>developed</a:t>
            </a:r>
            <a:r>
              <a:rPr sz="2400" spc="260" dirty="0">
                <a:latin typeface="Arial MT"/>
                <a:cs typeface="Arial MT"/>
              </a:rPr>
              <a:t> </a:t>
            </a:r>
            <a:r>
              <a:rPr sz="2400" dirty="0">
                <a:latin typeface="Arial MT"/>
                <a:cs typeface="Arial MT"/>
              </a:rPr>
              <a:t>using</a:t>
            </a:r>
            <a:r>
              <a:rPr sz="2400" spc="250" dirty="0">
                <a:latin typeface="Arial MT"/>
                <a:cs typeface="Arial MT"/>
              </a:rPr>
              <a:t> </a:t>
            </a:r>
            <a:r>
              <a:rPr sz="2400" b="1" dirty="0">
                <a:latin typeface="Arial"/>
                <a:cs typeface="Arial"/>
              </a:rPr>
              <a:t>deep</a:t>
            </a:r>
            <a:r>
              <a:rPr sz="2400" b="1" spc="245" dirty="0">
                <a:latin typeface="Arial"/>
                <a:cs typeface="Arial"/>
              </a:rPr>
              <a:t> </a:t>
            </a:r>
            <a:r>
              <a:rPr sz="2400" b="1" dirty="0">
                <a:latin typeface="Arial"/>
                <a:cs typeface="Arial"/>
              </a:rPr>
              <a:t>learning</a:t>
            </a:r>
            <a:r>
              <a:rPr sz="2400" b="1" spc="245" dirty="0">
                <a:latin typeface="Arial"/>
                <a:cs typeface="Arial"/>
              </a:rPr>
              <a:t> </a:t>
            </a:r>
            <a:r>
              <a:rPr sz="2400" b="1" dirty="0">
                <a:latin typeface="Arial"/>
                <a:cs typeface="Arial"/>
              </a:rPr>
              <a:t>techniques</a:t>
            </a:r>
            <a:r>
              <a:rPr sz="2400" dirty="0">
                <a:latin typeface="Arial MT"/>
                <a:cs typeface="Arial MT"/>
              </a:rPr>
              <a:t>,</a:t>
            </a:r>
            <a:r>
              <a:rPr sz="2400" spc="254" dirty="0">
                <a:latin typeface="Arial MT"/>
                <a:cs typeface="Arial MT"/>
              </a:rPr>
              <a:t> </a:t>
            </a:r>
            <a:r>
              <a:rPr sz="2400" spc="-10" dirty="0">
                <a:latin typeface="Arial MT"/>
                <a:cs typeface="Arial MT"/>
              </a:rPr>
              <a:t>focusing 	</a:t>
            </a:r>
            <a:r>
              <a:rPr sz="2400" dirty="0">
                <a:latin typeface="Arial MT"/>
                <a:cs typeface="Arial MT"/>
              </a:rPr>
              <a:t>on</a:t>
            </a:r>
            <a:r>
              <a:rPr sz="2400" spc="-40" dirty="0">
                <a:latin typeface="Arial MT"/>
                <a:cs typeface="Arial MT"/>
              </a:rPr>
              <a:t> </a:t>
            </a:r>
            <a:r>
              <a:rPr sz="2400" b="1" dirty="0">
                <a:latin typeface="Arial"/>
                <a:cs typeface="Arial"/>
              </a:rPr>
              <a:t>CNN</a:t>
            </a:r>
            <a:r>
              <a:rPr sz="2400" b="1" spc="-15" dirty="0">
                <a:latin typeface="Arial"/>
                <a:cs typeface="Arial"/>
              </a:rPr>
              <a:t> </a:t>
            </a:r>
            <a:r>
              <a:rPr sz="2400" b="1" dirty="0">
                <a:latin typeface="Arial"/>
                <a:cs typeface="Arial"/>
              </a:rPr>
              <a:t>and</a:t>
            </a:r>
            <a:r>
              <a:rPr sz="2400" b="1" spc="-50" dirty="0">
                <a:latin typeface="Arial"/>
                <a:cs typeface="Arial"/>
              </a:rPr>
              <a:t> </a:t>
            </a:r>
            <a:r>
              <a:rPr sz="2400" b="1" dirty="0">
                <a:latin typeface="Arial"/>
                <a:cs typeface="Arial"/>
              </a:rPr>
              <a:t>LSTM</a:t>
            </a:r>
            <a:r>
              <a:rPr sz="2400" b="1" spc="-50" dirty="0">
                <a:latin typeface="Arial"/>
                <a:cs typeface="Arial"/>
              </a:rPr>
              <a:t> </a:t>
            </a:r>
            <a:r>
              <a:rPr sz="2400" b="1" dirty="0">
                <a:latin typeface="Arial"/>
                <a:cs typeface="Arial"/>
              </a:rPr>
              <a:t>models</a:t>
            </a:r>
            <a:r>
              <a:rPr sz="2400" b="1" spc="-45" dirty="0">
                <a:latin typeface="Arial"/>
                <a:cs typeface="Arial"/>
              </a:rPr>
              <a:t> </a:t>
            </a:r>
            <a:r>
              <a:rPr sz="2400" dirty="0">
                <a:latin typeface="Arial MT"/>
                <a:cs typeface="Arial MT"/>
              </a:rPr>
              <a:t>for</a:t>
            </a:r>
            <a:r>
              <a:rPr sz="2400" spc="-40" dirty="0">
                <a:latin typeface="Arial MT"/>
                <a:cs typeface="Arial MT"/>
              </a:rPr>
              <a:t> </a:t>
            </a:r>
            <a:r>
              <a:rPr sz="2400" dirty="0">
                <a:latin typeface="Arial MT"/>
                <a:cs typeface="Arial MT"/>
              </a:rPr>
              <a:t>anomaly</a:t>
            </a:r>
            <a:r>
              <a:rPr sz="2400" spc="-25" dirty="0">
                <a:latin typeface="Arial MT"/>
                <a:cs typeface="Arial MT"/>
              </a:rPr>
              <a:t> </a:t>
            </a:r>
            <a:r>
              <a:rPr sz="2400" spc="-10" dirty="0">
                <a:latin typeface="Arial MT"/>
                <a:cs typeface="Arial MT"/>
              </a:rPr>
              <a:t>detection.</a:t>
            </a:r>
            <a:endParaRPr sz="2400">
              <a:latin typeface="Arial MT"/>
              <a:cs typeface="Arial MT"/>
            </a:endParaRPr>
          </a:p>
          <a:p>
            <a:pPr marL="353060" marR="6350" indent="-340360" algn="just">
              <a:lnSpc>
                <a:spcPct val="100000"/>
              </a:lnSpc>
              <a:spcBef>
                <a:spcPts val="580"/>
              </a:spcBef>
              <a:buChar char="•"/>
              <a:tabLst>
                <a:tab pos="355600" algn="l"/>
              </a:tabLst>
            </a:pPr>
            <a:r>
              <a:rPr sz="2400" dirty="0">
                <a:latin typeface="Arial MT"/>
                <a:cs typeface="Arial MT"/>
              </a:rPr>
              <a:t>The</a:t>
            </a:r>
            <a:r>
              <a:rPr sz="2400" spc="-50" dirty="0">
                <a:latin typeface="Arial MT"/>
                <a:cs typeface="Arial MT"/>
              </a:rPr>
              <a:t> </a:t>
            </a:r>
            <a:r>
              <a:rPr sz="2400" dirty="0">
                <a:latin typeface="Arial MT"/>
                <a:cs typeface="Arial MT"/>
              </a:rPr>
              <a:t>members</a:t>
            </a:r>
            <a:r>
              <a:rPr sz="2400" spc="-55" dirty="0">
                <a:latin typeface="Arial MT"/>
                <a:cs typeface="Arial MT"/>
              </a:rPr>
              <a:t> </a:t>
            </a:r>
            <a:r>
              <a:rPr sz="2400" dirty="0">
                <a:latin typeface="Arial MT"/>
                <a:cs typeface="Arial MT"/>
              </a:rPr>
              <a:t>recommended</a:t>
            </a:r>
            <a:r>
              <a:rPr sz="2400" spc="-45" dirty="0">
                <a:latin typeface="Arial MT"/>
                <a:cs typeface="Arial MT"/>
              </a:rPr>
              <a:t> </a:t>
            </a:r>
            <a:r>
              <a:rPr sz="2400" dirty="0">
                <a:latin typeface="Arial MT"/>
                <a:cs typeface="Arial MT"/>
              </a:rPr>
              <a:t>exploring</a:t>
            </a:r>
            <a:r>
              <a:rPr sz="2400" spc="-45" dirty="0">
                <a:latin typeface="Arial MT"/>
                <a:cs typeface="Arial MT"/>
              </a:rPr>
              <a:t> </a:t>
            </a:r>
            <a:r>
              <a:rPr sz="2400" b="1" dirty="0">
                <a:latin typeface="Arial"/>
                <a:cs typeface="Arial"/>
              </a:rPr>
              <a:t>deep</a:t>
            </a:r>
            <a:r>
              <a:rPr sz="2400" b="1" spc="-65" dirty="0">
                <a:latin typeface="Arial"/>
                <a:cs typeface="Arial"/>
              </a:rPr>
              <a:t> </a:t>
            </a:r>
            <a:r>
              <a:rPr sz="2400" b="1" dirty="0">
                <a:latin typeface="Arial"/>
                <a:cs typeface="Arial"/>
              </a:rPr>
              <a:t>learning</a:t>
            </a:r>
            <a:r>
              <a:rPr sz="2400" b="1" spc="-60" dirty="0">
                <a:latin typeface="Arial"/>
                <a:cs typeface="Arial"/>
              </a:rPr>
              <a:t> </a:t>
            </a:r>
            <a:r>
              <a:rPr sz="2400" b="1" dirty="0">
                <a:latin typeface="Arial"/>
                <a:cs typeface="Arial"/>
              </a:rPr>
              <a:t>models</a:t>
            </a:r>
            <a:r>
              <a:rPr sz="2400" b="1" spc="-50" dirty="0">
                <a:latin typeface="Arial"/>
                <a:cs typeface="Arial"/>
              </a:rPr>
              <a:t> </a:t>
            </a:r>
            <a:r>
              <a:rPr sz="2400" dirty="0">
                <a:latin typeface="Arial MT"/>
                <a:cs typeface="Arial MT"/>
              </a:rPr>
              <a:t>such</a:t>
            </a:r>
            <a:r>
              <a:rPr sz="2400" spc="-50" dirty="0">
                <a:latin typeface="Arial MT"/>
                <a:cs typeface="Arial MT"/>
              </a:rPr>
              <a:t> </a:t>
            </a:r>
            <a:r>
              <a:rPr sz="2400" dirty="0">
                <a:latin typeface="Arial MT"/>
                <a:cs typeface="Arial MT"/>
              </a:rPr>
              <a:t>as</a:t>
            </a:r>
            <a:r>
              <a:rPr sz="2400" spc="-50" dirty="0">
                <a:latin typeface="Arial MT"/>
                <a:cs typeface="Arial MT"/>
              </a:rPr>
              <a:t> </a:t>
            </a:r>
            <a:r>
              <a:rPr sz="2400" b="1" spc="-20" dirty="0">
                <a:latin typeface="Arial"/>
                <a:cs typeface="Arial"/>
              </a:rPr>
              <a:t>CNN, 	</a:t>
            </a:r>
            <a:r>
              <a:rPr sz="2400" b="1" dirty="0">
                <a:latin typeface="Arial"/>
                <a:cs typeface="Arial"/>
              </a:rPr>
              <a:t>Autoencoders,</a:t>
            </a:r>
            <a:r>
              <a:rPr sz="2400" b="1" spc="-50" dirty="0">
                <a:latin typeface="Arial"/>
                <a:cs typeface="Arial"/>
              </a:rPr>
              <a:t> </a:t>
            </a:r>
            <a:r>
              <a:rPr sz="2400" b="1" dirty="0">
                <a:latin typeface="Arial"/>
                <a:cs typeface="Arial"/>
              </a:rPr>
              <a:t>LSTM,</a:t>
            </a:r>
            <a:r>
              <a:rPr sz="2400" b="1" spc="-55" dirty="0">
                <a:latin typeface="Arial"/>
                <a:cs typeface="Arial"/>
              </a:rPr>
              <a:t> </a:t>
            </a:r>
            <a:r>
              <a:rPr sz="2400" b="1" dirty="0">
                <a:latin typeface="Arial"/>
                <a:cs typeface="Arial"/>
              </a:rPr>
              <a:t>and</a:t>
            </a:r>
            <a:r>
              <a:rPr sz="2400" b="1" spc="-130" dirty="0">
                <a:latin typeface="Arial"/>
                <a:cs typeface="Arial"/>
              </a:rPr>
              <a:t> </a:t>
            </a:r>
            <a:r>
              <a:rPr sz="2400" b="1" spc="-25" dirty="0">
                <a:latin typeface="Arial"/>
                <a:cs typeface="Arial"/>
              </a:rPr>
              <a:t>ADA</a:t>
            </a:r>
            <a:endParaRPr sz="2400">
              <a:latin typeface="Arial"/>
              <a:cs typeface="Arial"/>
            </a:endParaRPr>
          </a:p>
          <a:p>
            <a:pPr marL="353060" marR="5080" indent="-340360" algn="just">
              <a:lnSpc>
                <a:spcPct val="100000"/>
              </a:lnSpc>
              <a:spcBef>
                <a:spcPts val="575"/>
              </a:spcBef>
              <a:buChar char="•"/>
              <a:tabLst>
                <a:tab pos="355600" algn="l"/>
              </a:tabLst>
            </a:pPr>
            <a:r>
              <a:rPr sz="2400" dirty="0">
                <a:latin typeface="Arial MT"/>
                <a:cs typeface="Arial MT"/>
              </a:rPr>
              <a:t>Based</a:t>
            </a:r>
            <a:r>
              <a:rPr sz="2400" spc="105" dirty="0">
                <a:latin typeface="Arial MT"/>
                <a:cs typeface="Arial MT"/>
              </a:rPr>
              <a:t> </a:t>
            </a:r>
            <a:r>
              <a:rPr sz="2400" dirty="0">
                <a:latin typeface="Arial MT"/>
                <a:cs typeface="Arial MT"/>
              </a:rPr>
              <a:t>on</a:t>
            </a:r>
            <a:r>
              <a:rPr sz="2400" spc="105" dirty="0">
                <a:latin typeface="Arial MT"/>
                <a:cs typeface="Arial MT"/>
              </a:rPr>
              <a:t> </a:t>
            </a:r>
            <a:r>
              <a:rPr sz="2400" dirty="0">
                <a:latin typeface="Arial MT"/>
                <a:cs typeface="Arial MT"/>
              </a:rPr>
              <a:t>the</a:t>
            </a:r>
            <a:r>
              <a:rPr sz="2400" spc="105" dirty="0">
                <a:latin typeface="Arial MT"/>
                <a:cs typeface="Arial MT"/>
              </a:rPr>
              <a:t> </a:t>
            </a:r>
            <a:r>
              <a:rPr sz="2400" dirty="0">
                <a:latin typeface="Arial MT"/>
                <a:cs typeface="Arial MT"/>
              </a:rPr>
              <a:t>panel’s</a:t>
            </a:r>
            <a:r>
              <a:rPr sz="2400" spc="110" dirty="0">
                <a:latin typeface="Arial MT"/>
                <a:cs typeface="Arial MT"/>
              </a:rPr>
              <a:t> </a:t>
            </a:r>
            <a:r>
              <a:rPr sz="2400" dirty="0">
                <a:latin typeface="Arial MT"/>
                <a:cs typeface="Arial MT"/>
              </a:rPr>
              <a:t>suggestion,</a:t>
            </a:r>
            <a:r>
              <a:rPr sz="2400" spc="90" dirty="0">
                <a:latin typeface="Arial MT"/>
                <a:cs typeface="Arial MT"/>
              </a:rPr>
              <a:t> </a:t>
            </a:r>
            <a:r>
              <a:rPr sz="2400" dirty="0">
                <a:latin typeface="Arial MT"/>
                <a:cs typeface="Arial MT"/>
              </a:rPr>
              <a:t>the</a:t>
            </a:r>
            <a:r>
              <a:rPr sz="2400" spc="105" dirty="0">
                <a:latin typeface="Arial MT"/>
                <a:cs typeface="Arial MT"/>
              </a:rPr>
              <a:t> </a:t>
            </a:r>
            <a:r>
              <a:rPr sz="2400" b="1" dirty="0">
                <a:latin typeface="Arial"/>
                <a:cs typeface="Arial"/>
              </a:rPr>
              <a:t>V2V/V2I</a:t>
            </a:r>
            <a:r>
              <a:rPr sz="2400" b="1" spc="110" dirty="0">
                <a:latin typeface="Arial"/>
                <a:cs typeface="Arial"/>
              </a:rPr>
              <a:t> </a:t>
            </a:r>
            <a:r>
              <a:rPr sz="2400" b="1" dirty="0">
                <a:latin typeface="Arial"/>
                <a:cs typeface="Arial"/>
              </a:rPr>
              <a:t>communication</a:t>
            </a:r>
            <a:r>
              <a:rPr sz="2400" b="1" spc="90" dirty="0">
                <a:latin typeface="Arial"/>
                <a:cs typeface="Arial"/>
              </a:rPr>
              <a:t> </a:t>
            </a:r>
            <a:r>
              <a:rPr sz="2400" b="1" dirty="0">
                <a:latin typeface="Arial"/>
                <a:cs typeface="Arial"/>
              </a:rPr>
              <a:t>feature</a:t>
            </a:r>
            <a:r>
              <a:rPr sz="2400" b="1" spc="105" dirty="0">
                <a:latin typeface="Arial"/>
                <a:cs typeface="Arial"/>
              </a:rPr>
              <a:t> </a:t>
            </a:r>
            <a:r>
              <a:rPr sz="2400" b="1" spc="-25" dirty="0">
                <a:latin typeface="Arial"/>
                <a:cs typeface="Arial"/>
              </a:rPr>
              <a:t>has 	</a:t>
            </a:r>
            <a:r>
              <a:rPr sz="2400" b="1" dirty="0">
                <a:latin typeface="Arial"/>
                <a:cs typeface="Arial"/>
              </a:rPr>
              <a:t>been</a:t>
            </a:r>
            <a:r>
              <a:rPr sz="2400" b="1" spc="229" dirty="0">
                <a:latin typeface="Arial"/>
                <a:cs typeface="Arial"/>
              </a:rPr>
              <a:t> </a:t>
            </a:r>
            <a:r>
              <a:rPr sz="2400" b="1" dirty="0">
                <a:latin typeface="Arial"/>
                <a:cs typeface="Arial"/>
              </a:rPr>
              <a:t>excluded</a:t>
            </a:r>
            <a:r>
              <a:rPr sz="2400" dirty="0">
                <a:latin typeface="Arial MT"/>
                <a:cs typeface="Arial MT"/>
              </a:rPr>
              <a:t>,</a:t>
            </a:r>
            <a:r>
              <a:rPr sz="2400" spc="240" dirty="0">
                <a:latin typeface="Arial MT"/>
                <a:cs typeface="Arial MT"/>
              </a:rPr>
              <a:t> </a:t>
            </a:r>
            <a:r>
              <a:rPr sz="2400" dirty="0">
                <a:latin typeface="Arial MT"/>
                <a:cs typeface="Arial MT"/>
              </a:rPr>
              <a:t>and</a:t>
            </a:r>
            <a:r>
              <a:rPr sz="2400" spc="235" dirty="0">
                <a:latin typeface="Arial MT"/>
                <a:cs typeface="Arial MT"/>
              </a:rPr>
              <a:t> </a:t>
            </a:r>
            <a:r>
              <a:rPr sz="2400" dirty="0">
                <a:latin typeface="Arial MT"/>
                <a:cs typeface="Arial MT"/>
              </a:rPr>
              <a:t>the</a:t>
            </a:r>
            <a:r>
              <a:rPr sz="2400" spc="235" dirty="0">
                <a:latin typeface="Arial MT"/>
                <a:cs typeface="Arial MT"/>
              </a:rPr>
              <a:t> </a:t>
            </a:r>
            <a:r>
              <a:rPr sz="2400" dirty="0">
                <a:latin typeface="Arial MT"/>
                <a:cs typeface="Arial MT"/>
              </a:rPr>
              <a:t>system</a:t>
            </a:r>
            <a:r>
              <a:rPr sz="2400" spc="229" dirty="0">
                <a:latin typeface="Arial MT"/>
                <a:cs typeface="Arial MT"/>
              </a:rPr>
              <a:t> </a:t>
            </a:r>
            <a:r>
              <a:rPr sz="2400" dirty="0">
                <a:latin typeface="Arial MT"/>
                <a:cs typeface="Arial MT"/>
              </a:rPr>
              <a:t>now</a:t>
            </a:r>
            <a:r>
              <a:rPr sz="2400" spc="229" dirty="0">
                <a:latin typeface="Arial MT"/>
                <a:cs typeface="Arial MT"/>
              </a:rPr>
              <a:t> </a:t>
            </a:r>
            <a:r>
              <a:rPr sz="2400" dirty="0">
                <a:latin typeface="Arial MT"/>
                <a:cs typeface="Arial MT"/>
              </a:rPr>
              <a:t>focuses</a:t>
            </a:r>
            <a:r>
              <a:rPr sz="2400" spc="229" dirty="0">
                <a:latin typeface="Arial MT"/>
                <a:cs typeface="Arial MT"/>
              </a:rPr>
              <a:t> </a:t>
            </a:r>
            <a:r>
              <a:rPr sz="2400" dirty="0">
                <a:latin typeface="Arial MT"/>
                <a:cs typeface="Arial MT"/>
              </a:rPr>
              <a:t>solely</a:t>
            </a:r>
            <a:r>
              <a:rPr sz="2400" spc="235" dirty="0">
                <a:latin typeface="Arial MT"/>
                <a:cs typeface="Arial MT"/>
              </a:rPr>
              <a:t> </a:t>
            </a:r>
            <a:r>
              <a:rPr sz="2400" dirty="0">
                <a:latin typeface="Arial MT"/>
                <a:cs typeface="Arial MT"/>
              </a:rPr>
              <a:t>on</a:t>
            </a:r>
            <a:r>
              <a:rPr sz="2400" spc="229" dirty="0">
                <a:latin typeface="Arial MT"/>
                <a:cs typeface="Arial MT"/>
              </a:rPr>
              <a:t> </a:t>
            </a:r>
            <a:r>
              <a:rPr sz="2400" b="1" spc="-20" dirty="0">
                <a:latin typeface="Arial"/>
                <a:cs typeface="Arial"/>
              </a:rPr>
              <a:t>real-</a:t>
            </a:r>
            <a:r>
              <a:rPr sz="2400" b="1" dirty="0">
                <a:latin typeface="Arial"/>
                <a:cs typeface="Arial"/>
              </a:rPr>
              <a:t>time</a:t>
            </a:r>
            <a:r>
              <a:rPr sz="2400" b="1" spc="225" dirty="0">
                <a:latin typeface="Arial"/>
                <a:cs typeface="Arial"/>
              </a:rPr>
              <a:t> </a:t>
            </a:r>
            <a:r>
              <a:rPr sz="2400" b="1" spc="-10" dirty="0">
                <a:latin typeface="Arial"/>
                <a:cs typeface="Arial"/>
              </a:rPr>
              <a:t>anomaly 	</a:t>
            </a:r>
            <a:r>
              <a:rPr sz="2400" b="1" dirty="0">
                <a:latin typeface="Arial"/>
                <a:cs typeface="Arial"/>
              </a:rPr>
              <a:t>detection</a:t>
            </a:r>
            <a:r>
              <a:rPr sz="2400" b="1" spc="-55" dirty="0">
                <a:latin typeface="Arial"/>
                <a:cs typeface="Arial"/>
              </a:rPr>
              <a:t> </a:t>
            </a:r>
            <a:r>
              <a:rPr sz="2400" dirty="0">
                <a:latin typeface="Arial MT"/>
                <a:cs typeface="Arial MT"/>
              </a:rPr>
              <a:t>within</a:t>
            </a:r>
            <a:r>
              <a:rPr sz="2400" spc="-35" dirty="0">
                <a:latin typeface="Arial MT"/>
                <a:cs typeface="Arial MT"/>
              </a:rPr>
              <a:t> </a:t>
            </a:r>
            <a:r>
              <a:rPr sz="2400" dirty="0">
                <a:latin typeface="Arial MT"/>
                <a:cs typeface="Arial MT"/>
              </a:rPr>
              <a:t>the</a:t>
            </a:r>
            <a:r>
              <a:rPr sz="2400" spc="-40" dirty="0">
                <a:latin typeface="Arial MT"/>
                <a:cs typeface="Arial MT"/>
              </a:rPr>
              <a:t> </a:t>
            </a:r>
            <a:r>
              <a:rPr sz="2400" spc="-10" dirty="0">
                <a:latin typeface="Arial MT"/>
                <a:cs typeface="Arial MT"/>
              </a:rPr>
              <a:t>vehicle.</a:t>
            </a:r>
            <a:endParaRPr sz="2400">
              <a:latin typeface="Arial MT"/>
              <a:cs typeface="Arial MT"/>
            </a:endParaRPr>
          </a:p>
        </p:txBody>
      </p:sp>
      <p:sp>
        <p:nvSpPr>
          <p:cNvPr id="4" name="object 4"/>
          <p:cNvSpPr txBox="1">
            <a:spLocks noGrp="1"/>
          </p:cNvSpPr>
          <p:nvPr>
            <p:ph type="title"/>
          </p:nvPr>
        </p:nvSpPr>
        <p:spPr>
          <a:xfrm>
            <a:off x="6171057" y="572770"/>
            <a:ext cx="3846829" cy="391160"/>
          </a:xfrm>
          <a:prstGeom prst="rect">
            <a:avLst/>
          </a:prstGeom>
        </p:spPr>
        <p:txBody>
          <a:bodyPr vert="horz" wrap="square" lIns="0" tIns="12700" rIns="0" bIns="0" rtlCol="0">
            <a:spAutoFit/>
          </a:bodyPr>
          <a:lstStyle/>
          <a:p>
            <a:pPr marL="12700">
              <a:lnSpc>
                <a:spcPct val="100000"/>
              </a:lnSpc>
              <a:spcBef>
                <a:spcPts val="100"/>
              </a:spcBef>
            </a:pPr>
            <a:r>
              <a:rPr dirty="0"/>
              <a:t>Suggestions</a:t>
            </a:r>
            <a:r>
              <a:rPr spc="-50" dirty="0"/>
              <a:t> </a:t>
            </a:r>
            <a:r>
              <a:rPr dirty="0"/>
              <a:t>from</a:t>
            </a:r>
            <a:r>
              <a:rPr spc="-75" dirty="0"/>
              <a:t> </a:t>
            </a:r>
            <a:r>
              <a:rPr spc="-10" dirty="0"/>
              <a:t>Review</a:t>
            </a:r>
            <a:r>
              <a:rPr spc="-50" dirty="0"/>
              <a:t> </a:t>
            </a:r>
            <a:r>
              <a:rPr dirty="0"/>
              <a:t>-</a:t>
            </a:r>
            <a:r>
              <a:rPr spc="-70" dirty="0"/>
              <a:t> </a:t>
            </a:r>
            <a:r>
              <a:rPr spc="-50" dirty="0"/>
              <a:t>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Literature</a:t>
            </a:r>
            <a:r>
              <a:rPr spc="-145" dirty="0"/>
              <a:t> </a:t>
            </a:r>
            <a:r>
              <a:rPr dirty="0"/>
              <a:t>Survey/Existing</a:t>
            </a:r>
            <a:r>
              <a:rPr spc="-140" dirty="0"/>
              <a:t> </a:t>
            </a:r>
            <a:r>
              <a:rPr spc="-10" dirty="0"/>
              <a:t>System</a:t>
            </a:r>
          </a:p>
        </p:txBody>
      </p:sp>
      <p:graphicFrame>
        <p:nvGraphicFramePr>
          <p:cNvPr id="5" name="object 5"/>
          <p:cNvGraphicFramePr>
            <a:graphicFrameLocks noGrp="1"/>
          </p:cNvGraphicFramePr>
          <p:nvPr>
            <p:extLst>
              <p:ext uri="{D42A27DB-BD31-4B8C-83A1-F6EECF244321}">
                <p14:modId xmlns:p14="http://schemas.microsoft.com/office/powerpoint/2010/main" val="2617372253"/>
              </p:ext>
            </p:extLst>
          </p:nvPr>
        </p:nvGraphicFramePr>
        <p:xfrm>
          <a:off x="304800" y="1828800"/>
          <a:ext cx="11582400" cy="4800599"/>
        </p:xfrm>
        <a:graphic>
          <a:graphicData uri="http://schemas.openxmlformats.org/drawingml/2006/table">
            <a:tbl>
              <a:tblPr firstRow="1" bandRow="1">
                <a:tableStyleId>{2D5ABB26-0587-4C30-8999-92F81FD0307C}</a:tableStyleId>
              </a:tblPr>
              <a:tblGrid>
                <a:gridCol w="33528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917705">
                  <a:extLst>
                    <a:ext uri="{9D8B030D-6E8A-4147-A177-3AD203B41FA5}">
                      <a16:colId xmlns:a16="http://schemas.microsoft.com/office/drawing/2014/main" val="20002"/>
                    </a:ext>
                  </a:extLst>
                </a:gridCol>
                <a:gridCol w="2340095">
                  <a:extLst>
                    <a:ext uri="{9D8B030D-6E8A-4147-A177-3AD203B41FA5}">
                      <a16:colId xmlns:a16="http://schemas.microsoft.com/office/drawing/2014/main" val="20003"/>
                    </a:ext>
                  </a:extLst>
                </a:gridCol>
              </a:tblGrid>
              <a:tr h="629642">
                <a:tc>
                  <a:txBody>
                    <a:bodyPr/>
                    <a:lstStyle/>
                    <a:p>
                      <a:pPr marL="91440" marR="104775">
                        <a:lnSpc>
                          <a:spcPct val="100000"/>
                        </a:lnSpc>
                        <a:spcBef>
                          <a:spcPts val="244"/>
                        </a:spcBef>
                      </a:pPr>
                      <a:r>
                        <a:rPr sz="1800" b="1" dirty="0">
                          <a:solidFill>
                            <a:srgbClr val="FFFFFF"/>
                          </a:solidFill>
                          <a:latin typeface="Calibri"/>
                          <a:cs typeface="Calibri"/>
                        </a:rPr>
                        <a:t>Details</a:t>
                      </a:r>
                      <a:r>
                        <a:rPr sz="1800" b="1" spc="-70" dirty="0">
                          <a:solidFill>
                            <a:srgbClr val="FFFFFF"/>
                          </a:solidFill>
                          <a:latin typeface="Calibri"/>
                          <a:cs typeface="Calibri"/>
                        </a:rPr>
                        <a:t> </a:t>
                      </a:r>
                      <a:r>
                        <a:rPr sz="1800" b="1" dirty="0">
                          <a:solidFill>
                            <a:srgbClr val="FFFFFF"/>
                          </a:solidFill>
                          <a:latin typeface="Calibri"/>
                          <a:cs typeface="Calibri"/>
                        </a:rPr>
                        <a:t>of</a:t>
                      </a:r>
                      <a:r>
                        <a:rPr sz="1800" b="1" spc="-35" dirty="0">
                          <a:solidFill>
                            <a:srgbClr val="FFFFFF"/>
                          </a:solidFill>
                          <a:latin typeface="Calibri"/>
                          <a:cs typeface="Calibri"/>
                        </a:rPr>
                        <a:t> </a:t>
                      </a:r>
                      <a:r>
                        <a:rPr sz="1800" b="1" spc="-10" dirty="0">
                          <a:solidFill>
                            <a:srgbClr val="FFFFFF"/>
                          </a:solidFill>
                          <a:latin typeface="Calibri"/>
                          <a:cs typeface="Calibri"/>
                        </a:rPr>
                        <a:t>Paper- </a:t>
                      </a:r>
                      <a:r>
                        <a:rPr sz="1800" b="1" dirty="0">
                          <a:solidFill>
                            <a:srgbClr val="FFFFFF"/>
                          </a:solidFill>
                          <a:latin typeface="Calibri"/>
                          <a:cs typeface="Calibri"/>
                        </a:rPr>
                        <a:t>Title,</a:t>
                      </a:r>
                      <a:r>
                        <a:rPr sz="1800" b="1" spc="-20" dirty="0">
                          <a:solidFill>
                            <a:srgbClr val="FFFFFF"/>
                          </a:solidFill>
                          <a:latin typeface="Calibri"/>
                          <a:cs typeface="Calibri"/>
                        </a:rPr>
                        <a:t> </a:t>
                      </a:r>
                      <a:r>
                        <a:rPr sz="1800" b="1" spc="-10" dirty="0">
                          <a:solidFill>
                            <a:srgbClr val="FFFFFF"/>
                          </a:solidFill>
                          <a:latin typeface="Calibri"/>
                          <a:cs typeface="Calibri"/>
                        </a:rPr>
                        <a:t>author, conference</a:t>
                      </a:r>
                      <a:r>
                        <a:rPr sz="1800" b="1" spc="-40" dirty="0">
                          <a:solidFill>
                            <a:srgbClr val="FFFFFF"/>
                          </a:solidFill>
                          <a:latin typeface="Calibri"/>
                          <a:cs typeface="Calibri"/>
                        </a:rPr>
                        <a:t> </a:t>
                      </a:r>
                      <a:r>
                        <a:rPr sz="1800" b="1" spc="-10" dirty="0">
                          <a:solidFill>
                            <a:srgbClr val="FFFFFF"/>
                          </a:solidFill>
                          <a:latin typeface="Calibri"/>
                          <a:cs typeface="Calibri"/>
                        </a:rPr>
                        <a:t>/Journal</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44"/>
                        </a:spcBef>
                      </a:pPr>
                      <a:r>
                        <a:rPr sz="1800" b="1" dirty="0">
                          <a:solidFill>
                            <a:srgbClr val="FFFFFF"/>
                          </a:solidFill>
                          <a:latin typeface="Calibri"/>
                          <a:cs typeface="Calibri"/>
                        </a:rPr>
                        <a:t>Methodology</a:t>
                      </a:r>
                      <a:r>
                        <a:rPr sz="1800" b="1" spc="-45" dirty="0">
                          <a:solidFill>
                            <a:srgbClr val="FFFFFF"/>
                          </a:solidFill>
                          <a:latin typeface="Calibri"/>
                          <a:cs typeface="Calibri"/>
                        </a:rPr>
                        <a:t> </a:t>
                      </a:r>
                      <a:r>
                        <a:rPr sz="1800" b="1" spc="-20" dirty="0">
                          <a:solidFill>
                            <a:srgbClr val="FFFFFF"/>
                          </a:solidFill>
                          <a:latin typeface="Calibri"/>
                          <a:cs typeface="Calibri"/>
                        </a:rPr>
                        <a:t>Used</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Result</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Limitations</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2383404">
                <a:tc>
                  <a:txBody>
                    <a:bodyPr/>
                    <a:lstStyle/>
                    <a:p>
                      <a:pPr>
                        <a:lnSpc>
                          <a:spcPct val="100000"/>
                        </a:lnSpc>
                      </a:pPr>
                      <a:r>
                        <a:rPr lang="en-US" sz="1800" b="1" dirty="0"/>
                        <a:t>Abnormal Driving Behavior Detection: A Machine and Deep Learning Based Hybrid Model</a:t>
                      </a:r>
                      <a:br>
                        <a:rPr lang="en-US" sz="1800" dirty="0"/>
                      </a:br>
                      <a:r>
                        <a:rPr lang="en-US" sz="1800" i="1" dirty="0"/>
                        <a:t>(Md. Ashraf Uddin et al., Int. J. Intelligent Transportation Systems Research, 2025)</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sz="1800" dirty="0"/>
                        <a:t>Hybrid model combining </a:t>
                      </a:r>
                      <a:r>
                        <a:rPr lang="en-US" sz="1800" b="1" dirty="0"/>
                        <a:t>Machine Learning (Random Forest, SVM, Gradient Boosting)</a:t>
                      </a:r>
                      <a:r>
                        <a:rPr lang="en-US" sz="1800" dirty="0"/>
                        <a:t> on tabular driving data and </a:t>
                      </a:r>
                      <a:r>
                        <a:rPr lang="en-US" sz="1800" b="1" dirty="0"/>
                        <a:t>Deep Learning (CNN, ResNet50, EfficientNetB6)</a:t>
                      </a:r>
                      <a:r>
                        <a:rPr lang="en-US" sz="1800" dirty="0"/>
                        <a:t> on image data (UAH-</a:t>
                      </a:r>
                      <a:r>
                        <a:rPr lang="en-US" sz="1800" dirty="0" err="1"/>
                        <a:t>DriveSet</a:t>
                      </a:r>
                      <a:r>
                        <a:rPr lang="en-US" sz="1800" dirty="0"/>
                        <a:t> + SFD3 datasets).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sz="1800" dirty="0"/>
                        <a:t>Random Forest: </a:t>
                      </a:r>
                      <a:r>
                        <a:rPr lang="en-US" sz="1800" b="1" dirty="0"/>
                        <a:t>99.32%</a:t>
                      </a:r>
                      <a:r>
                        <a:rPr lang="en-US" sz="1800" dirty="0"/>
                        <a:t>, Base CNN: </a:t>
                      </a:r>
                      <a:r>
                        <a:rPr lang="en-US" sz="1800" b="1" dirty="0"/>
                        <a:t>99.87%</a:t>
                      </a:r>
                      <a:r>
                        <a:rPr lang="en-US" sz="1800" dirty="0"/>
                        <a:t>. Hybrid model outperformed standalone ML/DL methods.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sz="1800" dirty="0"/>
                        <a:t>High computational demand; limited real-time testing; only evaluated limited behaviors (aggressive, tired, normal).</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1787553">
                <a:tc>
                  <a:txBody>
                    <a:bodyPr/>
                    <a:lstStyle/>
                    <a:p>
                      <a:pPr>
                        <a:lnSpc>
                          <a:spcPct val="100000"/>
                        </a:lnSpc>
                      </a:pPr>
                      <a:r>
                        <a:rPr lang="en-US" sz="1800" b="1" dirty="0"/>
                        <a:t>Real-Time Driver Fatigue Detection System with Deep Learning on a Low-Cost Embedded System</a:t>
                      </a:r>
                      <a:br>
                        <a:rPr lang="en-US" sz="1800" dirty="0"/>
                      </a:br>
                      <a:r>
                        <a:rPr lang="en-US" sz="1800" i="1" dirty="0"/>
                        <a:t>(</a:t>
                      </a:r>
                      <a:r>
                        <a:rPr lang="en-US" sz="1800" i="1" dirty="0" err="1"/>
                        <a:t>Esra</a:t>
                      </a:r>
                      <a:r>
                        <a:rPr lang="en-US" sz="1800" i="1" dirty="0"/>
                        <a:t> </a:t>
                      </a:r>
                      <a:r>
                        <a:rPr lang="en-US" sz="1800" i="1" dirty="0" err="1"/>
                        <a:t>Civik</a:t>
                      </a:r>
                      <a:r>
                        <a:rPr lang="en-US" sz="1800" i="1" dirty="0"/>
                        <a:t> &amp; </a:t>
                      </a:r>
                      <a:r>
                        <a:rPr lang="en-US" sz="1800" i="1" dirty="0" err="1"/>
                        <a:t>Ugur</a:t>
                      </a:r>
                      <a:r>
                        <a:rPr lang="en-US" sz="1800" i="1" dirty="0"/>
                        <a:t> </a:t>
                      </a:r>
                      <a:r>
                        <a:rPr lang="en-US" sz="1800" i="1" dirty="0" err="1"/>
                        <a:t>Yuzgec</a:t>
                      </a:r>
                      <a:r>
                        <a:rPr lang="en-US" sz="1800" i="1" dirty="0"/>
                        <a:t>, Microprocessors and Microsystems, 2023)</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sz="1800" dirty="0"/>
                        <a:t>Two CNN models trained on </a:t>
                      </a:r>
                      <a:r>
                        <a:rPr lang="en-US" sz="1800" b="1" dirty="0" err="1"/>
                        <a:t>YawDD</a:t>
                      </a:r>
                      <a:r>
                        <a:rPr lang="en-US" sz="1800" b="1" dirty="0"/>
                        <a:t> dataset</a:t>
                      </a:r>
                      <a:r>
                        <a:rPr lang="en-US" sz="1800" dirty="0"/>
                        <a:t> to detect fatigue by analyzing </a:t>
                      </a:r>
                      <a:r>
                        <a:rPr lang="en-US" sz="1800" b="1" dirty="0"/>
                        <a:t>eye and mouth regions</a:t>
                      </a:r>
                      <a:r>
                        <a:rPr lang="en-US" sz="1800" dirty="0"/>
                        <a:t> using </a:t>
                      </a:r>
                      <a:r>
                        <a:rPr lang="en-US" sz="1800" b="1" dirty="0" err="1"/>
                        <a:t>dlib</a:t>
                      </a:r>
                      <a:r>
                        <a:rPr lang="en-US" sz="1800" dirty="0"/>
                        <a:t> on an </a:t>
                      </a:r>
                      <a:r>
                        <a:rPr lang="en-US" sz="1800" b="1" dirty="0"/>
                        <a:t>NVIDIA </a:t>
                      </a:r>
                      <a:r>
                        <a:rPr lang="en-US" sz="1800" b="1" dirty="0" err="1"/>
                        <a:t>Jetson</a:t>
                      </a:r>
                      <a:r>
                        <a:rPr lang="en-US" sz="1800" b="1" dirty="0"/>
                        <a:t> </a:t>
                      </a:r>
                      <a:r>
                        <a:rPr lang="en-US" sz="1800" b="1" dirty="0" err="1"/>
                        <a:t>Nano</a:t>
                      </a:r>
                      <a:r>
                        <a:rPr lang="en-US" sz="1800" dirty="0"/>
                        <a:t> embedded board.</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sz="1800" dirty="0"/>
                        <a:t>Achieved </a:t>
                      </a:r>
                      <a:r>
                        <a:rPr lang="en-US" sz="1800" b="1" dirty="0"/>
                        <a:t>93.6–96% accuracy</a:t>
                      </a:r>
                      <a:r>
                        <a:rPr lang="en-US" sz="1800" dirty="0"/>
                        <a:t> across fatigue classes; worked in real-time at ~6 FPS on </a:t>
                      </a:r>
                      <a:r>
                        <a:rPr lang="en-US" sz="1800" dirty="0" err="1"/>
                        <a:t>Jetson</a:t>
                      </a:r>
                      <a:r>
                        <a:rPr lang="en-US" sz="1800" dirty="0"/>
                        <a:t> </a:t>
                      </a:r>
                      <a:r>
                        <a:rPr lang="en-US" sz="1800" dirty="0" err="1"/>
                        <a:t>Nano</a:t>
                      </a:r>
                      <a:r>
                        <a:rPr lang="en-US" sz="1800" dirty="0"/>
                        <a:t>.</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sz="1800" dirty="0"/>
                        <a:t>Limited to fatigue detection only; small dataset; low frame rate on embedded device.</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79062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5"/>
          <p:cNvGraphicFramePr>
            <a:graphicFrameLocks noGrp="1"/>
          </p:cNvGraphicFramePr>
          <p:nvPr>
            <p:extLst>
              <p:ext uri="{D42A27DB-BD31-4B8C-83A1-F6EECF244321}">
                <p14:modId xmlns:p14="http://schemas.microsoft.com/office/powerpoint/2010/main" val="3643704066"/>
              </p:ext>
            </p:extLst>
          </p:nvPr>
        </p:nvGraphicFramePr>
        <p:xfrm>
          <a:off x="685800" y="1143000"/>
          <a:ext cx="11353800" cy="4450080"/>
        </p:xfrm>
        <a:graphic>
          <a:graphicData uri="http://schemas.openxmlformats.org/drawingml/2006/table">
            <a:tbl>
              <a:tblPr firstRow="1" bandRow="1">
                <a:tableStyleId>{2D5ABB26-0587-4C30-8999-92F81FD0307C}</a:tableStyleId>
              </a:tblPr>
              <a:tblGrid>
                <a:gridCol w="3273715">
                  <a:extLst>
                    <a:ext uri="{9D8B030D-6E8A-4147-A177-3AD203B41FA5}">
                      <a16:colId xmlns:a16="http://schemas.microsoft.com/office/drawing/2014/main" val="20000"/>
                    </a:ext>
                  </a:extLst>
                </a:gridCol>
                <a:gridCol w="2879873">
                  <a:extLst>
                    <a:ext uri="{9D8B030D-6E8A-4147-A177-3AD203B41FA5}">
                      <a16:colId xmlns:a16="http://schemas.microsoft.com/office/drawing/2014/main" val="20001"/>
                    </a:ext>
                  </a:extLst>
                </a:gridCol>
                <a:gridCol w="2860117">
                  <a:extLst>
                    <a:ext uri="{9D8B030D-6E8A-4147-A177-3AD203B41FA5}">
                      <a16:colId xmlns:a16="http://schemas.microsoft.com/office/drawing/2014/main" val="20002"/>
                    </a:ext>
                  </a:extLst>
                </a:gridCol>
                <a:gridCol w="2340095">
                  <a:extLst>
                    <a:ext uri="{9D8B030D-6E8A-4147-A177-3AD203B41FA5}">
                      <a16:colId xmlns:a16="http://schemas.microsoft.com/office/drawing/2014/main" val="20003"/>
                    </a:ext>
                  </a:extLst>
                </a:gridCol>
              </a:tblGrid>
              <a:tr h="609600">
                <a:tc>
                  <a:txBody>
                    <a:bodyPr/>
                    <a:lstStyle/>
                    <a:p>
                      <a:pPr marL="91440" marR="104775">
                        <a:lnSpc>
                          <a:spcPct val="100000"/>
                        </a:lnSpc>
                        <a:spcBef>
                          <a:spcPts val="244"/>
                        </a:spcBef>
                      </a:pPr>
                      <a:r>
                        <a:rPr sz="1800" b="1" dirty="0">
                          <a:solidFill>
                            <a:srgbClr val="FFFFFF"/>
                          </a:solidFill>
                          <a:latin typeface="Calibri"/>
                          <a:cs typeface="Calibri"/>
                        </a:rPr>
                        <a:t>Details</a:t>
                      </a:r>
                      <a:r>
                        <a:rPr sz="1800" b="1" spc="-70" dirty="0">
                          <a:solidFill>
                            <a:srgbClr val="FFFFFF"/>
                          </a:solidFill>
                          <a:latin typeface="Calibri"/>
                          <a:cs typeface="Calibri"/>
                        </a:rPr>
                        <a:t> </a:t>
                      </a:r>
                      <a:r>
                        <a:rPr sz="1800" b="1" dirty="0">
                          <a:solidFill>
                            <a:srgbClr val="FFFFFF"/>
                          </a:solidFill>
                          <a:latin typeface="Calibri"/>
                          <a:cs typeface="Calibri"/>
                        </a:rPr>
                        <a:t>of</a:t>
                      </a:r>
                      <a:r>
                        <a:rPr sz="1800" b="1" spc="-35" dirty="0">
                          <a:solidFill>
                            <a:srgbClr val="FFFFFF"/>
                          </a:solidFill>
                          <a:latin typeface="Calibri"/>
                          <a:cs typeface="Calibri"/>
                        </a:rPr>
                        <a:t> </a:t>
                      </a:r>
                      <a:r>
                        <a:rPr sz="1800" b="1" spc="-10" dirty="0">
                          <a:solidFill>
                            <a:srgbClr val="FFFFFF"/>
                          </a:solidFill>
                          <a:latin typeface="Calibri"/>
                          <a:cs typeface="Calibri"/>
                        </a:rPr>
                        <a:t>Paper- </a:t>
                      </a:r>
                      <a:r>
                        <a:rPr sz="1800" b="1" dirty="0">
                          <a:solidFill>
                            <a:srgbClr val="FFFFFF"/>
                          </a:solidFill>
                          <a:latin typeface="Calibri"/>
                          <a:cs typeface="Calibri"/>
                        </a:rPr>
                        <a:t>Title,</a:t>
                      </a:r>
                      <a:r>
                        <a:rPr sz="1800" b="1" spc="-20" dirty="0">
                          <a:solidFill>
                            <a:srgbClr val="FFFFFF"/>
                          </a:solidFill>
                          <a:latin typeface="Calibri"/>
                          <a:cs typeface="Calibri"/>
                        </a:rPr>
                        <a:t> </a:t>
                      </a:r>
                      <a:r>
                        <a:rPr sz="1800" b="1" spc="-10" dirty="0">
                          <a:solidFill>
                            <a:srgbClr val="FFFFFF"/>
                          </a:solidFill>
                          <a:latin typeface="Calibri"/>
                          <a:cs typeface="Calibri"/>
                        </a:rPr>
                        <a:t>author, conference</a:t>
                      </a:r>
                      <a:r>
                        <a:rPr sz="1800" b="1" spc="-40" dirty="0">
                          <a:solidFill>
                            <a:srgbClr val="FFFFFF"/>
                          </a:solidFill>
                          <a:latin typeface="Calibri"/>
                          <a:cs typeface="Calibri"/>
                        </a:rPr>
                        <a:t> </a:t>
                      </a:r>
                      <a:r>
                        <a:rPr sz="1800" b="1" spc="-10" dirty="0">
                          <a:solidFill>
                            <a:srgbClr val="FFFFFF"/>
                          </a:solidFill>
                          <a:latin typeface="Calibri"/>
                          <a:cs typeface="Calibri"/>
                        </a:rPr>
                        <a:t>/Journal</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44"/>
                        </a:spcBef>
                      </a:pPr>
                      <a:r>
                        <a:rPr sz="1800" b="1" dirty="0">
                          <a:solidFill>
                            <a:srgbClr val="FFFFFF"/>
                          </a:solidFill>
                          <a:latin typeface="Calibri"/>
                          <a:cs typeface="Calibri"/>
                        </a:rPr>
                        <a:t>Methodology</a:t>
                      </a:r>
                      <a:r>
                        <a:rPr sz="1800" b="1" spc="-45" dirty="0">
                          <a:solidFill>
                            <a:srgbClr val="FFFFFF"/>
                          </a:solidFill>
                          <a:latin typeface="Calibri"/>
                          <a:cs typeface="Calibri"/>
                        </a:rPr>
                        <a:t> </a:t>
                      </a:r>
                      <a:r>
                        <a:rPr sz="1800" b="1" spc="-20" dirty="0">
                          <a:solidFill>
                            <a:srgbClr val="FFFFFF"/>
                          </a:solidFill>
                          <a:latin typeface="Calibri"/>
                          <a:cs typeface="Calibri"/>
                        </a:rPr>
                        <a:t>Used</a:t>
                      </a:r>
                      <a:endParaRPr sz="180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Result</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Limitations</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1584054">
                <a:tc>
                  <a:txBody>
                    <a:bodyPr/>
                    <a:lstStyle/>
                    <a:p>
                      <a:pPr>
                        <a:lnSpc>
                          <a:spcPct val="100000"/>
                        </a:lnSpc>
                      </a:pPr>
                      <a:r>
                        <a:rPr lang="en-US" sz="1800" b="1" dirty="0"/>
                        <a:t>Comprehensive Study of Driver Behavior Monitoring Systems Using Computer Vision and Machine Learning Techniques</a:t>
                      </a:r>
                      <a:br>
                        <a:rPr lang="en-US" sz="1800" dirty="0"/>
                      </a:br>
                      <a:r>
                        <a:rPr lang="en-US" sz="1800" i="1" dirty="0"/>
                        <a:t>(</a:t>
                      </a:r>
                      <a:r>
                        <a:rPr lang="en-US" sz="1800" i="1" dirty="0" err="1"/>
                        <a:t>Fangming</a:t>
                      </a:r>
                      <a:r>
                        <a:rPr lang="en-US" sz="1800" i="1" dirty="0"/>
                        <a:t> Qu et al., Journal of Big Data, 2024)</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sz="1800" dirty="0"/>
                        <a:t>A </a:t>
                      </a:r>
                      <a:r>
                        <a:rPr lang="en-US" sz="1800" b="1" dirty="0"/>
                        <a:t>survey study</a:t>
                      </a:r>
                      <a:r>
                        <a:rPr lang="en-US" sz="1800" dirty="0"/>
                        <a:t> reviewing AI and ML techniques (CNNs, RNNs, hybrid systems) for driver monitoring. Covers in-cabin facial, hand, and body posture detection using computer vision.</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sz="1800" dirty="0"/>
                        <a:t>Provided a </a:t>
                      </a:r>
                      <a:r>
                        <a:rPr lang="en-US" sz="1800" b="1" dirty="0"/>
                        <a:t>taxonomy of techniques and datasets</a:t>
                      </a:r>
                      <a:r>
                        <a:rPr lang="en-US" sz="1800" dirty="0"/>
                        <a:t>; identified hybrid (CV + ML) systems as most promising.</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sz="1800" dirty="0"/>
                        <a:t>No implementation; purely theoretical; lacks quantitative evaluation.</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1581343">
                <a:tc>
                  <a:txBody>
                    <a:bodyPr/>
                    <a:lstStyle/>
                    <a:p>
                      <a:pPr>
                        <a:lnSpc>
                          <a:spcPct val="100000"/>
                        </a:lnSpc>
                      </a:pPr>
                      <a:r>
                        <a:rPr lang="en-US" b="1" dirty="0"/>
                        <a:t>Deep Learning Model for Driver Behavior Detection in Cyber-Physical System-Based Intelligent Transport Systems</a:t>
                      </a:r>
                      <a:br>
                        <a:rPr lang="en-US" dirty="0"/>
                      </a:br>
                      <a:r>
                        <a:rPr lang="en-US" i="1" dirty="0"/>
                        <a:t>(</a:t>
                      </a:r>
                      <a:r>
                        <a:rPr lang="en-US" i="1" dirty="0" err="1"/>
                        <a:t>Brij</a:t>
                      </a:r>
                      <a:r>
                        <a:rPr lang="en-US" i="1" dirty="0"/>
                        <a:t> B. Gupta et al., IEEE Access, 2024)</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Developed a </a:t>
                      </a:r>
                      <a:r>
                        <a:rPr lang="en-US" b="1" dirty="0"/>
                        <a:t>CNN-based deep learning model</a:t>
                      </a:r>
                      <a:r>
                        <a:rPr lang="en-US" dirty="0"/>
                        <a:t> integrated into </a:t>
                      </a:r>
                      <a:r>
                        <a:rPr lang="en-US" b="1" dirty="0"/>
                        <a:t>Cyber-Physical Systems (CPS)</a:t>
                      </a:r>
                      <a:r>
                        <a:rPr lang="en-US" dirty="0"/>
                        <a:t> for detecting fatigue, yawning, and eye states within </a:t>
                      </a:r>
                      <a:r>
                        <a:rPr lang="en-US" b="1" dirty="0"/>
                        <a:t>Intelligent Transport Systems (ITS)</a:t>
                      </a:r>
                      <a:r>
                        <a:rPr lang="en-US" dirty="0"/>
                        <a:t>.</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Achieved </a:t>
                      </a:r>
                      <a:r>
                        <a:rPr lang="en-US" b="1" dirty="0"/>
                        <a:t>94% accuracy</a:t>
                      </a:r>
                      <a:r>
                        <a:rPr lang="en-US" dirty="0"/>
                        <a:t>; validated potential for real-time monitoring in CPS-enabled ITS.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Requires large labeled datasets; high computation for training; needs optimization for embedded use.</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5"/>
          <p:cNvGraphicFramePr>
            <a:graphicFrameLocks noGrp="1"/>
          </p:cNvGraphicFramePr>
          <p:nvPr>
            <p:extLst>
              <p:ext uri="{D42A27DB-BD31-4B8C-83A1-F6EECF244321}">
                <p14:modId xmlns:p14="http://schemas.microsoft.com/office/powerpoint/2010/main" val="2391839727"/>
              </p:ext>
            </p:extLst>
          </p:nvPr>
        </p:nvGraphicFramePr>
        <p:xfrm>
          <a:off x="533400" y="1143000"/>
          <a:ext cx="11353800" cy="4556242"/>
        </p:xfrm>
        <a:graphic>
          <a:graphicData uri="http://schemas.openxmlformats.org/drawingml/2006/table">
            <a:tbl>
              <a:tblPr firstRow="1" bandRow="1">
                <a:tableStyleId>{2D5ABB26-0587-4C30-8999-92F81FD0307C}</a:tableStyleId>
              </a:tblPr>
              <a:tblGrid>
                <a:gridCol w="3273715">
                  <a:extLst>
                    <a:ext uri="{9D8B030D-6E8A-4147-A177-3AD203B41FA5}">
                      <a16:colId xmlns:a16="http://schemas.microsoft.com/office/drawing/2014/main" val="20000"/>
                    </a:ext>
                  </a:extLst>
                </a:gridCol>
                <a:gridCol w="2879873">
                  <a:extLst>
                    <a:ext uri="{9D8B030D-6E8A-4147-A177-3AD203B41FA5}">
                      <a16:colId xmlns:a16="http://schemas.microsoft.com/office/drawing/2014/main" val="20001"/>
                    </a:ext>
                  </a:extLst>
                </a:gridCol>
                <a:gridCol w="2860117">
                  <a:extLst>
                    <a:ext uri="{9D8B030D-6E8A-4147-A177-3AD203B41FA5}">
                      <a16:colId xmlns:a16="http://schemas.microsoft.com/office/drawing/2014/main" val="20002"/>
                    </a:ext>
                  </a:extLst>
                </a:gridCol>
                <a:gridCol w="2340095">
                  <a:extLst>
                    <a:ext uri="{9D8B030D-6E8A-4147-A177-3AD203B41FA5}">
                      <a16:colId xmlns:a16="http://schemas.microsoft.com/office/drawing/2014/main" val="20003"/>
                    </a:ext>
                  </a:extLst>
                </a:gridCol>
              </a:tblGrid>
              <a:tr h="533400">
                <a:tc>
                  <a:txBody>
                    <a:bodyPr/>
                    <a:lstStyle/>
                    <a:p>
                      <a:pPr marL="91440" marR="104775">
                        <a:lnSpc>
                          <a:spcPct val="100000"/>
                        </a:lnSpc>
                        <a:spcBef>
                          <a:spcPts val="244"/>
                        </a:spcBef>
                      </a:pPr>
                      <a:r>
                        <a:rPr sz="1800" b="1" dirty="0">
                          <a:solidFill>
                            <a:srgbClr val="FFFFFF"/>
                          </a:solidFill>
                          <a:latin typeface="Calibri"/>
                          <a:cs typeface="Calibri"/>
                        </a:rPr>
                        <a:t>Details</a:t>
                      </a:r>
                      <a:r>
                        <a:rPr sz="1800" b="1" spc="-70" dirty="0">
                          <a:solidFill>
                            <a:srgbClr val="FFFFFF"/>
                          </a:solidFill>
                          <a:latin typeface="Calibri"/>
                          <a:cs typeface="Calibri"/>
                        </a:rPr>
                        <a:t> </a:t>
                      </a:r>
                      <a:r>
                        <a:rPr sz="1800" b="1" dirty="0">
                          <a:solidFill>
                            <a:srgbClr val="FFFFFF"/>
                          </a:solidFill>
                          <a:latin typeface="Calibri"/>
                          <a:cs typeface="Calibri"/>
                        </a:rPr>
                        <a:t>of</a:t>
                      </a:r>
                      <a:r>
                        <a:rPr sz="1800" b="1" spc="-35" dirty="0">
                          <a:solidFill>
                            <a:srgbClr val="FFFFFF"/>
                          </a:solidFill>
                          <a:latin typeface="Calibri"/>
                          <a:cs typeface="Calibri"/>
                        </a:rPr>
                        <a:t> </a:t>
                      </a:r>
                      <a:r>
                        <a:rPr sz="1800" b="1" spc="-10" dirty="0">
                          <a:solidFill>
                            <a:srgbClr val="FFFFFF"/>
                          </a:solidFill>
                          <a:latin typeface="Calibri"/>
                          <a:cs typeface="Calibri"/>
                        </a:rPr>
                        <a:t>Paper- </a:t>
                      </a:r>
                      <a:r>
                        <a:rPr sz="1800" b="1" dirty="0">
                          <a:solidFill>
                            <a:srgbClr val="FFFFFF"/>
                          </a:solidFill>
                          <a:latin typeface="Calibri"/>
                          <a:cs typeface="Calibri"/>
                        </a:rPr>
                        <a:t>Title,</a:t>
                      </a:r>
                      <a:r>
                        <a:rPr sz="1800" b="1" spc="-20" dirty="0">
                          <a:solidFill>
                            <a:srgbClr val="FFFFFF"/>
                          </a:solidFill>
                          <a:latin typeface="Calibri"/>
                          <a:cs typeface="Calibri"/>
                        </a:rPr>
                        <a:t> </a:t>
                      </a:r>
                      <a:r>
                        <a:rPr sz="1800" b="1" spc="-10" dirty="0">
                          <a:solidFill>
                            <a:srgbClr val="FFFFFF"/>
                          </a:solidFill>
                          <a:latin typeface="Calibri"/>
                          <a:cs typeface="Calibri"/>
                        </a:rPr>
                        <a:t>author, conference</a:t>
                      </a:r>
                      <a:r>
                        <a:rPr sz="1800" b="1" spc="-40" dirty="0">
                          <a:solidFill>
                            <a:srgbClr val="FFFFFF"/>
                          </a:solidFill>
                          <a:latin typeface="Calibri"/>
                          <a:cs typeface="Calibri"/>
                        </a:rPr>
                        <a:t> </a:t>
                      </a:r>
                      <a:r>
                        <a:rPr sz="1800" b="1" spc="-10" dirty="0">
                          <a:solidFill>
                            <a:srgbClr val="FFFFFF"/>
                          </a:solidFill>
                          <a:latin typeface="Calibri"/>
                          <a:cs typeface="Calibri"/>
                        </a:rPr>
                        <a:t>/Journal</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44"/>
                        </a:spcBef>
                      </a:pPr>
                      <a:r>
                        <a:rPr sz="1800" b="1" dirty="0">
                          <a:solidFill>
                            <a:srgbClr val="FFFFFF"/>
                          </a:solidFill>
                          <a:latin typeface="Calibri"/>
                          <a:cs typeface="Calibri"/>
                        </a:rPr>
                        <a:t>Methodology</a:t>
                      </a:r>
                      <a:r>
                        <a:rPr sz="1800" b="1" spc="-45" dirty="0">
                          <a:solidFill>
                            <a:srgbClr val="FFFFFF"/>
                          </a:solidFill>
                          <a:latin typeface="Calibri"/>
                          <a:cs typeface="Calibri"/>
                        </a:rPr>
                        <a:t> </a:t>
                      </a:r>
                      <a:r>
                        <a:rPr sz="1800" b="1" spc="-20" dirty="0">
                          <a:solidFill>
                            <a:srgbClr val="FFFFFF"/>
                          </a:solidFill>
                          <a:latin typeface="Calibri"/>
                          <a:cs typeface="Calibri"/>
                        </a:rPr>
                        <a:t>Used</a:t>
                      </a:r>
                      <a:endParaRPr sz="180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Result</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Limitations</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1988244">
                <a:tc>
                  <a:txBody>
                    <a:bodyPr/>
                    <a:lstStyle/>
                    <a:p>
                      <a:pPr>
                        <a:lnSpc>
                          <a:spcPct val="100000"/>
                        </a:lnSpc>
                      </a:pPr>
                      <a:r>
                        <a:rPr lang="en-US" b="1" dirty="0"/>
                        <a:t>Naturalistic Driving Data-Based Anomalous Driving Behavior Detection Using </a:t>
                      </a:r>
                      <a:r>
                        <a:rPr lang="en-US" b="1" dirty="0" err="1"/>
                        <a:t>Hypertuned</a:t>
                      </a:r>
                      <a:r>
                        <a:rPr lang="en-US" b="1" dirty="0"/>
                        <a:t> Deep </a:t>
                      </a:r>
                      <a:r>
                        <a:rPr lang="en-US" b="1" dirty="0" err="1"/>
                        <a:t>Autoencoders</a:t>
                      </a:r>
                      <a:br>
                        <a:rPr lang="en-US" dirty="0"/>
                      </a:br>
                      <a:r>
                        <a:rPr lang="en-US" i="1" dirty="0"/>
                        <a:t>(</a:t>
                      </a:r>
                      <a:r>
                        <a:rPr lang="en-US" i="1" dirty="0" err="1"/>
                        <a:t>Shafqat</a:t>
                      </a:r>
                      <a:r>
                        <a:rPr lang="en-US" i="1" dirty="0"/>
                        <a:t> Abbas et al., Electronics, 2023)</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dirty="0"/>
                        <a:t>Used </a:t>
                      </a:r>
                      <a:r>
                        <a:rPr lang="en-US" b="1" dirty="0"/>
                        <a:t>Modified Z-score–based Deep </a:t>
                      </a:r>
                      <a:r>
                        <a:rPr lang="en-US" b="1" dirty="0" err="1"/>
                        <a:t>Autoencoder</a:t>
                      </a:r>
                      <a:r>
                        <a:rPr lang="en-US" dirty="0"/>
                        <a:t> to detect anomalies in </a:t>
                      </a:r>
                      <a:r>
                        <a:rPr lang="en-US" b="1" dirty="0"/>
                        <a:t>NGSIM vehicle trajectory data</a:t>
                      </a:r>
                      <a:r>
                        <a:rPr lang="en-US" dirty="0"/>
                        <a:t>; focused on unsupervised anomaly detection.</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dirty="0"/>
                        <a:t>Detected </a:t>
                      </a:r>
                      <a:r>
                        <a:rPr lang="en-US" b="1" dirty="0"/>
                        <a:t>7.86% anomalies (96.31% accuracy)</a:t>
                      </a:r>
                      <a:r>
                        <a:rPr lang="en-US" dirty="0"/>
                        <a:t> without early stopping; </a:t>
                      </a:r>
                      <a:r>
                        <a:rPr lang="en-US" b="1" dirty="0"/>
                        <a:t>95.25%</a:t>
                      </a:r>
                      <a:r>
                        <a:rPr lang="en-US" dirty="0"/>
                        <a:t> with early stopping.</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dirty="0"/>
                        <a:t>Focused only on vehicle trajectory data; limited to simulated (not real-time) environments.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1988244">
                <a:tc>
                  <a:txBody>
                    <a:bodyPr/>
                    <a:lstStyle/>
                    <a:p>
                      <a:pPr>
                        <a:lnSpc>
                          <a:spcPct val="100000"/>
                        </a:lnSpc>
                      </a:pPr>
                      <a:r>
                        <a:rPr lang="en-US" b="1" dirty="0"/>
                        <a:t>An Enhanced Deep Neural Network Model for Detection of Anomalous Behavior of Drivers in Road Traffic</a:t>
                      </a:r>
                      <a:br>
                        <a:rPr lang="en-US" dirty="0"/>
                      </a:br>
                      <a:r>
                        <a:rPr lang="en-US" i="1" dirty="0"/>
                        <a:t>(2024, Wiley Journal of Surveillance)</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Designed a </a:t>
                      </a:r>
                      <a:r>
                        <a:rPr lang="en-US" b="1" dirty="0"/>
                        <a:t>hybrid deep model</a:t>
                      </a:r>
                      <a:r>
                        <a:rPr lang="en-US" dirty="0"/>
                        <a:t> using </a:t>
                      </a:r>
                      <a:r>
                        <a:rPr lang="en-US" b="1" dirty="0" err="1"/>
                        <a:t>MobileNet</a:t>
                      </a:r>
                      <a:r>
                        <a:rPr lang="en-US" b="1" dirty="0"/>
                        <a:t> + ResNet50 + VGG19</a:t>
                      </a:r>
                      <a:r>
                        <a:rPr lang="en-US" dirty="0"/>
                        <a:t> with </a:t>
                      </a:r>
                      <a:r>
                        <a:rPr lang="en-US" b="1" dirty="0"/>
                        <a:t>YOLOv3</a:t>
                      </a:r>
                      <a:r>
                        <a:rPr lang="en-US" dirty="0"/>
                        <a:t> for video-based detection of </a:t>
                      </a:r>
                      <a:r>
                        <a:rPr lang="en-US" dirty="0" err="1"/>
                        <a:t>overspeeding</a:t>
                      </a:r>
                      <a:r>
                        <a:rPr lang="en-US" dirty="0"/>
                        <a:t>, no-stopping, spacing, and signal violations.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Achieved </a:t>
                      </a:r>
                      <a:r>
                        <a:rPr lang="en-US" b="1" dirty="0"/>
                        <a:t>95% accuracy</a:t>
                      </a:r>
                      <a:r>
                        <a:rPr lang="en-US" dirty="0"/>
                        <a:t> across four anomaly types using 60,000+ video frames.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Limited anomaly categories; requires large annotated video data; not yet real-time.</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101936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5F170-28C6-0FE5-4F24-BDD1B3B3AE33}"/>
            </a:ext>
          </a:extLst>
        </p:cNvPr>
        <p:cNvGrpSpPr/>
        <p:nvPr/>
      </p:nvGrpSpPr>
      <p:grpSpPr>
        <a:xfrm>
          <a:off x="0" y="0"/>
          <a:ext cx="0" cy="0"/>
          <a:chOff x="0" y="0"/>
          <a:chExt cx="0" cy="0"/>
        </a:xfrm>
      </p:grpSpPr>
      <p:graphicFrame>
        <p:nvGraphicFramePr>
          <p:cNvPr id="5" name="object 5">
            <a:extLst>
              <a:ext uri="{FF2B5EF4-FFF2-40B4-BE49-F238E27FC236}">
                <a16:creationId xmlns:a16="http://schemas.microsoft.com/office/drawing/2014/main" id="{134DE965-2C87-89C9-7161-8F1F56BEBE80}"/>
              </a:ext>
            </a:extLst>
          </p:cNvPr>
          <p:cNvGraphicFramePr>
            <a:graphicFrameLocks noGrp="1"/>
          </p:cNvGraphicFramePr>
          <p:nvPr>
            <p:extLst>
              <p:ext uri="{D42A27DB-BD31-4B8C-83A1-F6EECF244321}">
                <p14:modId xmlns:p14="http://schemas.microsoft.com/office/powerpoint/2010/main" val="1781470652"/>
              </p:ext>
            </p:extLst>
          </p:nvPr>
        </p:nvGraphicFramePr>
        <p:xfrm>
          <a:off x="533400" y="1143000"/>
          <a:ext cx="11353800" cy="4762558"/>
        </p:xfrm>
        <a:graphic>
          <a:graphicData uri="http://schemas.openxmlformats.org/drawingml/2006/table">
            <a:tbl>
              <a:tblPr firstRow="1" bandRow="1">
                <a:tableStyleId>{2D5ABB26-0587-4C30-8999-92F81FD0307C}</a:tableStyleId>
              </a:tblPr>
              <a:tblGrid>
                <a:gridCol w="3273715">
                  <a:extLst>
                    <a:ext uri="{9D8B030D-6E8A-4147-A177-3AD203B41FA5}">
                      <a16:colId xmlns:a16="http://schemas.microsoft.com/office/drawing/2014/main" val="20000"/>
                    </a:ext>
                  </a:extLst>
                </a:gridCol>
                <a:gridCol w="2898485">
                  <a:extLst>
                    <a:ext uri="{9D8B030D-6E8A-4147-A177-3AD203B41FA5}">
                      <a16:colId xmlns:a16="http://schemas.microsoft.com/office/drawing/2014/main" val="20001"/>
                    </a:ext>
                  </a:extLst>
                </a:gridCol>
                <a:gridCol w="2841505">
                  <a:extLst>
                    <a:ext uri="{9D8B030D-6E8A-4147-A177-3AD203B41FA5}">
                      <a16:colId xmlns:a16="http://schemas.microsoft.com/office/drawing/2014/main" val="20002"/>
                    </a:ext>
                  </a:extLst>
                </a:gridCol>
                <a:gridCol w="2340095">
                  <a:extLst>
                    <a:ext uri="{9D8B030D-6E8A-4147-A177-3AD203B41FA5}">
                      <a16:colId xmlns:a16="http://schemas.microsoft.com/office/drawing/2014/main" val="20003"/>
                    </a:ext>
                  </a:extLst>
                </a:gridCol>
              </a:tblGrid>
              <a:tr h="533400">
                <a:tc>
                  <a:txBody>
                    <a:bodyPr/>
                    <a:lstStyle/>
                    <a:p>
                      <a:pPr marL="91440" marR="104775">
                        <a:lnSpc>
                          <a:spcPct val="100000"/>
                        </a:lnSpc>
                        <a:spcBef>
                          <a:spcPts val="244"/>
                        </a:spcBef>
                      </a:pPr>
                      <a:r>
                        <a:rPr sz="1800" b="1" dirty="0">
                          <a:solidFill>
                            <a:srgbClr val="FFFFFF"/>
                          </a:solidFill>
                          <a:latin typeface="Calibri"/>
                          <a:cs typeface="Calibri"/>
                        </a:rPr>
                        <a:t>Details</a:t>
                      </a:r>
                      <a:r>
                        <a:rPr sz="1800" b="1" spc="-70" dirty="0">
                          <a:solidFill>
                            <a:srgbClr val="FFFFFF"/>
                          </a:solidFill>
                          <a:latin typeface="Calibri"/>
                          <a:cs typeface="Calibri"/>
                        </a:rPr>
                        <a:t> </a:t>
                      </a:r>
                      <a:r>
                        <a:rPr sz="1800" b="1" dirty="0">
                          <a:solidFill>
                            <a:srgbClr val="FFFFFF"/>
                          </a:solidFill>
                          <a:latin typeface="Calibri"/>
                          <a:cs typeface="Calibri"/>
                        </a:rPr>
                        <a:t>of</a:t>
                      </a:r>
                      <a:r>
                        <a:rPr sz="1800" b="1" spc="-35" dirty="0">
                          <a:solidFill>
                            <a:srgbClr val="FFFFFF"/>
                          </a:solidFill>
                          <a:latin typeface="Calibri"/>
                          <a:cs typeface="Calibri"/>
                        </a:rPr>
                        <a:t> </a:t>
                      </a:r>
                      <a:r>
                        <a:rPr sz="1800" b="1" spc="-10" dirty="0">
                          <a:solidFill>
                            <a:srgbClr val="FFFFFF"/>
                          </a:solidFill>
                          <a:latin typeface="Calibri"/>
                          <a:cs typeface="Calibri"/>
                        </a:rPr>
                        <a:t>Paper- </a:t>
                      </a:r>
                      <a:r>
                        <a:rPr sz="1800" b="1" dirty="0">
                          <a:solidFill>
                            <a:srgbClr val="FFFFFF"/>
                          </a:solidFill>
                          <a:latin typeface="Calibri"/>
                          <a:cs typeface="Calibri"/>
                        </a:rPr>
                        <a:t>Title,</a:t>
                      </a:r>
                      <a:r>
                        <a:rPr sz="1800" b="1" spc="-20" dirty="0">
                          <a:solidFill>
                            <a:srgbClr val="FFFFFF"/>
                          </a:solidFill>
                          <a:latin typeface="Calibri"/>
                          <a:cs typeface="Calibri"/>
                        </a:rPr>
                        <a:t> </a:t>
                      </a:r>
                      <a:r>
                        <a:rPr sz="1800" b="1" spc="-10" dirty="0">
                          <a:solidFill>
                            <a:srgbClr val="FFFFFF"/>
                          </a:solidFill>
                          <a:latin typeface="Calibri"/>
                          <a:cs typeface="Calibri"/>
                        </a:rPr>
                        <a:t>author, conference</a:t>
                      </a:r>
                      <a:r>
                        <a:rPr sz="1800" b="1" spc="-40" dirty="0">
                          <a:solidFill>
                            <a:srgbClr val="FFFFFF"/>
                          </a:solidFill>
                          <a:latin typeface="Calibri"/>
                          <a:cs typeface="Calibri"/>
                        </a:rPr>
                        <a:t> </a:t>
                      </a:r>
                      <a:r>
                        <a:rPr sz="1800" b="1" spc="-10" dirty="0">
                          <a:solidFill>
                            <a:srgbClr val="FFFFFF"/>
                          </a:solidFill>
                          <a:latin typeface="Calibri"/>
                          <a:cs typeface="Calibri"/>
                        </a:rPr>
                        <a:t>/Journal</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44"/>
                        </a:spcBef>
                      </a:pPr>
                      <a:r>
                        <a:rPr sz="1800" b="1" dirty="0">
                          <a:solidFill>
                            <a:srgbClr val="FFFFFF"/>
                          </a:solidFill>
                          <a:latin typeface="Calibri"/>
                          <a:cs typeface="Calibri"/>
                        </a:rPr>
                        <a:t>Methodology</a:t>
                      </a:r>
                      <a:r>
                        <a:rPr sz="1800" b="1" spc="-45" dirty="0">
                          <a:solidFill>
                            <a:srgbClr val="FFFFFF"/>
                          </a:solidFill>
                          <a:latin typeface="Calibri"/>
                          <a:cs typeface="Calibri"/>
                        </a:rPr>
                        <a:t> </a:t>
                      </a:r>
                      <a:r>
                        <a:rPr sz="1800" b="1" spc="-20" dirty="0">
                          <a:solidFill>
                            <a:srgbClr val="FFFFFF"/>
                          </a:solidFill>
                          <a:latin typeface="Calibri"/>
                          <a:cs typeface="Calibri"/>
                        </a:rPr>
                        <a:t>Used</a:t>
                      </a:r>
                      <a:endParaRPr sz="180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Result</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Limitations</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471C4"/>
                    </a:solidFill>
                  </a:tcPr>
                </a:tc>
                <a:extLst>
                  <a:ext uri="{0D108BD9-81ED-4DB2-BD59-A6C34878D82A}">
                    <a16:rowId xmlns:a16="http://schemas.microsoft.com/office/drawing/2014/main" val="10000"/>
                  </a:ext>
                </a:extLst>
              </a:tr>
              <a:tr h="1988244">
                <a:tc>
                  <a:txBody>
                    <a:bodyPr/>
                    <a:lstStyle/>
                    <a:p>
                      <a:r>
                        <a:rPr lang="en-IN" b="1" dirty="0"/>
                        <a:t>Driver Drowsiness Detection Using CNN-LSTM Hybrid Deep Learning Model</a:t>
                      </a:r>
                    </a:p>
                    <a:p>
                      <a:r>
                        <a:rPr lang="en-IN" i="1" dirty="0"/>
                        <a:t>(R. Kumar &amp; S. Gupta, IEEE Sensors Journal, 2023)</a:t>
                      </a:r>
                      <a:endParaRPr lang="en-IN" dirty="0"/>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IN" dirty="0"/>
                        <a:t>Developed a hybrid </a:t>
                      </a:r>
                      <a:r>
                        <a:rPr lang="en-IN" b="1" dirty="0"/>
                        <a:t>CNN-LSTM</a:t>
                      </a:r>
                      <a:r>
                        <a:rPr lang="en-IN" dirty="0"/>
                        <a:t> model to capture spatial features (CNN) and temporal eye-blink/yawn sequences (LSTM). Used </a:t>
                      </a:r>
                      <a:r>
                        <a:rPr lang="en-IN" b="1" dirty="0"/>
                        <a:t>NTHU Drowsiness Dataset</a:t>
                      </a:r>
                      <a:r>
                        <a:rPr lang="en-IN" dirty="0"/>
                        <a:t> with frame extraction + sequence </a:t>
                      </a:r>
                      <a:r>
                        <a:rPr lang="en-IN" dirty="0" err="1"/>
                        <a:t>modeling</a:t>
                      </a:r>
                      <a:r>
                        <a:rPr lang="en-IN" dirty="0"/>
                        <a:t>.</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dirty="0"/>
                        <a:t>Achieved </a:t>
                      </a:r>
                      <a:r>
                        <a:rPr lang="en-US" b="1" dirty="0"/>
                        <a:t>96.7% accuracy</a:t>
                      </a:r>
                      <a:r>
                        <a:rPr lang="en-US" dirty="0"/>
                        <a:t> for multi-class drowsiness; strong performance on long-blink and yawning sequences.</a:t>
                      </a:r>
                      <a:endParaRPr sz="1800" dirty="0">
                        <a:latin typeface="Times New Roman"/>
                        <a:cs typeface="Times New Roman"/>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CFD4EA"/>
                    </a:solidFill>
                  </a:tcPr>
                </a:tc>
                <a:tc>
                  <a:txBody>
                    <a:bodyPr/>
                    <a:lstStyle/>
                    <a:p>
                      <a:pPr>
                        <a:buNone/>
                      </a:pPr>
                      <a:r>
                        <a:rPr lang="en-US" dirty="0"/>
                        <a:t>Requires long continuous video data; high training time; reduced accuracy in low-light environments.</a:t>
                      </a:r>
                    </a:p>
                  </a:txBody>
                  <a:tcPr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1988244">
                <a:tc>
                  <a:txBody>
                    <a:bodyPr/>
                    <a:lstStyle/>
                    <a:p>
                      <a:r>
                        <a:rPr lang="en-IN" b="1" dirty="0"/>
                        <a:t>Multi-Modal Driver Fatigue Detection Using Infrared + RGB Fusion</a:t>
                      </a:r>
                    </a:p>
                    <a:p>
                      <a:r>
                        <a:rPr lang="en-IN" i="1" dirty="0"/>
                        <a:t>(H. Zhang et al., IEEE Transactions on Intelligent Vehicles, 2023)</a:t>
                      </a:r>
                      <a:endParaRPr lang="en-IN" dirty="0"/>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Combined </a:t>
                      </a:r>
                      <a:r>
                        <a:rPr lang="en-US" b="1" dirty="0"/>
                        <a:t>infrared (IR)</a:t>
                      </a:r>
                      <a:r>
                        <a:rPr lang="en-US" dirty="0"/>
                        <a:t> and </a:t>
                      </a:r>
                      <a:r>
                        <a:rPr lang="en-US" b="1" dirty="0"/>
                        <a:t>RGB</a:t>
                      </a:r>
                      <a:r>
                        <a:rPr lang="en-US" dirty="0"/>
                        <a:t> video inputs using a dual-stream CNN with feature fusion. Detects micro-sleep, long blink duration, and yawning..</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Achieved </a:t>
                      </a:r>
                      <a:r>
                        <a:rPr lang="en-US" b="1" dirty="0"/>
                        <a:t>97.3% accuracy</a:t>
                      </a:r>
                      <a:r>
                        <a:rPr lang="en-US" dirty="0"/>
                        <a:t> on night-time datasets; robust in low-light</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Needs dual-camera setup; costly hardware; dataset labeling is complex.</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9EBF5"/>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035274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60642-6327-C4F2-8410-0D65337F5C5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3DCD4AF-FF80-6073-9C37-1415B981CA47}"/>
              </a:ext>
            </a:extLst>
          </p:cNvPr>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4" name="object 4">
            <a:extLst>
              <a:ext uri="{FF2B5EF4-FFF2-40B4-BE49-F238E27FC236}">
                <a16:creationId xmlns:a16="http://schemas.microsoft.com/office/drawing/2014/main" id="{0C7CA58D-C064-EB3F-C6FE-99DB8533EC1E}"/>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Literature</a:t>
            </a:r>
            <a:r>
              <a:rPr spc="-145" dirty="0"/>
              <a:t> </a:t>
            </a:r>
            <a:r>
              <a:rPr dirty="0"/>
              <a:t>Survey/Existing</a:t>
            </a:r>
            <a:r>
              <a:rPr spc="-140" dirty="0"/>
              <a:t> </a:t>
            </a:r>
            <a:r>
              <a:rPr spc="-10" dirty="0"/>
              <a:t>System</a:t>
            </a:r>
          </a:p>
        </p:txBody>
      </p:sp>
      <p:graphicFrame>
        <p:nvGraphicFramePr>
          <p:cNvPr id="5" name="object 5">
            <a:extLst>
              <a:ext uri="{FF2B5EF4-FFF2-40B4-BE49-F238E27FC236}">
                <a16:creationId xmlns:a16="http://schemas.microsoft.com/office/drawing/2014/main" id="{6B996373-B5FE-B311-7CB1-23EAEACBDFAB}"/>
              </a:ext>
            </a:extLst>
          </p:cNvPr>
          <p:cNvGraphicFramePr>
            <a:graphicFrameLocks noGrp="1"/>
          </p:cNvGraphicFramePr>
          <p:nvPr>
            <p:extLst>
              <p:ext uri="{D42A27DB-BD31-4B8C-83A1-F6EECF244321}">
                <p14:modId xmlns:p14="http://schemas.microsoft.com/office/powerpoint/2010/main" val="810362940"/>
              </p:ext>
            </p:extLst>
          </p:nvPr>
        </p:nvGraphicFramePr>
        <p:xfrm>
          <a:off x="304800" y="1828800"/>
          <a:ext cx="11582400" cy="4495800"/>
        </p:xfrm>
        <a:graphic>
          <a:graphicData uri="http://schemas.openxmlformats.org/drawingml/2006/table">
            <a:tbl>
              <a:tblPr firstRow="1" bandRow="1">
                <a:tableStyleId>{2D5ABB26-0587-4C30-8999-92F81FD0307C}</a:tableStyleId>
              </a:tblPr>
              <a:tblGrid>
                <a:gridCol w="33528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917705">
                  <a:extLst>
                    <a:ext uri="{9D8B030D-6E8A-4147-A177-3AD203B41FA5}">
                      <a16:colId xmlns:a16="http://schemas.microsoft.com/office/drawing/2014/main" val="20002"/>
                    </a:ext>
                  </a:extLst>
                </a:gridCol>
                <a:gridCol w="2340095">
                  <a:extLst>
                    <a:ext uri="{9D8B030D-6E8A-4147-A177-3AD203B41FA5}">
                      <a16:colId xmlns:a16="http://schemas.microsoft.com/office/drawing/2014/main" val="20003"/>
                    </a:ext>
                  </a:extLst>
                </a:gridCol>
              </a:tblGrid>
              <a:tr h="629642">
                <a:tc>
                  <a:txBody>
                    <a:bodyPr/>
                    <a:lstStyle/>
                    <a:p>
                      <a:pPr marL="91440" marR="104775">
                        <a:lnSpc>
                          <a:spcPct val="100000"/>
                        </a:lnSpc>
                        <a:spcBef>
                          <a:spcPts val="244"/>
                        </a:spcBef>
                      </a:pPr>
                      <a:r>
                        <a:rPr sz="1800" b="1" dirty="0">
                          <a:solidFill>
                            <a:srgbClr val="FFFFFF"/>
                          </a:solidFill>
                          <a:latin typeface="Calibri"/>
                          <a:cs typeface="Calibri"/>
                        </a:rPr>
                        <a:t>Details</a:t>
                      </a:r>
                      <a:r>
                        <a:rPr sz="1800" b="1" spc="-70" dirty="0">
                          <a:solidFill>
                            <a:srgbClr val="FFFFFF"/>
                          </a:solidFill>
                          <a:latin typeface="Calibri"/>
                          <a:cs typeface="Calibri"/>
                        </a:rPr>
                        <a:t> </a:t>
                      </a:r>
                      <a:r>
                        <a:rPr sz="1800" b="1" dirty="0">
                          <a:solidFill>
                            <a:srgbClr val="FFFFFF"/>
                          </a:solidFill>
                          <a:latin typeface="Calibri"/>
                          <a:cs typeface="Calibri"/>
                        </a:rPr>
                        <a:t>of</a:t>
                      </a:r>
                      <a:r>
                        <a:rPr sz="1800" b="1" spc="-35" dirty="0">
                          <a:solidFill>
                            <a:srgbClr val="FFFFFF"/>
                          </a:solidFill>
                          <a:latin typeface="Calibri"/>
                          <a:cs typeface="Calibri"/>
                        </a:rPr>
                        <a:t> </a:t>
                      </a:r>
                      <a:r>
                        <a:rPr sz="1800" b="1" spc="-10" dirty="0">
                          <a:solidFill>
                            <a:srgbClr val="FFFFFF"/>
                          </a:solidFill>
                          <a:latin typeface="Calibri"/>
                          <a:cs typeface="Calibri"/>
                        </a:rPr>
                        <a:t>Paper- </a:t>
                      </a:r>
                      <a:r>
                        <a:rPr sz="1800" b="1" dirty="0">
                          <a:solidFill>
                            <a:srgbClr val="FFFFFF"/>
                          </a:solidFill>
                          <a:latin typeface="Calibri"/>
                          <a:cs typeface="Calibri"/>
                        </a:rPr>
                        <a:t>Title,</a:t>
                      </a:r>
                      <a:r>
                        <a:rPr sz="1800" b="1" spc="-20" dirty="0">
                          <a:solidFill>
                            <a:srgbClr val="FFFFFF"/>
                          </a:solidFill>
                          <a:latin typeface="Calibri"/>
                          <a:cs typeface="Calibri"/>
                        </a:rPr>
                        <a:t> </a:t>
                      </a:r>
                      <a:r>
                        <a:rPr sz="1800" b="1" spc="-10" dirty="0">
                          <a:solidFill>
                            <a:srgbClr val="FFFFFF"/>
                          </a:solidFill>
                          <a:latin typeface="Calibri"/>
                          <a:cs typeface="Calibri"/>
                        </a:rPr>
                        <a:t>author, conference</a:t>
                      </a:r>
                      <a:r>
                        <a:rPr sz="1800" b="1" spc="-40" dirty="0">
                          <a:solidFill>
                            <a:srgbClr val="FFFFFF"/>
                          </a:solidFill>
                          <a:latin typeface="Calibri"/>
                          <a:cs typeface="Calibri"/>
                        </a:rPr>
                        <a:t> </a:t>
                      </a:r>
                      <a:r>
                        <a:rPr sz="1800" b="1" spc="-10" dirty="0">
                          <a:solidFill>
                            <a:srgbClr val="FFFFFF"/>
                          </a:solidFill>
                          <a:latin typeface="Calibri"/>
                          <a:cs typeface="Calibri"/>
                        </a:rPr>
                        <a:t>/Journal</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44"/>
                        </a:spcBef>
                      </a:pPr>
                      <a:r>
                        <a:rPr sz="1800" b="1" dirty="0">
                          <a:solidFill>
                            <a:srgbClr val="FFFFFF"/>
                          </a:solidFill>
                          <a:latin typeface="Calibri"/>
                          <a:cs typeface="Calibri"/>
                        </a:rPr>
                        <a:t>Methodology</a:t>
                      </a:r>
                      <a:r>
                        <a:rPr sz="1800" b="1" spc="-45" dirty="0">
                          <a:solidFill>
                            <a:srgbClr val="FFFFFF"/>
                          </a:solidFill>
                          <a:latin typeface="Calibri"/>
                          <a:cs typeface="Calibri"/>
                        </a:rPr>
                        <a:t> </a:t>
                      </a:r>
                      <a:r>
                        <a:rPr sz="1800" b="1" spc="-20" dirty="0">
                          <a:solidFill>
                            <a:srgbClr val="FFFFFF"/>
                          </a:solidFill>
                          <a:latin typeface="Calibri"/>
                          <a:cs typeface="Calibri"/>
                        </a:rPr>
                        <a:t>Used</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Result</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Limitations</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2383404">
                <a:tc>
                  <a:txBody>
                    <a:bodyPr/>
                    <a:lstStyle/>
                    <a:p>
                      <a:r>
                        <a:rPr lang="en-US" b="1" dirty="0"/>
                        <a:t>Temporal Driver Fatigue Classification Using 3D-CNN With Short Video Clips</a:t>
                      </a:r>
                    </a:p>
                    <a:p>
                      <a:r>
                        <a:rPr lang="en-US" i="1" dirty="0"/>
                        <a:t>(P. Roy et al., Multimedia Tools &amp; Applications, 2023)</a:t>
                      </a:r>
                      <a:endParaRPr lang="en-US" dirty="0"/>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IN" dirty="0"/>
                        <a:t>Implemented </a:t>
                      </a:r>
                      <a:r>
                        <a:rPr lang="en-IN" b="1" dirty="0"/>
                        <a:t>3D-CNN</a:t>
                      </a:r>
                      <a:r>
                        <a:rPr lang="en-IN" dirty="0"/>
                        <a:t> to learn </a:t>
                      </a:r>
                      <a:r>
                        <a:rPr lang="en-IN" dirty="0" err="1"/>
                        <a:t>spatio</a:t>
                      </a:r>
                      <a:r>
                        <a:rPr lang="en-IN" dirty="0"/>
                        <a:t>-temporal patterns from 16–32 frame video clips. Used NTHU DDD &amp; DDRA datasets for training.</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dirty="0"/>
                        <a:t>Reached </a:t>
                      </a:r>
                      <a:r>
                        <a:rPr lang="en-US" b="1" dirty="0"/>
                        <a:t>93.5% accuracy</a:t>
                      </a:r>
                      <a:r>
                        <a:rPr lang="en-US" dirty="0"/>
                        <a:t> for blink-rate and micro-sleep detection; works well on small video segments.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dirty="0"/>
                        <a:t>Requires GPU for training; performance decreases with noisy frames; dataset imbalance affects rare events.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1482754">
                <a:tc>
                  <a:txBody>
                    <a:bodyPr/>
                    <a:lstStyle/>
                    <a:p>
                      <a:r>
                        <a:rPr lang="en-US" b="1" dirty="0"/>
                        <a:t>Speech-Enabled Driver Assistance System for Drowsiness Detection</a:t>
                      </a:r>
                    </a:p>
                    <a:p>
                      <a:r>
                        <a:rPr lang="en-US" i="1" dirty="0"/>
                        <a:t>(S. Reddy et al., Multimedia Tools &amp; Applications, 2023)</a:t>
                      </a:r>
                      <a:endParaRPr lang="en-US" dirty="0"/>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Used Haar-Cascade + CNN, connected to a </a:t>
                      </a:r>
                      <a:r>
                        <a:rPr lang="en-US" b="1" dirty="0"/>
                        <a:t>Text-To-Speech (TTS)</a:t>
                      </a:r>
                      <a:r>
                        <a:rPr lang="en-US" dirty="0"/>
                        <a:t> engine. Alerts given were: </a:t>
                      </a:r>
                      <a:r>
                        <a:rPr lang="en-US" i="1" dirty="0"/>
                        <a:t>“You are feeling sleepy! Take a break.”</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91% alert accuracy; clear verbal feedback avoids confusion.</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Works poorly in noisy cars; requires continuous microphone/speaker checks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413256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75FC8-FEF4-F10A-527A-F3CC930BABAD}"/>
            </a:ext>
          </a:extLst>
        </p:cNvPr>
        <p:cNvGrpSpPr/>
        <p:nvPr/>
      </p:nvGrpSpPr>
      <p:grpSpPr>
        <a:xfrm>
          <a:off x="0" y="0"/>
          <a:ext cx="0" cy="0"/>
          <a:chOff x="0" y="0"/>
          <a:chExt cx="0" cy="0"/>
        </a:xfrm>
      </p:grpSpPr>
      <p:graphicFrame>
        <p:nvGraphicFramePr>
          <p:cNvPr id="5" name="object 5">
            <a:extLst>
              <a:ext uri="{FF2B5EF4-FFF2-40B4-BE49-F238E27FC236}">
                <a16:creationId xmlns:a16="http://schemas.microsoft.com/office/drawing/2014/main" id="{CE345EB6-F0A6-5AB3-1321-F3ED29C32291}"/>
              </a:ext>
            </a:extLst>
          </p:cNvPr>
          <p:cNvGraphicFramePr>
            <a:graphicFrameLocks noGrp="1"/>
          </p:cNvGraphicFramePr>
          <p:nvPr>
            <p:extLst>
              <p:ext uri="{D42A27DB-BD31-4B8C-83A1-F6EECF244321}">
                <p14:modId xmlns:p14="http://schemas.microsoft.com/office/powerpoint/2010/main" val="2186165562"/>
              </p:ext>
            </p:extLst>
          </p:nvPr>
        </p:nvGraphicFramePr>
        <p:xfrm>
          <a:off x="533400" y="1143000"/>
          <a:ext cx="11353800" cy="2567998"/>
        </p:xfrm>
        <a:graphic>
          <a:graphicData uri="http://schemas.openxmlformats.org/drawingml/2006/table">
            <a:tbl>
              <a:tblPr firstRow="1" bandRow="1">
                <a:tableStyleId>{2D5ABB26-0587-4C30-8999-92F81FD0307C}</a:tableStyleId>
              </a:tblPr>
              <a:tblGrid>
                <a:gridCol w="3273715">
                  <a:extLst>
                    <a:ext uri="{9D8B030D-6E8A-4147-A177-3AD203B41FA5}">
                      <a16:colId xmlns:a16="http://schemas.microsoft.com/office/drawing/2014/main" val="20000"/>
                    </a:ext>
                  </a:extLst>
                </a:gridCol>
                <a:gridCol w="2898485">
                  <a:extLst>
                    <a:ext uri="{9D8B030D-6E8A-4147-A177-3AD203B41FA5}">
                      <a16:colId xmlns:a16="http://schemas.microsoft.com/office/drawing/2014/main" val="20001"/>
                    </a:ext>
                  </a:extLst>
                </a:gridCol>
                <a:gridCol w="2841505">
                  <a:extLst>
                    <a:ext uri="{9D8B030D-6E8A-4147-A177-3AD203B41FA5}">
                      <a16:colId xmlns:a16="http://schemas.microsoft.com/office/drawing/2014/main" val="20002"/>
                    </a:ext>
                  </a:extLst>
                </a:gridCol>
                <a:gridCol w="2340095">
                  <a:extLst>
                    <a:ext uri="{9D8B030D-6E8A-4147-A177-3AD203B41FA5}">
                      <a16:colId xmlns:a16="http://schemas.microsoft.com/office/drawing/2014/main" val="20003"/>
                    </a:ext>
                  </a:extLst>
                </a:gridCol>
              </a:tblGrid>
              <a:tr h="533400">
                <a:tc>
                  <a:txBody>
                    <a:bodyPr/>
                    <a:lstStyle/>
                    <a:p>
                      <a:pPr marL="91440" marR="104775">
                        <a:lnSpc>
                          <a:spcPct val="100000"/>
                        </a:lnSpc>
                        <a:spcBef>
                          <a:spcPts val="244"/>
                        </a:spcBef>
                      </a:pPr>
                      <a:r>
                        <a:rPr sz="1800" b="1" dirty="0">
                          <a:solidFill>
                            <a:srgbClr val="FFFFFF"/>
                          </a:solidFill>
                          <a:latin typeface="Calibri"/>
                          <a:cs typeface="Calibri"/>
                        </a:rPr>
                        <a:t>Details</a:t>
                      </a:r>
                      <a:r>
                        <a:rPr sz="1800" b="1" spc="-70" dirty="0">
                          <a:solidFill>
                            <a:srgbClr val="FFFFFF"/>
                          </a:solidFill>
                          <a:latin typeface="Calibri"/>
                          <a:cs typeface="Calibri"/>
                        </a:rPr>
                        <a:t> </a:t>
                      </a:r>
                      <a:r>
                        <a:rPr sz="1800" b="1" dirty="0">
                          <a:solidFill>
                            <a:srgbClr val="FFFFFF"/>
                          </a:solidFill>
                          <a:latin typeface="Calibri"/>
                          <a:cs typeface="Calibri"/>
                        </a:rPr>
                        <a:t>of</a:t>
                      </a:r>
                      <a:r>
                        <a:rPr sz="1800" b="1" spc="-35" dirty="0">
                          <a:solidFill>
                            <a:srgbClr val="FFFFFF"/>
                          </a:solidFill>
                          <a:latin typeface="Calibri"/>
                          <a:cs typeface="Calibri"/>
                        </a:rPr>
                        <a:t> </a:t>
                      </a:r>
                      <a:r>
                        <a:rPr sz="1800" b="1" spc="-10" dirty="0">
                          <a:solidFill>
                            <a:srgbClr val="FFFFFF"/>
                          </a:solidFill>
                          <a:latin typeface="Calibri"/>
                          <a:cs typeface="Calibri"/>
                        </a:rPr>
                        <a:t>Paper- </a:t>
                      </a:r>
                      <a:r>
                        <a:rPr sz="1800" b="1" dirty="0">
                          <a:solidFill>
                            <a:srgbClr val="FFFFFF"/>
                          </a:solidFill>
                          <a:latin typeface="Calibri"/>
                          <a:cs typeface="Calibri"/>
                        </a:rPr>
                        <a:t>Title,</a:t>
                      </a:r>
                      <a:r>
                        <a:rPr sz="1800" b="1" spc="-20" dirty="0">
                          <a:solidFill>
                            <a:srgbClr val="FFFFFF"/>
                          </a:solidFill>
                          <a:latin typeface="Calibri"/>
                          <a:cs typeface="Calibri"/>
                        </a:rPr>
                        <a:t> </a:t>
                      </a:r>
                      <a:r>
                        <a:rPr sz="1800" b="1" spc="-10" dirty="0">
                          <a:solidFill>
                            <a:srgbClr val="FFFFFF"/>
                          </a:solidFill>
                          <a:latin typeface="Calibri"/>
                          <a:cs typeface="Calibri"/>
                        </a:rPr>
                        <a:t>author, conference</a:t>
                      </a:r>
                      <a:r>
                        <a:rPr sz="1800" b="1" spc="-40" dirty="0">
                          <a:solidFill>
                            <a:srgbClr val="FFFFFF"/>
                          </a:solidFill>
                          <a:latin typeface="Calibri"/>
                          <a:cs typeface="Calibri"/>
                        </a:rPr>
                        <a:t> </a:t>
                      </a:r>
                      <a:r>
                        <a:rPr sz="1800" b="1" spc="-10" dirty="0">
                          <a:solidFill>
                            <a:srgbClr val="FFFFFF"/>
                          </a:solidFill>
                          <a:latin typeface="Calibri"/>
                          <a:cs typeface="Calibri"/>
                        </a:rPr>
                        <a:t>/Journal</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44"/>
                        </a:spcBef>
                      </a:pPr>
                      <a:r>
                        <a:rPr sz="1800" b="1" dirty="0">
                          <a:solidFill>
                            <a:srgbClr val="FFFFFF"/>
                          </a:solidFill>
                          <a:latin typeface="Calibri"/>
                          <a:cs typeface="Calibri"/>
                        </a:rPr>
                        <a:t>Methodology</a:t>
                      </a:r>
                      <a:r>
                        <a:rPr sz="1800" b="1" spc="-45" dirty="0">
                          <a:solidFill>
                            <a:srgbClr val="FFFFFF"/>
                          </a:solidFill>
                          <a:latin typeface="Calibri"/>
                          <a:cs typeface="Calibri"/>
                        </a:rPr>
                        <a:t> </a:t>
                      </a:r>
                      <a:r>
                        <a:rPr sz="1800" b="1" spc="-20" dirty="0">
                          <a:solidFill>
                            <a:srgbClr val="FFFFFF"/>
                          </a:solidFill>
                          <a:latin typeface="Calibri"/>
                          <a:cs typeface="Calibri"/>
                        </a:rPr>
                        <a:t>Used</a:t>
                      </a:r>
                      <a:endParaRPr sz="180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Result</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Limitations</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471C4"/>
                    </a:solidFill>
                  </a:tcPr>
                </a:tc>
                <a:extLst>
                  <a:ext uri="{0D108BD9-81ED-4DB2-BD59-A6C34878D82A}">
                    <a16:rowId xmlns:a16="http://schemas.microsoft.com/office/drawing/2014/main" val="10000"/>
                  </a:ext>
                </a:extLst>
              </a:tr>
              <a:tr h="1988244">
                <a:tc>
                  <a:txBody>
                    <a:bodyPr/>
                    <a:lstStyle/>
                    <a:p>
                      <a:r>
                        <a:rPr lang="en-US" b="1" dirty="0"/>
                        <a:t>Deep-Learning-Based Driver Monitoring with Personalized Voice Feedback</a:t>
                      </a:r>
                    </a:p>
                    <a:p>
                      <a:r>
                        <a:rPr lang="en-US" i="1" dirty="0"/>
                        <a:t>(T. Nakamura et al., Applied AI Letters, 2023)</a:t>
                      </a:r>
                      <a:endParaRPr lang="en-US" dirty="0"/>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dirty="0"/>
                        <a:t>Used CNN to detect fatigue and a personalized voice module to speak messages like </a:t>
                      </a:r>
                      <a:r>
                        <a:rPr lang="en-US" i="1" dirty="0"/>
                        <a:t>“[Name], your eyes are closing. Stay focused.”</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dirty="0"/>
                        <a:t>Personalized messages increased effectiveness by </a:t>
                      </a:r>
                      <a:r>
                        <a:rPr lang="en-US" b="1" dirty="0"/>
                        <a:t>41%</a:t>
                      </a:r>
                      <a:r>
                        <a:rPr lang="en-US" dirty="0"/>
                        <a:t>.</a:t>
                      </a:r>
                      <a:endParaRPr sz="1800" dirty="0">
                        <a:latin typeface="Times New Roman"/>
                        <a:cs typeface="Times New Roman"/>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CFD4EA"/>
                    </a:solidFill>
                  </a:tcPr>
                </a:tc>
                <a:tc>
                  <a:txBody>
                    <a:bodyPr/>
                    <a:lstStyle/>
                    <a:p>
                      <a:pPr>
                        <a:buNone/>
                      </a:pPr>
                      <a:r>
                        <a:rPr lang="en-US" dirty="0"/>
                        <a:t>Privacy concerns; needs user enrollment for name-based alerts.</a:t>
                      </a:r>
                    </a:p>
                  </a:txBody>
                  <a:tcPr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131900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648711" y="884110"/>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a:spLocks noGrp="1"/>
          </p:cNvSpPr>
          <p:nvPr>
            <p:ph type="title"/>
          </p:nvPr>
        </p:nvSpPr>
        <p:spPr>
          <a:xfrm>
            <a:off x="8701278" y="482549"/>
            <a:ext cx="1488440" cy="391795"/>
          </a:xfrm>
          <a:prstGeom prst="rect">
            <a:avLst/>
          </a:prstGeom>
        </p:spPr>
        <p:txBody>
          <a:bodyPr vert="horz" wrap="square" lIns="0" tIns="12700" rIns="0" bIns="0" rtlCol="0">
            <a:spAutoFit/>
          </a:bodyPr>
          <a:lstStyle/>
          <a:p>
            <a:pPr marL="12700">
              <a:lnSpc>
                <a:spcPct val="100000"/>
              </a:lnSpc>
              <a:spcBef>
                <a:spcPts val="100"/>
              </a:spcBef>
            </a:pPr>
            <a:r>
              <a:rPr spc="-10" dirty="0"/>
              <a:t>Challenges</a:t>
            </a:r>
          </a:p>
        </p:txBody>
      </p:sp>
      <p:sp>
        <p:nvSpPr>
          <p:cNvPr id="4" name="object 4"/>
          <p:cNvSpPr txBox="1"/>
          <p:nvPr/>
        </p:nvSpPr>
        <p:spPr>
          <a:xfrm>
            <a:off x="1566417" y="1372565"/>
            <a:ext cx="8927465" cy="4415790"/>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b="1" dirty="0">
                <a:latin typeface="Arial"/>
                <a:cs typeface="Arial"/>
              </a:rPr>
              <a:t>False</a:t>
            </a:r>
            <a:r>
              <a:rPr sz="1800" b="1" spc="-55" dirty="0">
                <a:latin typeface="Arial"/>
                <a:cs typeface="Arial"/>
              </a:rPr>
              <a:t> </a:t>
            </a:r>
            <a:r>
              <a:rPr sz="1800" b="1" dirty="0">
                <a:latin typeface="Arial"/>
                <a:cs typeface="Arial"/>
              </a:rPr>
              <a:t>Positives</a:t>
            </a:r>
            <a:r>
              <a:rPr sz="1800" b="1" spc="-15" dirty="0">
                <a:latin typeface="Arial"/>
                <a:cs typeface="Arial"/>
              </a:rPr>
              <a:t> </a:t>
            </a:r>
            <a:r>
              <a:rPr sz="1800" b="1" dirty="0">
                <a:latin typeface="Arial"/>
                <a:cs typeface="Arial"/>
              </a:rPr>
              <a:t>in</a:t>
            </a:r>
            <a:r>
              <a:rPr sz="1800" b="1" spc="-110" dirty="0">
                <a:latin typeface="Arial"/>
                <a:cs typeface="Arial"/>
              </a:rPr>
              <a:t> </a:t>
            </a:r>
            <a:r>
              <a:rPr sz="1800" b="1" dirty="0">
                <a:latin typeface="Arial"/>
                <a:cs typeface="Arial"/>
              </a:rPr>
              <a:t>Anomaly</a:t>
            </a:r>
            <a:r>
              <a:rPr sz="1800" b="1" spc="-70" dirty="0">
                <a:latin typeface="Arial"/>
                <a:cs typeface="Arial"/>
              </a:rPr>
              <a:t> </a:t>
            </a:r>
            <a:r>
              <a:rPr sz="1800" b="1" dirty="0">
                <a:latin typeface="Arial"/>
                <a:cs typeface="Arial"/>
              </a:rPr>
              <a:t>Alerts</a:t>
            </a:r>
            <a:r>
              <a:rPr sz="1800" b="1" spc="25" dirty="0">
                <a:latin typeface="Arial"/>
                <a:cs typeface="Arial"/>
              </a:rPr>
              <a:t> </a:t>
            </a:r>
            <a:r>
              <a:rPr sz="1800" dirty="0">
                <a:latin typeface="Arial MT"/>
                <a:cs typeface="Arial MT"/>
              </a:rPr>
              <a:t>–</a:t>
            </a:r>
            <a:r>
              <a:rPr sz="1800" spc="-45" dirty="0">
                <a:latin typeface="Arial MT"/>
                <a:cs typeface="Arial MT"/>
              </a:rPr>
              <a:t> </a:t>
            </a:r>
            <a:r>
              <a:rPr sz="1800" dirty="0">
                <a:latin typeface="Arial MT"/>
                <a:cs typeface="Arial MT"/>
              </a:rPr>
              <a:t>Models</a:t>
            </a:r>
            <a:r>
              <a:rPr sz="1800" spc="-35" dirty="0">
                <a:latin typeface="Arial MT"/>
                <a:cs typeface="Arial MT"/>
              </a:rPr>
              <a:t> </a:t>
            </a:r>
            <a:r>
              <a:rPr sz="1800" dirty="0">
                <a:latin typeface="Arial MT"/>
                <a:cs typeface="Arial MT"/>
              </a:rPr>
              <a:t>may</a:t>
            </a:r>
            <a:r>
              <a:rPr sz="1800" spc="-40" dirty="0">
                <a:latin typeface="Arial MT"/>
                <a:cs typeface="Arial MT"/>
              </a:rPr>
              <a:t> </a:t>
            </a:r>
            <a:r>
              <a:rPr sz="1800" dirty="0">
                <a:latin typeface="Arial MT"/>
                <a:cs typeface="Arial MT"/>
              </a:rPr>
              <a:t>misclassify</a:t>
            </a:r>
            <a:r>
              <a:rPr sz="1800" spc="-35" dirty="0">
                <a:latin typeface="Arial MT"/>
                <a:cs typeface="Arial MT"/>
              </a:rPr>
              <a:t> </a:t>
            </a:r>
            <a:r>
              <a:rPr sz="1800" dirty="0">
                <a:latin typeface="Arial MT"/>
                <a:cs typeface="Arial MT"/>
              </a:rPr>
              <a:t>safe</a:t>
            </a:r>
            <a:r>
              <a:rPr sz="1800" spc="-40" dirty="0">
                <a:latin typeface="Arial MT"/>
                <a:cs typeface="Arial MT"/>
              </a:rPr>
              <a:t> </a:t>
            </a:r>
            <a:r>
              <a:rPr sz="1800" dirty="0">
                <a:latin typeface="Arial MT"/>
                <a:cs typeface="Arial MT"/>
              </a:rPr>
              <a:t>gestures</a:t>
            </a:r>
            <a:r>
              <a:rPr sz="1800" spc="-30" dirty="0">
                <a:latin typeface="Arial MT"/>
                <a:cs typeface="Arial MT"/>
              </a:rPr>
              <a:t> </a:t>
            </a:r>
            <a:r>
              <a:rPr sz="1800" spc="-10" dirty="0">
                <a:latin typeface="Arial MT"/>
                <a:cs typeface="Arial MT"/>
              </a:rPr>
              <a:t>(like</a:t>
            </a:r>
            <a:endParaRPr sz="1800">
              <a:latin typeface="Arial MT"/>
              <a:cs typeface="Arial MT"/>
            </a:endParaRPr>
          </a:p>
          <a:p>
            <a:pPr marL="299085">
              <a:lnSpc>
                <a:spcPct val="100000"/>
              </a:lnSpc>
              <a:spcBef>
                <a:spcPts val="5"/>
              </a:spcBef>
            </a:pPr>
            <a:r>
              <a:rPr sz="1800" dirty="0">
                <a:latin typeface="Arial MT"/>
                <a:cs typeface="Arial MT"/>
              </a:rPr>
              <a:t>adjusting</a:t>
            </a:r>
            <a:r>
              <a:rPr sz="1800" spc="-35" dirty="0">
                <a:latin typeface="Arial MT"/>
                <a:cs typeface="Arial MT"/>
              </a:rPr>
              <a:t> </a:t>
            </a:r>
            <a:r>
              <a:rPr sz="1800" dirty="0">
                <a:latin typeface="Arial MT"/>
                <a:cs typeface="Arial MT"/>
              </a:rPr>
              <a:t>glasses)</a:t>
            </a:r>
            <a:r>
              <a:rPr sz="1800" spc="-30" dirty="0">
                <a:latin typeface="Arial MT"/>
                <a:cs typeface="Arial MT"/>
              </a:rPr>
              <a:t> </a:t>
            </a:r>
            <a:r>
              <a:rPr sz="1800" dirty="0">
                <a:latin typeface="Arial MT"/>
                <a:cs typeface="Arial MT"/>
              </a:rPr>
              <a:t>as</a:t>
            </a:r>
            <a:r>
              <a:rPr sz="1800" spc="-35" dirty="0">
                <a:latin typeface="Arial MT"/>
                <a:cs typeface="Arial MT"/>
              </a:rPr>
              <a:t> </a:t>
            </a:r>
            <a:r>
              <a:rPr sz="1800" dirty="0">
                <a:latin typeface="Arial MT"/>
                <a:cs typeface="Arial MT"/>
              </a:rPr>
              <a:t>anomalies,</a:t>
            </a:r>
            <a:r>
              <a:rPr sz="1800" spc="-25" dirty="0">
                <a:latin typeface="Arial MT"/>
                <a:cs typeface="Arial MT"/>
              </a:rPr>
              <a:t> </a:t>
            </a:r>
            <a:r>
              <a:rPr sz="1800" dirty="0">
                <a:latin typeface="Arial MT"/>
                <a:cs typeface="Arial MT"/>
              </a:rPr>
              <a:t>reducing</a:t>
            </a:r>
            <a:r>
              <a:rPr sz="1800" spc="-25" dirty="0">
                <a:latin typeface="Arial MT"/>
                <a:cs typeface="Arial MT"/>
              </a:rPr>
              <a:t> </a:t>
            </a:r>
            <a:r>
              <a:rPr sz="1800" dirty="0">
                <a:latin typeface="Arial MT"/>
                <a:cs typeface="Arial MT"/>
              </a:rPr>
              <a:t>driver</a:t>
            </a:r>
            <a:r>
              <a:rPr sz="1800" spc="-15" dirty="0">
                <a:latin typeface="Arial MT"/>
                <a:cs typeface="Arial MT"/>
              </a:rPr>
              <a:t> </a:t>
            </a:r>
            <a:r>
              <a:rPr sz="1800" spc="-10" dirty="0">
                <a:latin typeface="Arial MT"/>
                <a:cs typeface="Arial MT"/>
              </a:rPr>
              <a:t>trust</a:t>
            </a:r>
            <a:endParaRPr sz="1800">
              <a:latin typeface="Arial MT"/>
              <a:cs typeface="Arial MT"/>
            </a:endParaRPr>
          </a:p>
          <a:p>
            <a:pPr>
              <a:lnSpc>
                <a:spcPct val="100000"/>
              </a:lnSpc>
              <a:spcBef>
                <a:spcPts val="90"/>
              </a:spcBef>
            </a:pPr>
            <a:endParaRPr sz="1800">
              <a:latin typeface="Arial MT"/>
              <a:cs typeface="Arial MT"/>
            </a:endParaRPr>
          </a:p>
          <a:p>
            <a:pPr marL="299085" indent="-286385">
              <a:lnSpc>
                <a:spcPct val="100000"/>
              </a:lnSpc>
              <a:buFont typeface="Arial MT"/>
              <a:buChar char="•"/>
              <a:tabLst>
                <a:tab pos="299085" algn="l"/>
              </a:tabLst>
            </a:pPr>
            <a:r>
              <a:rPr sz="1800" b="1" dirty="0">
                <a:latin typeface="Arial"/>
                <a:cs typeface="Arial"/>
              </a:rPr>
              <a:t>Low</a:t>
            </a:r>
            <a:r>
              <a:rPr sz="1800" b="1" spc="-45" dirty="0">
                <a:latin typeface="Arial"/>
                <a:cs typeface="Arial"/>
              </a:rPr>
              <a:t> </a:t>
            </a:r>
            <a:r>
              <a:rPr sz="1800" b="1" dirty="0">
                <a:latin typeface="Arial"/>
                <a:cs typeface="Arial"/>
              </a:rPr>
              <a:t>robustness</a:t>
            </a:r>
            <a:r>
              <a:rPr sz="1800" b="1" spc="-30" dirty="0">
                <a:latin typeface="Arial"/>
                <a:cs typeface="Arial"/>
              </a:rPr>
              <a:t> </a:t>
            </a:r>
            <a:r>
              <a:rPr sz="1800" dirty="0">
                <a:latin typeface="Arial MT"/>
                <a:cs typeface="Arial MT"/>
              </a:rPr>
              <a:t>–</a:t>
            </a:r>
            <a:r>
              <a:rPr sz="1800" spc="-40" dirty="0">
                <a:latin typeface="Arial MT"/>
                <a:cs typeface="Arial MT"/>
              </a:rPr>
              <a:t> </a:t>
            </a:r>
            <a:r>
              <a:rPr sz="1800" dirty="0">
                <a:latin typeface="Arial MT"/>
                <a:cs typeface="Arial MT"/>
              </a:rPr>
              <a:t>Models</a:t>
            </a:r>
            <a:r>
              <a:rPr sz="1800" spc="-20" dirty="0">
                <a:latin typeface="Arial MT"/>
                <a:cs typeface="Arial MT"/>
              </a:rPr>
              <a:t> </a:t>
            </a:r>
            <a:r>
              <a:rPr sz="1800" dirty="0">
                <a:latin typeface="Arial MT"/>
                <a:cs typeface="Arial MT"/>
              </a:rPr>
              <a:t>fail</a:t>
            </a:r>
            <a:r>
              <a:rPr sz="1800" spc="-40" dirty="0">
                <a:latin typeface="Arial MT"/>
                <a:cs typeface="Arial MT"/>
              </a:rPr>
              <a:t> </a:t>
            </a:r>
            <a:r>
              <a:rPr sz="1800" dirty="0">
                <a:latin typeface="Arial MT"/>
                <a:cs typeface="Arial MT"/>
              </a:rPr>
              <a:t>under</a:t>
            </a:r>
            <a:r>
              <a:rPr sz="1800" spc="-25" dirty="0">
                <a:latin typeface="Arial MT"/>
                <a:cs typeface="Arial MT"/>
              </a:rPr>
              <a:t> </a:t>
            </a:r>
            <a:r>
              <a:rPr sz="1800" dirty="0">
                <a:latin typeface="Arial MT"/>
                <a:cs typeface="Arial MT"/>
              </a:rPr>
              <a:t>poor</a:t>
            </a:r>
            <a:r>
              <a:rPr sz="1800" spc="-25" dirty="0">
                <a:latin typeface="Arial MT"/>
                <a:cs typeface="Arial MT"/>
              </a:rPr>
              <a:t> </a:t>
            </a:r>
            <a:r>
              <a:rPr sz="1800" dirty="0">
                <a:latin typeface="Arial MT"/>
                <a:cs typeface="Arial MT"/>
              </a:rPr>
              <a:t>lighting,</a:t>
            </a:r>
            <a:r>
              <a:rPr sz="1800" spc="-20" dirty="0">
                <a:latin typeface="Arial MT"/>
                <a:cs typeface="Arial MT"/>
              </a:rPr>
              <a:t> </a:t>
            </a:r>
            <a:r>
              <a:rPr sz="1800" dirty="0">
                <a:latin typeface="Arial MT"/>
                <a:cs typeface="Arial MT"/>
              </a:rPr>
              <a:t>occlusions,</a:t>
            </a:r>
            <a:r>
              <a:rPr sz="1800" spc="-15" dirty="0">
                <a:latin typeface="Arial MT"/>
                <a:cs typeface="Arial MT"/>
              </a:rPr>
              <a:t> </a:t>
            </a:r>
            <a:r>
              <a:rPr sz="1800" dirty="0">
                <a:latin typeface="Arial MT"/>
                <a:cs typeface="Arial MT"/>
              </a:rPr>
              <a:t>or</a:t>
            </a:r>
            <a:r>
              <a:rPr sz="1800" spc="-35" dirty="0">
                <a:latin typeface="Arial MT"/>
                <a:cs typeface="Arial MT"/>
              </a:rPr>
              <a:t> </a:t>
            </a:r>
            <a:r>
              <a:rPr sz="1800" dirty="0">
                <a:latin typeface="Arial MT"/>
                <a:cs typeface="Arial MT"/>
              </a:rPr>
              <a:t>camera</a:t>
            </a:r>
            <a:r>
              <a:rPr sz="1800" spc="-10" dirty="0">
                <a:latin typeface="Arial MT"/>
                <a:cs typeface="Arial MT"/>
              </a:rPr>
              <a:t> vibration</a:t>
            </a:r>
            <a:endParaRPr sz="1800">
              <a:latin typeface="Arial MT"/>
              <a:cs typeface="Arial MT"/>
            </a:endParaRPr>
          </a:p>
          <a:p>
            <a:pPr>
              <a:lnSpc>
                <a:spcPct val="100000"/>
              </a:lnSpc>
              <a:spcBef>
                <a:spcPts val="90"/>
              </a:spcBef>
              <a:buFont typeface="Arial MT"/>
              <a:buChar char="•"/>
            </a:pPr>
            <a:endParaRPr sz="1800">
              <a:latin typeface="Arial MT"/>
              <a:cs typeface="Arial MT"/>
            </a:endParaRPr>
          </a:p>
          <a:p>
            <a:pPr marL="299085" marR="659130" indent="-287020">
              <a:lnSpc>
                <a:spcPct val="100000"/>
              </a:lnSpc>
              <a:buFont typeface="Arial MT"/>
              <a:buChar char="•"/>
              <a:tabLst>
                <a:tab pos="299085" algn="l"/>
              </a:tabLst>
            </a:pPr>
            <a:r>
              <a:rPr sz="1800" b="1" dirty="0">
                <a:latin typeface="Arial"/>
                <a:cs typeface="Arial"/>
              </a:rPr>
              <a:t>Privacy</a:t>
            </a:r>
            <a:r>
              <a:rPr sz="1800" b="1" spc="5" dirty="0">
                <a:latin typeface="Arial"/>
                <a:cs typeface="Arial"/>
              </a:rPr>
              <a:t> </a:t>
            </a:r>
            <a:r>
              <a:rPr sz="1800" b="1" dirty="0">
                <a:latin typeface="Arial"/>
                <a:cs typeface="Arial"/>
              </a:rPr>
              <a:t>issues</a:t>
            </a:r>
            <a:r>
              <a:rPr sz="1800" b="1" spc="-30" dirty="0">
                <a:latin typeface="Arial"/>
                <a:cs typeface="Arial"/>
              </a:rPr>
              <a:t> </a:t>
            </a:r>
            <a:r>
              <a:rPr sz="1800" dirty="0">
                <a:latin typeface="Arial MT"/>
                <a:cs typeface="Arial MT"/>
              </a:rPr>
              <a:t>–</a:t>
            </a:r>
            <a:r>
              <a:rPr sz="1800" spc="-40" dirty="0">
                <a:latin typeface="Arial MT"/>
                <a:cs typeface="Arial MT"/>
              </a:rPr>
              <a:t> </a:t>
            </a:r>
            <a:r>
              <a:rPr sz="1800" dirty="0">
                <a:latin typeface="Arial MT"/>
                <a:cs typeface="Arial MT"/>
              </a:rPr>
              <a:t>Continuous</a:t>
            </a:r>
            <a:r>
              <a:rPr sz="1800" spc="-10" dirty="0">
                <a:latin typeface="Arial MT"/>
                <a:cs typeface="Arial MT"/>
              </a:rPr>
              <a:t> </a:t>
            </a:r>
            <a:r>
              <a:rPr sz="1800" dirty="0">
                <a:latin typeface="Arial MT"/>
                <a:cs typeface="Arial MT"/>
              </a:rPr>
              <a:t>driver</a:t>
            </a:r>
            <a:r>
              <a:rPr sz="1800" spc="-30" dirty="0">
                <a:latin typeface="Arial MT"/>
                <a:cs typeface="Arial MT"/>
              </a:rPr>
              <a:t> </a:t>
            </a:r>
            <a:r>
              <a:rPr sz="1800" dirty="0">
                <a:latin typeface="Arial MT"/>
                <a:cs typeface="Arial MT"/>
              </a:rPr>
              <a:t>monitoring</a:t>
            </a:r>
            <a:r>
              <a:rPr sz="1800" spc="-20" dirty="0">
                <a:latin typeface="Arial MT"/>
                <a:cs typeface="Arial MT"/>
              </a:rPr>
              <a:t> </a:t>
            </a:r>
            <a:r>
              <a:rPr sz="1800" dirty="0">
                <a:latin typeface="Arial MT"/>
                <a:cs typeface="Arial MT"/>
              </a:rPr>
              <a:t>raises</a:t>
            </a:r>
            <a:r>
              <a:rPr sz="1800" spc="-30" dirty="0">
                <a:latin typeface="Arial MT"/>
                <a:cs typeface="Arial MT"/>
              </a:rPr>
              <a:t> </a:t>
            </a:r>
            <a:r>
              <a:rPr sz="1800" dirty="0">
                <a:latin typeface="Arial MT"/>
                <a:cs typeface="Arial MT"/>
              </a:rPr>
              <a:t>ethical</a:t>
            </a:r>
            <a:r>
              <a:rPr sz="1800" spc="-25" dirty="0">
                <a:latin typeface="Arial MT"/>
                <a:cs typeface="Arial MT"/>
              </a:rPr>
              <a:t> </a:t>
            </a:r>
            <a:r>
              <a:rPr sz="1800" dirty="0">
                <a:latin typeface="Arial MT"/>
                <a:cs typeface="Arial MT"/>
              </a:rPr>
              <a:t>and</a:t>
            </a:r>
            <a:r>
              <a:rPr sz="1800" spc="-30" dirty="0">
                <a:latin typeface="Arial MT"/>
                <a:cs typeface="Arial MT"/>
              </a:rPr>
              <a:t> </a:t>
            </a:r>
            <a:r>
              <a:rPr sz="1800" dirty="0">
                <a:latin typeface="Arial MT"/>
                <a:cs typeface="Arial MT"/>
              </a:rPr>
              <a:t>data</a:t>
            </a:r>
            <a:r>
              <a:rPr sz="1800" spc="-30" dirty="0">
                <a:latin typeface="Arial MT"/>
                <a:cs typeface="Arial MT"/>
              </a:rPr>
              <a:t> </a:t>
            </a:r>
            <a:r>
              <a:rPr sz="1800" spc="-10" dirty="0">
                <a:latin typeface="Arial MT"/>
                <a:cs typeface="Arial MT"/>
              </a:rPr>
              <a:t>security concerns..</a:t>
            </a:r>
            <a:endParaRPr sz="1800">
              <a:latin typeface="Arial MT"/>
              <a:cs typeface="Arial MT"/>
            </a:endParaRPr>
          </a:p>
          <a:p>
            <a:pPr>
              <a:lnSpc>
                <a:spcPct val="100000"/>
              </a:lnSpc>
              <a:spcBef>
                <a:spcPts val="90"/>
              </a:spcBef>
              <a:buFont typeface="Arial MT"/>
              <a:buChar char="•"/>
            </a:pPr>
            <a:endParaRPr sz="1800">
              <a:latin typeface="Arial MT"/>
              <a:cs typeface="Arial MT"/>
            </a:endParaRPr>
          </a:p>
          <a:p>
            <a:pPr marL="299085" marR="5080" indent="-287020">
              <a:lnSpc>
                <a:spcPct val="100000"/>
              </a:lnSpc>
              <a:buFont typeface="Arial MT"/>
              <a:buChar char="•"/>
              <a:tabLst>
                <a:tab pos="299085" algn="l"/>
              </a:tabLst>
            </a:pPr>
            <a:r>
              <a:rPr sz="1800" b="1" dirty="0">
                <a:latin typeface="Arial"/>
                <a:cs typeface="Arial"/>
              </a:rPr>
              <a:t>Class</a:t>
            </a:r>
            <a:r>
              <a:rPr sz="1800" b="1" spc="-40" dirty="0">
                <a:latin typeface="Arial"/>
                <a:cs typeface="Arial"/>
              </a:rPr>
              <a:t> </a:t>
            </a:r>
            <a:r>
              <a:rPr sz="1800" b="1" dirty="0">
                <a:latin typeface="Arial"/>
                <a:cs typeface="Arial"/>
              </a:rPr>
              <a:t>Imbalance</a:t>
            </a:r>
            <a:r>
              <a:rPr sz="1800" b="1" spc="-40" dirty="0">
                <a:latin typeface="Arial"/>
                <a:cs typeface="Arial"/>
              </a:rPr>
              <a:t> </a:t>
            </a:r>
            <a:r>
              <a:rPr sz="1800" b="1" dirty="0">
                <a:latin typeface="Arial"/>
                <a:cs typeface="Arial"/>
              </a:rPr>
              <a:t>in</a:t>
            </a:r>
            <a:r>
              <a:rPr sz="1800" b="1" spc="-35" dirty="0">
                <a:latin typeface="Arial"/>
                <a:cs typeface="Arial"/>
              </a:rPr>
              <a:t> </a:t>
            </a:r>
            <a:r>
              <a:rPr sz="1800" b="1" dirty="0">
                <a:latin typeface="Arial"/>
                <a:cs typeface="Arial"/>
              </a:rPr>
              <a:t>Datasets</a:t>
            </a:r>
            <a:r>
              <a:rPr sz="1800" b="1" spc="-20" dirty="0">
                <a:latin typeface="Arial"/>
                <a:cs typeface="Arial"/>
              </a:rPr>
              <a:t> </a:t>
            </a:r>
            <a:r>
              <a:rPr sz="1800" dirty="0">
                <a:latin typeface="Arial MT"/>
                <a:cs typeface="Arial MT"/>
              </a:rPr>
              <a:t>–</a:t>
            </a:r>
            <a:r>
              <a:rPr sz="1800" spc="-35" dirty="0">
                <a:latin typeface="Arial MT"/>
                <a:cs typeface="Arial MT"/>
              </a:rPr>
              <a:t> </a:t>
            </a:r>
            <a:r>
              <a:rPr sz="1800" dirty="0">
                <a:latin typeface="Arial MT"/>
                <a:cs typeface="Arial MT"/>
              </a:rPr>
              <a:t>Some</a:t>
            </a:r>
            <a:r>
              <a:rPr sz="1800" spc="-30" dirty="0">
                <a:latin typeface="Arial MT"/>
                <a:cs typeface="Arial MT"/>
              </a:rPr>
              <a:t> </a:t>
            </a:r>
            <a:r>
              <a:rPr sz="1800" dirty="0">
                <a:latin typeface="Arial MT"/>
                <a:cs typeface="Arial MT"/>
              </a:rPr>
              <a:t>dangerous</a:t>
            </a:r>
            <a:r>
              <a:rPr sz="1800" spc="-15" dirty="0">
                <a:latin typeface="Arial MT"/>
                <a:cs typeface="Arial MT"/>
              </a:rPr>
              <a:t> </a:t>
            </a:r>
            <a:r>
              <a:rPr sz="1800" dirty="0">
                <a:latin typeface="Arial MT"/>
                <a:cs typeface="Arial MT"/>
              </a:rPr>
              <a:t>behaviors</a:t>
            </a:r>
            <a:r>
              <a:rPr sz="1800" spc="-20" dirty="0">
                <a:latin typeface="Arial MT"/>
                <a:cs typeface="Arial MT"/>
              </a:rPr>
              <a:t> </a:t>
            </a:r>
            <a:r>
              <a:rPr sz="1800" dirty="0">
                <a:latin typeface="Arial MT"/>
                <a:cs typeface="Arial MT"/>
              </a:rPr>
              <a:t>(like</a:t>
            </a:r>
            <a:r>
              <a:rPr sz="1800" spc="-30" dirty="0">
                <a:latin typeface="Arial MT"/>
                <a:cs typeface="Arial MT"/>
              </a:rPr>
              <a:t> </a:t>
            </a:r>
            <a:r>
              <a:rPr sz="1800" dirty="0">
                <a:latin typeface="Arial MT"/>
                <a:cs typeface="Arial MT"/>
              </a:rPr>
              <a:t>sudden</a:t>
            </a:r>
            <a:r>
              <a:rPr sz="1800" spc="-25" dirty="0">
                <a:latin typeface="Arial MT"/>
                <a:cs typeface="Arial MT"/>
              </a:rPr>
              <a:t> </a:t>
            </a:r>
            <a:r>
              <a:rPr sz="1800" spc="-10" dirty="0">
                <a:latin typeface="Arial MT"/>
                <a:cs typeface="Arial MT"/>
              </a:rPr>
              <a:t>drowsiness </a:t>
            </a:r>
            <a:r>
              <a:rPr sz="1800" dirty="0">
                <a:latin typeface="Arial MT"/>
                <a:cs typeface="Arial MT"/>
              </a:rPr>
              <a:t>or</a:t>
            </a:r>
            <a:r>
              <a:rPr sz="1800" spc="-35" dirty="0">
                <a:latin typeface="Arial MT"/>
                <a:cs typeface="Arial MT"/>
              </a:rPr>
              <a:t> </a:t>
            </a:r>
            <a:r>
              <a:rPr sz="1800" dirty="0">
                <a:latin typeface="Arial MT"/>
                <a:cs typeface="Arial MT"/>
              </a:rPr>
              <a:t>texting)</a:t>
            </a:r>
            <a:r>
              <a:rPr sz="1800" spc="-25" dirty="0">
                <a:latin typeface="Arial MT"/>
                <a:cs typeface="Arial MT"/>
              </a:rPr>
              <a:t> </a:t>
            </a:r>
            <a:r>
              <a:rPr sz="1800" dirty="0">
                <a:latin typeface="Arial MT"/>
                <a:cs typeface="Arial MT"/>
              </a:rPr>
              <a:t>occur</a:t>
            </a:r>
            <a:r>
              <a:rPr sz="1800" spc="-25" dirty="0">
                <a:latin typeface="Arial MT"/>
                <a:cs typeface="Arial MT"/>
              </a:rPr>
              <a:t> </a:t>
            </a:r>
            <a:r>
              <a:rPr sz="1800" spc="-10" dirty="0">
                <a:latin typeface="Arial MT"/>
                <a:cs typeface="Arial MT"/>
              </a:rPr>
              <a:t>rarely, </a:t>
            </a:r>
            <a:r>
              <a:rPr sz="1800" dirty="0">
                <a:latin typeface="Arial MT"/>
                <a:cs typeface="Arial MT"/>
              </a:rPr>
              <a:t>making</a:t>
            </a:r>
            <a:r>
              <a:rPr sz="1800" spc="-25" dirty="0">
                <a:latin typeface="Arial MT"/>
                <a:cs typeface="Arial MT"/>
              </a:rPr>
              <a:t> </a:t>
            </a:r>
            <a:r>
              <a:rPr sz="1800" dirty="0">
                <a:latin typeface="Arial MT"/>
                <a:cs typeface="Arial MT"/>
              </a:rPr>
              <a:t>it</a:t>
            </a:r>
            <a:r>
              <a:rPr sz="1800" spc="-35" dirty="0">
                <a:latin typeface="Arial MT"/>
                <a:cs typeface="Arial MT"/>
              </a:rPr>
              <a:t> </a:t>
            </a:r>
            <a:r>
              <a:rPr sz="1800" dirty="0">
                <a:latin typeface="Arial MT"/>
                <a:cs typeface="Arial MT"/>
              </a:rPr>
              <a:t>difficult</a:t>
            </a:r>
            <a:r>
              <a:rPr sz="1800" spc="-25" dirty="0">
                <a:latin typeface="Arial MT"/>
                <a:cs typeface="Arial MT"/>
              </a:rPr>
              <a:t> </a:t>
            </a:r>
            <a:r>
              <a:rPr sz="1800" dirty="0">
                <a:latin typeface="Arial MT"/>
                <a:cs typeface="Arial MT"/>
              </a:rPr>
              <a:t>for</a:t>
            </a:r>
            <a:r>
              <a:rPr sz="1800" spc="-35" dirty="0">
                <a:latin typeface="Arial MT"/>
                <a:cs typeface="Arial MT"/>
              </a:rPr>
              <a:t> </a:t>
            </a:r>
            <a:r>
              <a:rPr sz="1800" dirty="0">
                <a:latin typeface="Arial MT"/>
                <a:cs typeface="Arial MT"/>
              </a:rPr>
              <a:t>models</a:t>
            </a:r>
            <a:r>
              <a:rPr sz="1800" spc="-25" dirty="0">
                <a:latin typeface="Arial MT"/>
                <a:cs typeface="Arial MT"/>
              </a:rPr>
              <a:t> </a:t>
            </a:r>
            <a:r>
              <a:rPr sz="1800" dirty="0">
                <a:latin typeface="Arial MT"/>
                <a:cs typeface="Arial MT"/>
              </a:rPr>
              <a:t>to</a:t>
            </a:r>
            <a:r>
              <a:rPr sz="1800" spc="-30" dirty="0">
                <a:latin typeface="Arial MT"/>
                <a:cs typeface="Arial MT"/>
              </a:rPr>
              <a:t> </a:t>
            </a:r>
            <a:r>
              <a:rPr sz="1800" dirty="0">
                <a:latin typeface="Arial MT"/>
                <a:cs typeface="Arial MT"/>
              </a:rPr>
              <a:t>learn</a:t>
            </a:r>
            <a:r>
              <a:rPr sz="1800" spc="-30" dirty="0">
                <a:latin typeface="Arial MT"/>
                <a:cs typeface="Arial MT"/>
              </a:rPr>
              <a:t> </a:t>
            </a:r>
            <a:r>
              <a:rPr sz="1800" dirty="0">
                <a:latin typeface="Arial MT"/>
                <a:cs typeface="Arial MT"/>
              </a:rPr>
              <a:t>those</a:t>
            </a:r>
            <a:r>
              <a:rPr sz="1800" spc="-35" dirty="0">
                <a:latin typeface="Arial MT"/>
                <a:cs typeface="Arial MT"/>
              </a:rPr>
              <a:t> </a:t>
            </a:r>
            <a:r>
              <a:rPr sz="1800" dirty="0">
                <a:latin typeface="Arial MT"/>
                <a:cs typeface="Arial MT"/>
              </a:rPr>
              <a:t>patterns</a:t>
            </a:r>
            <a:r>
              <a:rPr sz="1800" spc="-10" dirty="0">
                <a:latin typeface="Arial MT"/>
                <a:cs typeface="Arial MT"/>
              </a:rPr>
              <a:t> effectively</a:t>
            </a:r>
            <a:endParaRPr sz="1800">
              <a:latin typeface="Arial MT"/>
              <a:cs typeface="Arial MT"/>
            </a:endParaRPr>
          </a:p>
          <a:p>
            <a:pPr>
              <a:lnSpc>
                <a:spcPct val="100000"/>
              </a:lnSpc>
              <a:spcBef>
                <a:spcPts val="90"/>
              </a:spcBef>
              <a:buFont typeface="Arial MT"/>
              <a:buChar char="•"/>
            </a:pPr>
            <a:endParaRPr sz="1800">
              <a:latin typeface="Arial MT"/>
              <a:cs typeface="Arial MT"/>
            </a:endParaRPr>
          </a:p>
          <a:p>
            <a:pPr marL="299085" indent="-286385">
              <a:lnSpc>
                <a:spcPct val="100000"/>
              </a:lnSpc>
              <a:buFont typeface="Arial MT"/>
              <a:buChar char="•"/>
              <a:tabLst>
                <a:tab pos="299085" algn="l"/>
              </a:tabLst>
            </a:pPr>
            <a:r>
              <a:rPr sz="1800" b="1" dirty="0">
                <a:latin typeface="Arial"/>
                <a:cs typeface="Arial"/>
              </a:rPr>
              <a:t>Driver</a:t>
            </a:r>
            <a:r>
              <a:rPr sz="1800" b="1" spc="-15" dirty="0">
                <a:latin typeface="Arial"/>
                <a:cs typeface="Arial"/>
              </a:rPr>
              <a:t> </a:t>
            </a:r>
            <a:r>
              <a:rPr sz="1800" b="1" dirty="0">
                <a:latin typeface="Arial"/>
                <a:cs typeface="Arial"/>
              </a:rPr>
              <a:t>Diversity</a:t>
            </a:r>
            <a:r>
              <a:rPr sz="1800" b="1" spc="5" dirty="0">
                <a:latin typeface="Arial"/>
                <a:cs typeface="Arial"/>
              </a:rPr>
              <a:t> </a:t>
            </a:r>
            <a:r>
              <a:rPr sz="1800" dirty="0">
                <a:latin typeface="Arial MT"/>
                <a:cs typeface="Arial MT"/>
              </a:rPr>
              <a:t>–</a:t>
            </a:r>
            <a:r>
              <a:rPr sz="1800" spc="-50" dirty="0">
                <a:latin typeface="Arial MT"/>
                <a:cs typeface="Arial MT"/>
              </a:rPr>
              <a:t> </a:t>
            </a:r>
            <a:r>
              <a:rPr sz="1800" dirty="0">
                <a:latin typeface="Arial MT"/>
                <a:cs typeface="Arial MT"/>
              </a:rPr>
              <a:t>Differences</a:t>
            </a:r>
            <a:r>
              <a:rPr sz="1800" spc="-30" dirty="0">
                <a:latin typeface="Arial MT"/>
                <a:cs typeface="Arial MT"/>
              </a:rPr>
              <a:t> </a:t>
            </a:r>
            <a:r>
              <a:rPr sz="1800" dirty="0">
                <a:latin typeface="Arial MT"/>
                <a:cs typeface="Arial MT"/>
              </a:rPr>
              <a:t>in</a:t>
            </a:r>
            <a:r>
              <a:rPr sz="1800" spc="-45" dirty="0">
                <a:latin typeface="Arial MT"/>
                <a:cs typeface="Arial MT"/>
              </a:rPr>
              <a:t> </a:t>
            </a:r>
            <a:r>
              <a:rPr sz="1800" dirty="0">
                <a:latin typeface="Arial MT"/>
                <a:cs typeface="Arial MT"/>
              </a:rPr>
              <a:t>skin</a:t>
            </a:r>
            <a:r>
              <a:rPr sz="1800" spc="-45" dirty="0">
                <a:latin typeface="Arial MT"/>
                <a:cs typeface="Arial MT"/>
              </a:rPr>
              <a:t> </a:t>
            </a:r>
            <a:r>
              <a:rPr sz="1800" dirty="0">
                <a:latin typeface="Arial MT"/>
                <a:cs typeface="Arial MT"/>
              </a:rPr>
              <a:t>tone,</a:t>
            </a:r>
            <a:r>
              <a:rPr sz="1800" spc="-45" dirty="0">
                <a:latin typeface="Arial MT"/>
                <a:cs typeface="Arial MT"/>
              </a:rPr>
              <a:t> </a:t>
            </a:r>
            <a:r>
              <a:rPr sz="1800" dirty="0">
                <a:latin typeface="Arial MT"/>
                <a:cs typeface="Arial MT"/>
              </a:rPr>
              <a:t>facial</a:t>
            </a:r>
            <a:r>
              <a:rPr sz="1800" spc="-40" dirty="0">
                <a:latin typeface="Arial MT"/>
                <a:cs typeface="Arial MT"/>
              </a:rPr>
              <a:t> </a:t>
            </a:r>
            <a:r>
              <a:rPr sz="1800" dirty="0">
                <a:latin typeface="Arial MT"/>
                <a:cs typeface="Arial MT"/>
              </a:rPr>
              <a:t>features,</a:t>
            </a:r>
            <a:r>
              <a:rPr sz="1800" spc="-40" dirty="0">
                <a:latin typeface="Arial MT"/>
                <a:cs typeface="Arial MT"/>
              </a:rPr>
              <a:t> </a:t>
            </a:r>
            <a:r>
              <a:rPr sz="1800" dirty="0">
                <a:latin typeface="Arial MT"/>
                <a:cs typeface="Arial MT"/>
              </a:rPr>
              <a:t>and</a:t>
            </a:r>
            <a:r>
              <a:rPr sz="1800" spc="-50" dirty="0">
                <a:latin typeface="Arial MT"/>
                <a:cs typeface="Arial MT"/>
              </a:rPr>
              <a:t> </a:t>
            </a:r>
            <a:r>
              <a:rPr sz="1800" dirty="0">
                <a:latin typeface="Arial MT"/>
                <a:cs typeface="Arial MT"/>
              </a:rPr>
              <a:t>physical build</a:t>
            </a:r>
            <a:r>
              <a:rPr sz="1800" spc="-35" dirty="0">
                <a:latin typeface="Arial MT"/>
                <a:cs typeface="Arial MT"/>
              </a:rPr>
              <a:t> </a:t>
            </a:r>
            <a:r>
              <a:rPr sz="1800" spc="-10" dirty="0">
                <a:latin typeface="Arial MT"/>
                <a:cs typeface="Arial MT"/>
              </a:rPr>
              <a:t>reduce</a:t>
            </a:r>
            <a:endParaRPr sz="1800">
              <a:latin typeface="Arial MT"/>
              <a:cs typeface="Arial MT"/>
            </a:endParaRPr>
          </a:p>
          <a:p>
            <a:pPr marL="299085">
              <a:lnSpc>
                <a:spcPct val="100000"/>
              </a:lnSpc>
              <a:spcBef>
                <a:spcPts val="5"/>
              </a:spcBef>
            </a:pPr>
            <a:r>
              <a:rPr sz="1800" dirty="0">
                <a:latin typeface="Arial MT"/>
                <a:cs typeface="Arial MT"/>
              </a:rPr>
              <a:t>generalization</a:t>
            </a:r>
            <a:r>
              <a:rPr sz="1800" spc="-35" dirty="0">
                <a:latin typeface="Arial MT"/>
                <a:cs typeface="Arial MT"/>
              </a:rPr>
              <a:t> </a:t>
            </a:r>
            <a:r>
              <a:rPr sz="1800" dirty="0">
                <a:latin typeface="Arial MT"/>
                <a:cs typeface="Arial MT"/>
              </a:rPr>
              <a:t>across</a:t>
            </a:r>
            <a:r>
              <a:rPr sz="1800" spc="-45" dirty="0">
                <a:latin typeface="Arial MT"/>
                <a:cs typeface="Arial MT"/>
              </a:rPr>
              <a:t> </a:t>
            </a:r>
            <a:r>
              <a:rPr sz="1800" dirty="0">
                <a:latin typeface="Arial MT"/>
                <a:cs typeface="Arial MT"/>
              </a:rPr>
              <a:t>drivers</a:t>
            </a:r>
            <a:r>
              <a:rPr sz="1800" spc="-35" dirty="0">
                <a:latin typeface="Arial MT"/>
                <a:cs typeface="Arial MT"/>
              </a:rPr>
              <a:t> </a:t>
            </a:r>
            <a:r>
              <a:rPr sz="1800" dirty="0">
                <a:latin typeface="Arial MT"/>
                <a:cs typeface="Arial MT"/>
              </a:rPr>
              <a:t>in</a:t>
            </a:r>
            <a:r>
              <a:rPr sz="1800" spc="-50" dirty="0">
                <a:latin typeface="Arial MT"/>
                <a:cs typeface="Arial MT"/>
              </a:rPr>
              <a:t> </a:t>
            </a:r>
            <a:r>
              <a:rPr sz="1800" dirty="0">
                <a:latin typeface="Arial MT"/>
                <a:cs typeface="Arial MT"/>
              </a:rPr>
              <a:t>different</a:t>
            </a:r>
            <a:r>
              <a:rPr sz="1800" spc="-35" dirty="0">
                <a:latin typeface="Arial MT"/>
                <a:cs typeface="Arial MT"/>
              </a:rPr>
              <a:t> </a:t>
            </a:r>
            <a:r>
              <a:rPr sz="1800" spc="-10" dirty="0">
                <a:latin typeface="Arial MT"/>
                <a:cs typeface="Arial MT"/>
              </a:rPr>
              <a:t>regions..</a:t>
            </a:r>
            <a:endParaRPr sz="1800">
              <a:latin typeface="Arial MT"/>
              <a:cs typeface="Arial MT"/>
            </a:endParaRPr>
          </a:p>
          <a:p>
            <a:pPr>
              <a:lnSpc>
                <a:spcPct val="100000"/>
              </a:lnSpc>
              <a:spcBef>
                <a:spcPts val="90"/>
              </a:spcBef>
            </a:pPr>
            <a:endParaRPr sz="1800">
              <a:latin typeface="Arial MT"/>
              <a:cs typeface="Arial MT"/>
            </a:endParaRPr>
          </a:p>
          <a:p>
            <a:pPr marL="299085" marR="129539" indent="-287020">
              <a:lnSpc>
                <a:spcPct val="100000"/>
              </a:lnSpc>
              <a:buFont typeface="Arial MT"/>
              <a:buChar char="•"/>
              <a:tabLst>
                <a:tab pos="299085" algn="l"/>
              </a:tabLst>
            </a:pPr>
            <a:r>
              <a:rPr sz="1800" b="1" dirty="0">
                <a:latin typeface="Arial"/>
                <a:cs typeface="Arial"/>
              </a:rPr>
              <a:t>Edge</a:t>
            </a:r>
            <a:r>
              <a:rPr sz="1800" b="1" spc="-60" dirty="0">
                <a:latin typeface="Arial"/>
                <a:cs typeface="Arial"/>
              </a:rPr>
              <a:t> </a:t>
            </a:r>
            <a:r>
              <a:rPr sz="1800" b="1" dirty="0">
                <a:latin typeface="Arial"/>
                <a:cs typeface="Arial"/>
              </a:rPr>
              <a:t>Device</a:t>
            </a:r>
            <a:r>
              <a:rPr sz="1800" b="1" spc="15" dirty="0">
                <a:latin typeface="Arial"/>
                <a:cs typeface="Arial"/>
              </a:rPr>
              <a:t> </a:t>
            </a:r>
            <a:r>
              <a:rPr sz="1800" b="1" dirty="0">
                <a:latin typeface="Arial"/>
                <a:cs typeface="Arial"/>
              </a:rPr>
              <a:t>Constraints</a:t>
            </a:r>
            <a:r>
              <a:rPr sz="1800" b="1" spc="-25" dirty="0">
                <a:latin typeface="Arial"/>
                <a:cs typeface="Arial"/>
              </a:rPr>
              <a:t> </a:t>
            </a:r>
            <a:r>
              <a:rPr sz="1800" dirty="0">
                <a:latin typeface="Arial MT"/>
                <a:cs typeface="Arial MT"/>
              </a:rPr>
              <a:t>–</a:t>
            </a:r>
            <a:r>
              <a:rPr sz="1800" spc="-35" dirty="0">
                <a:latin typeface="Arial MT"/>
                <a:cs typeface="Arial MT"/>
              </a:rPr>
              <a:t> </a:t>
            </a:r>
            <a:r>
              <a:rPr sz="1800" dirty="0">
                <a:latin typeface="Arial MT"/>
                <a:cs typeface="Arial MT"/>
              </a:rPr>
              <a:t>Running</a:t>
            </a:r>
            <a:r>
              <a:rPr sz="1800" spc="-10" dirty="0">
                <a:latin typeface="Arial MT"/>
                <a:cs typeface="Arial MT"/>
              </a:rPr>
              <a:t> </a:t>
            </a:r>
            <a:r>
              <a:rPr sz="1800" dirty="0">
                <a:latin typeface="Arial MT"/>
                <a:cs typeface="Arial MT"/>
              </a:rPr>
              <a:t>heavy</a:t>
            </a:r>
            <a:r>
              <a:rPr sz="1800" spc="-30" dirty="0">
                <a:latin typeface="Arial MT"/>
                <a:cs typeface="Arial MT"/>
              </a:rPr>
              <a:t> </a:t>
            </a:r>
            <a:r>
              <a:rPr sz="1800" dirty="0">
                <a:latin typeface="Arial MT"/>
                <a:cs typeface="Arial MT"/>
              </a:rPr>
              <a:t>CNN/LSTM</a:t>
            </a:r>
            <a:r>
              <a:rPr sz="1800" spc="-40" dirty="0">
                <a:latin typeface="Arial MT"/>
                <a:cs typeface="Arial MT"/>
              </a:rPr>
              <a:t> </a:t>
            </a:r>
            <a:r>
              <a:rPr sz="1800" dirty="0">
                <a:latin typeface="Arial MT"/>
                <a:cs typeface="Arial MT"/>
              </a:rPr>
              <a:t>architectures</a:t>
            </a:r>
            <a:r>
              <a:rPr sz="1800" spc="-25" dirty="0">
                <a:latin typeface="Arial MT"/>
                <a:cs typeface="Arial MT"/>
              </a:rPr>
              <a:t> </a:t>
            </a:r>
            <a:r>
              <a:rPr sz="1800" dirty="0">
                <a:latin typeface="Arial MT"/>
                <a:cs typeface="Arial MT"/>
              </a:rPr>
              <a:t>on</a:t>
            </a:r>
            <a:r>
              <a:rPr sz="1800" spc="-25" dirty="0">
                <a:latin typeface="Arial MT"/>
                <a:cs typeface="Arial MT"/>
              </a:rPr>
              <a:t> low-</a:t>
            </a:r>
            <a:r>
              <a:rPr sz="1800" spc="-10" dirty="0">
                <a:latin typeface="Arial MT"/>
                <a:cs typeface="Arial MT"/>
              </a:rPr>
              <a:t>power </a:t>
            </a:r>
            <a:r>
              <a:rPr sz="1800" dirty="0">
                <a:latin typeface="Arial MT"/>
                <a:cs typeface="Arial MT"/>
              </a:rPr>
              <a:t>hardware</a:t>
            </a:r>
            <a:r>
              <a:rPr sz="1800" spc="10" dirty="0">
                <a:latin typeface="Arial MT"/>
                <a:cs typeface="Arial MT"/>
              </a:rPr>
              <a:t> </a:t>
            </a:r>
            <a:r>
              <a:rPr sz="1800" dirty="0">
                <a:latin typeface="Arial MT"/>
                <a:cs typeface="Arial MT"/>
              </a:rPr>
              <a:t>leads</a:t>
            </a:r>
            <a:r>
              <a:rPr sz="1800" spc="-15" dirty="0">
                <a:latin typeface="Arial MT"/>
                <a:cs typeface="Arial MT"/>
              </a:rPr>
              <a:t> </a:t>
            </a:r>
            <a:r>
              <a:rPr sz="1800" dirty="0">
                <a:latin typeface="Arial MT"/>
                <a:cs typeface="Arial MT"/>
              </a:rPr>
              <a:t>to</a:t>
            </a:r>
            <a:r>
              <a:rPr sz="1800" spc="-35" dirty="0">
                <a:latin typeface="Arial MT"/>
                <a:cs typeface="Arial MT"/>
              </a:rPr>
              <a:t> </a:t>
            </a:r>
            <a:r>
              <a:rPr sz="1800" dirty="0">
                <a:latin typeface="Arial MT"/>
                <a:cs typeface="Arial MT"/>
              </a:rPr>
              <a:t>latency</a:t>
            </a:r>
            <a:r>
              <a:rPr sz="1800" spc="-15" dirty="0">
                <a:latin typeface="Arial MT"/>
                <a:cs typeface="Arial MT"/>
              </a:rPr>
              <a:t> </a:t>
            </a:r>
            <a:r>
              <a:rPr sz="1800" dirty="0">
                <a:latin typeface="Arial MT"/>
                <a:cs typeface="Arial MT"/>
              </a:rPr>
              <a:t>or</a:t>
            </a:r>
            <a:r>
              <a:rPr sz="1800" spc="-25" dirty="0">
                <a:latin typeface="Arial MT"/>
                <a:cs typeface="Arial MT"/>
              </a:rPr>
              <a:t> </a:t>
            </a:r>
            <a:r>
              <a:rPr sz="1800" dirty="0">
                <a:latin typeface="Arial MT"/>
                <a:cs typeface="Arial MT"/>
              </a:rPr>
              <a:t>heat</a:t>
            </a:r>
            <a:r>
              <a:rPr sz="1800" spc="-20" dirty="0">
                <a:latin typeface="Arial MT"/>
                <a:cs typeface="Arial MT"/>
              </a:rPr>
              <a:t> </a:t>
            </a:r>
            <a:r>
              <a:rPr sz="1800" dirty="0">
                <a:latin typeface="Arial MT"/>
                <a:cs typeface="Arial MT"/>
              </a:rPr>
              <a:t>issues</a:t>
            </a:r>
            <a:r>
              <a:rPr sz="1800" spc="-25" dirty="0">
                <a:latin typeface="Arial MT"/>
                <a:cs typeface="Arial MT"/>
              </a:rPr>
              <a:t> </a:t>
            </a:r>
            <a:r>
              <a:rPr sz="1800" dirty="0">
                <a:latin typeface="Arial MT"/>
                <a:cs typeface="Arial MT"/>
              </a:rPr>
              <a:t>in</a:t>
            </a:r>
            <a:r>
              <a:rPr sz="1800" spc="-30" dirty="0">
                <a:latin typeface="Arial MT"/>
                <a:cs typeface="Arial MT"/>
              </a:rPr>
              <a:t> </a:t>
            </a:r>
            <a:r>
              <a:rPr sz="1800" spc="-10" dirty="0">
                <a:latin typeface="Arial MT"/>
                <a:cs typeface="Arial MT"/>
              </a:rPr>
              <a:t>vehicles</a:t>
            </a:r>
            <a:endParaRPr sz="1800">
              <a:latin typeface="Arial MT"/>
              <a:cs typeface="Arial M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999613" y="1106487"/>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a:spLocks noGrp="1"/>
          </p:cNvSpPr>
          <p:nvPr>
            <p:ph type="title"/>
          </p:nvPr>
        </p:nvSpPr>
        <p:spPr>
          <a:xfrm>
            <a:off x="8215121" y="443610"/>
            <a:ext cx="1875789" cy="391160"/>
          </a:xfrm>
          <a:prstGeom prst="rect">
            <a:avLst/>
          </a:prstGeom>
        </p:spPr>
        <p:txBody>
          <a:bodyPr vert="horz" wrap="square" lIns="0" tIns="12700" rIns="0" bIns="0" rtlCol="0">
            <a:spAutoFit/>
          </a:bodyPr>
          <a:lstStyle/>
          <a:p>
            <a:pPr marL="12700">
              <a:lnSpc>
                <a:spcPct val="100000"/>
              </a:lnSpc>
              <a:spcBef>
                <a:spcPts val="100"/>
              </a:spcBef>
            </a:pPr>
            <a:r>
              <a:rPr spc="-10" dirty="0"/>
              <a:t>Research</a:t>
            </a:r>
            <a:r>
              <a:rPr spc="-105" dirty="0"/>
              <a:t> </a:t>
            </a:r>
            <a:r>
              <a:rPr spc="-25" dirty="0"/>
              <a:t>Gap</a:t>
            </a:r>
          </a:p>
        </p:txBody>
      </p:sp>
      <p:sp>
        <p:nvSpPr>
          <p:cNvPr id="4" name="object 4"/>
          <p:cNvSpPr txBox="1"/>
          <p:nvPr/>
        </p:nvSpPr>
        <p:spPr>
          <a:xfrm>
            <a:off x="630123" y="1395729"/>
            <a:ext cx="9324340" cy="4690110"/>
          </a:xfrm>
          <a:prstGeom prst="rect">
            <a:avLst/>
          </a:prstGeom>
        </p:spPr>
        <p:txBody>
          <a:bodyPr vert="horz" wrap="square" lIns="0" tIns="12700" rIns="0" bIns="0" rtlCol="0">
            <a:spAutoFit/>
          </a:bodyPr>
          <a:lstStyle/>
          <a:p>
            <a:pPr marL="299085" indent="-286385">
              <a:lnSpc>
                <a:spcPct val="100000"/>
              </a:lnSpc>
              <a:spcBef>
                <a:spcPts val="100"/>
              </a:spcBef>
              <a:buChar char="•"/>
              <a:tabLst>
                <a:tab pos="299085" algn="l"/>
              </a:tabLst>
            </a:pPr>
            <a:r>
              <a:rPr sz="1800" dirty="0">
                <a:latin typeface="Arial MT"/>
                <a:cs typeface="Arial MT"/>
              </a:rPr>
              <a:t>Need</a:t>
            </a:r>
            <a:r>
              <a:rPr sz="1800" spc="-30" dirty="0">
                <a:latin typeface="Arial MT"/>
                <a:cs typeface="Arial MT"/>
              </a:rPr>
              <a:t> </a:t>
            </a:r>
            <a:r>
              <a:rPr sz="1800" dirty="0">
                <a:latin typeface="Arial MT"/>
                <a:cs typeface="Arial MT"/>
              </a:rPr>
              <a:t>for</a:t>
            </a:r>
            <a:r>
              <a:rPr sz="1800" spc="-30" dirty="0">
                <a:latin typeface="Arial MT"/>
                <a:cs typeface="Arial MT"/>
              </a:rPr>
              <a:t> </a:t>
            </a:r>
            <a:r>
              <a:rPr sz="1800" b="1" dirty="0">
                <a:latin typeface="Arial"/>
                <a:cs typeface="Arial"/>
              </a:rPr>
              <a:t>large</a:t>
            </a:r>
            <a:r>
              <a:rPr sz="1800" b="1" spc="-30" dirty="0">
                <a:latin typeface="Arial"/>
                <a:cs typeface="Arial"/>
              </a:rPr>
              <a:t> </a:t>
            </a:r>
            <a:r>
              <a:rPr sz="1800" b="1" dirty="0">
                <a:latin typeface="Arial"/>
                <a:cs typeface="Arial"/>
              </a:rPr>
              <a:t>and</a:t>
            </a:r>
            <a:r>
              <a:rPr sz="1800" b="1" spc="-35" dirty="0">
                <a:latin typeface="Arial"/>
                <a:cs typeface="Arial"/>
              </a:rPr>
              <a:t> </a:t>
            </a:r>
            <a:r>
              <a:rPr sz="1800" b="1" dirty="0">
                <a:latin typeface="Arial"/>
                <a:cs typeface="Arial"/>
              </a:rPr>
              <a:t>diverse</a:t>
            </a:r>
            <a:r>
              <a:rPr sz="1800" b="1" spc="5" dirty="0">
                <a:latin typeface="Arial"/>
                <a:cs typeface="Arial"/>
              </a:rPr>
              <a:t> </a:t>
            </a:r>
            <a:r>
              <a:rPr sz="1800" b="1" dirty="0">
                <a:latin typeface="Arial"/>
                <a:cs typeface="Arial"/>
              </a:rPr>
              <a:t>datasets</a:t>
            </a:r>
            <a:r>
              <a:rPr sz="1800" b="1" spc="-20" dirty="0">
                <a:latin typeface="Arial"/>
                <a:cs typeface="Arial"/>
              </a:rPr>
              <a:t> </a:t>
            </a:r>
            <a:r>
              <a:rPr sz="1800" dirty="0">
                <a:latin typeface="Arial MT"/>
                <a:cs typeface="Arial MT"/>
              </a:rPr>
              <a:t>covering</a:t>
            </a:r>
            <a:r>
              <a:rPr sz="1800" spc="-25" dirty="0">
                <a:latin typeface="Arial MT"/>
                <a:cs typeface="Arial MT"/>
              </a:rPr>
              <a:t> </a:t>
            </a:r>
            <a:r>
              <a:rPr sz="1800" dirty="0">
                <a:latin typeface="Arial MT"/>
                <a:cs typeface="Arial MT"/>
              </a:rPr>
              <a:t>various</a:t>
            </a:r>
            <a:r>
              <a:rPr sz="1800" spc="-20" dirty="0">
                <a:latin typeface="Arial MT"/>
                <a:cs typeface="Arial MT"/>
              </a:rPr>
              <a:t> </a:t>
            </a:r>
            <a:r>
              <a:rPr sz="1800" dirty="0">
                <a:latin typeface="Arial MT"/>
                <a:cs typeface="Arial MT"/>
              </a:rPr>
              <a:t>driving</a:t>
            </a:r>
            <a:r>
              <a:rPr sz="1800" spc="-20" dirty="0">
                <a:latin typeface="Arial MT"/>
                <a:cs typeface="Arial MT"/>
              </a:rPr>
              <a:t> </a:t>
            </a:r>
            <a:r>
              <a:rPr sz="1800" spc="-10" dirty="0">
                <a:latin typeface="Arial MT"/>
                <a:cs typeface="Arial MT"/>
              </a:rPr>
              <a:t>conditions</a:t>
            </a:r>
            <a:endParaRPr sz="1800" dirty="0">
              <a:latin typeface="Arial MT"/>
              <a:cs typeface="Arial MT"/>
            </a:endParaRPr>
          </a:p>
          <a:p>
            <a:pPr>
              <a:lnSpc>
                <a:spcPct val="100000"/>
              </a:lnSpc>
              <a:spcBef>
                <a:spcPts val="90"/>
              </a:spcBef>
              <a:buFont typeface="Arial MT"/>
              <a:buChar char="•"/>
            </a:pPr>
            <a:endParaRPr sz="1800" dirty="0">
              <a:latin typeface="Arial MT"/>
              <a:cs typeface="Arial MT"/>
            </a:endParaRPr>
          </a:p>
          <a:p>
            <a:pPr marL="299085" indent="-286385">
              <a:lnSpc>
                <a:spcPct val="100000"/>
              </a:lnSpc>
              <a:buChar char="•"/>
              <a:tabLst>
                <a:tab pos="299085" algn="l"/>
              </a:tabLst>
            </a:pPr>
            <a:r>
              <a:rPr sz="1800" dirty="0">
                <a:latin typeface="Arial MT"/>
                <a:cs typeface="Arial MT"/>
              </a:rPr>
              <a:t>Lack</a:t>
            </a:r>
            <a:r>
              <a:rPr sz="1800" spc="-40" dirty="0">
                <a:latin typeface="Arial MT"/>
                <a:cs typeface="Arial MT"/>
              </a:rPr>
              <a:t> </a:t>
            </a:r>
            <a:r>
              <a:rPr sz="1800" dirty="0">
                <a:latin typeface="Arial MT"/>
                <a:cs typeface="Arial MT"/>
              </a:rPr>
              <a:t>of</a:t>
            </a:r>
            <a:r>
              <a:rPr sz="1800" spc="-25" dirty="0">
                <a:latin typeface="Arial MT"/>
                <a:cs typeface="Arial MT"/>
              </a:rPr>
              <a:t> </a:t>
            </a:r>
            <a:r>
              <a:rPr sz="1800" b="1" dirty="0">
                <a:latin typeface="Arial"/>
                <a:cs typeface="Arial"/>
              </a:rPr>
              <a:t>generalizable</a:t>
            </a:r>
            <a:r>
              <a:rPr sz="1800" b="1" spc="-25" dirty="0">
                <a:latin typeface="Arial"/>
                <a:cs typeface="Arial"/>
              </a:rPr>
              <a:t> </a:t>
            </a:r>
            <a:r>
              <a:rPr sz="1800" b="1" dirty="0">
                <a:latin typeface="Arial"/>
                <a:cs typeface="Arial"/>
              </a:rPr>
              <a:t>and</a:t>
            </a:r>
            <a:r>
              <a:rPr sz="1800" b="1" spc="-35" dirty="0">
                <a:latin typeface="Arial"/>
                <a:cs typeface="Arial"/>
              </a:rPr>
              <a:t> </a:t>
            </a:r>
            <a:r>
              <a:rPr sz="1800" b="1" dirty="0">
                <a:latin typeface="Arial"/>
                <a:cs typeface="Arial"/>
              </a:rPr>
              <a:t>adaptive models</a:t>
            </a:r>
            <a:r>
              <a:rPr sz="1800" b="1" spc="-10" dirty="0">
                <a:latin typeface="Arial"/>
                <a:cs typeface="Arial"/>
              </a:rPr>
              <a:t> </a:t>
            </a:r>
            <a:r>
              <a:rPr sz="1800" dirty="0">
                <a:latin typeface="Arial MT"/>
                <a:cs typeface="Arial MT"/>
              </a:rPr>
              <a:t>for</a:t>
            </a:r>
            <a:r>
              <a:rPr sz="1800" spc="-40" dirty="0">
                <a:latin typeface="Arial MT"/>
                <a:cs typeface="Arial MT"/>
              </a:rPr>
              <a:t> </a:t>
            </a:r>
            <a:r>
              <a:rPr sz="1800" dirty="0">
                <a:latin typeface="Arial MT"/>
                <a:cs typeface="Arial MT"/>
              </a:rPr>
              <a:t>anomaly</a:t>
            </a:r>
            <a:r>
              <a:rPr sz="1800" spc="-10" dirty="0">
                <a:latin typeface="Arial MT"/>
                <a:cs typeface="Arial MT"/>
              </a:rPr>
              <a:t> detection.</a:t>
            </a:r>
            <a:endParaRPr sz="1800" dirty="0">
              <a:latin typeface="Arial MT"/>
              <a:cs typeface="Arial MT"/>
            </a:endParaRPr>
          </a:p>
          <a:p>
            <a:pPr>
              <a:lnSpc>
                <a:spcPct val="100000"/>
              </a:lnSpc>
              <a:spcBef>
                <a:spcPts val="90"/>
              </a:spcBef>
              <a:buFont typeface="Arial MT"/>
              <a:buChar char="•"/>
            </a:pPr>
            <a:endParaRPr sz="1800" dirty="0">
              <a:latin typeface="Arial MT"/>
              <a:cs typeface="Arial MT"/>
            </a:endParaRPr>
          </a:p>
          <a:p>
            <a:pPr marL="299085" indent="-286385">
              <a:lnSpc>
                <a:spcPct val="100000"/>
              </a:lnSpc>
              <a:buChar char="•"/>
              <a:tabLst>
                <a:tab pos="299085" algn="l"/>
              </a:tabLst>
            </a:pPr>
            <a:r>
              <a:rPr sz="1800" dirty="0">
                <a:latin typeface="Arial MT"/>
                <a:cs typeface="Arial MT"/>
              </a:rPr>
              <a:t>Need</a:t>
            </a:r>
            <a:r>
              <a:rPr sz="1800" spc="-30" dirty="0">
                <a:latin typeface="Arial MT"/>
                <a:cs typeface="Arial MT"/>
              </a:rPr>
              <a:t> </a:t>
            </a:r>
            <a:r>
              <a:rPr sz="1800" dirty="0">
                <a:latin typeface="Arial MT"/>
                <a:cs typeface="Arial MT"/>
              </a:rPr>
              <a:t>for</a:t>
            </a:r>
            <a:r>
              <a:rPr sz="1800" spc="-30" dirty="0">
                <a:latin typeface="Arial MT"/>
                <a:cs typeface="Arial MT"/>
              </a:rPr>
              <a:t> </a:t>
            </a:r>
            <a:r>
              <a:rPr sz="1800" b="1" dirty="0">
                <a:latin typeface="Arial"/>
                <a:cs typeface="Arial"/>
              </a:rPr>
              <a:t>lightweight</a:t>
            </a:r>
            <a:r>
              <a:rPr sz="1800" b="1" spc="-80" dirty="0">
                <a:latin typeface="Arial"/>
                <a:cs typeface="Arial"/>
              </a:rPr>
              <a:t> </a:t>
            </a:r>
            <a:r>
              <a:rPr sz="1800" b="1" dirty="0">
                <a:latin typeface="Arial"/>
                <a:cs typeface="Arial"/>
              </a:rPr>
              <a:t>deep</a:t>
            </a:r>
            <a:r>
              <a:rPr sz="1800" b="1" spc="-25" dirty="0">
                <a:latin typeface="Arial"/>
                <a:cs typeface="Arial"/>
              </a:rPr>
              <a:t> </a:t>
            </a:r>
            <a:r>
              <a:rPr sz="1800" b="1" dirty="0">
                <a:latin typeface="Arial"/>
                <a:cs typeface="Arial"/>
              </a:rPr>
              <a:t>learning</a:t>
            </a:r>
            <a:r>
              <a:rPr sz="1800" b="1" spc="-35" dirty="0">
                <a:latin typeface="Arial"/>
                <a:cs typeface="Arial"/>
              </a:rPr>
              <a:t> </a:t>
            </a:r>
            <a:r>
              <a:rPr sz="1800" b="1" dirty="0">
                <a:latin typeface="Arial"/>
                <a:cs typeface="Arial"/>
              </a:rPr>
              <a:t>models</a:t>
            </a:r>
            <a:r>
              <a:rPr sz="1800" b="1" spc="-40" dirty="0">
                <a:latin typeface="Arial"/>
                <a:cs typeface="Arial"/>
              </a:rPr>
              <a:t> </a:t>
            </a:r>
            <a:r>
              <a:rPr sz="1800" dirty="0">
                <a:latin typeface="Arial MT"/>
                <a:cs typeface="Arial MT"/>
              </a:rPr>
              <a:t>suitable</a:t>
            </a:r>
            <a:r>
              <a:rPr sz="1800" spc="-20" dirty="0">
                <a:latin typeface="Arial MT"/>
                <a:cs typeface="Arial MT"/>
              </a:rPr>
              <a:t> </a:t>
            </a:r>
            <a:r>
              <a:rPr sz="1800" dirty="0">
                <a:latin typeface="Arial MT"/>
                <a:cs typeface="Arial MT"/>
              </a:rPr>
              <a:t>for</a:t>
            </a:r>
            <a:r>
              <a:rPr sz="1800" spc="-45" dirty="0">
                <a:latin typeface="Arial MT"/>
                <a:cs typeface="Arial MT"/>
              </a:rPr>
              <a:t> </a:t>
            </a:r>
            <a:r>
              <a:rPr sz="1800" dirty="0">
                <a:latin typeface="Arial MT"/>
                <a:cs typeface="Arial MT"/>
              </a:rPr>
              <a:t>embedded</a:t>
            </a:r>
            <a:r>
              <a:rPr sz="1800" spc="-15" dirty="0">
                <a:latin typeface="Arial MT"/>
                <a:cs typeface="Arial MT"/>
              </a:rPr>
              <a:t> </a:t>
            </a:r>
            <a:r>
              <a:rPr sz="1800" dirty="0">
                <a:latin typeface="Arial MT"/>
                <a:cs typeface="Arial MT"/>
              </a:rPr>
              <a:t>systems.(hard</a:t>
            </a:r>
            <a:r>
              <a:rPr sz="1800" spc="-5" dirty="0">
                <a:latin typeface="Arial MT"/>
                <a:cs typeface="Arial MT"/>
              </a:rPr>
              <a:t> </a:t>
            </a:r>
            <a:r>
              <a:rPr sz="1800" spc="-10" dirty="0">
                <a:latin typeface="Arial MT"/>
                <a:cs typeface="Arial MT"/>
              </a:rPr>
              <a:t>ware)</a:t>
            </a:r>
            <a:endParaRPr sz="1800" dirty="0">
              <a:latin typeface="Arial MT"/>
              <a:cs typeface="Arial MT"/>
            </a:endParaRPr>
          </a:p>
          <a:p>
            <a:pPr>
              <a:lnSpc>
                <a:spcPct val="100000"/>
              </a:lnSpc>
              <a:spcBef>
                <a:spcPts val="90"/>
              </a:spcBef>
              <a:buFont typeface="Arial MT"/>
              <a:buChar char="•"/>
            </a:pPr>
            <a:endParaRPr sz="1800" dirty="0">
              <a:latin typeface="Arial MT"/>
              <a:cs typeface="Arial MT"/>
            </a:endParaRPr>
          </a:p>
          <a:p>
            <a:pPr marL="299085" indent="-286385">
              <a:lnSpc>
                <a:spcPct val="100000"/>
              </a:lnSpc>
              <a:buChar char="•"/>
              <a:tabLst>
                <a:tab pos="299085" algn="l"/>
              </a:tabLst>
            </a:pPr>
            <a:r>
              <a:rPr sz="1800" dirty="0">
                <a:latin typeface="Arial MT"/>
                <a:cs typeface="Arial MT"/>
              </a:rPr>
              <a:t>Absence</a:t>
            </a:r>
            <a:r>
              <a:rPr sz="1800" spc="-45" dirty="0">
                <a:latin typeface="Arial MT"/>
                <a:cs typeface="Arial MT"/>
              </a:rPr>
              <a:t> </a:t>
            </a:r>
            <a:r>
              <a:rPr sz="1800" dirty="0">
                <a:latin typeface="Arial MT"/>
                <a:cs typeface="Arial MT"/>
              </a:rPr>
              <a:t>of</a:t>
            </a:r>
            <a:r>
              <a:rPr sz="1800" spc="-30" dirty="0">
                <a:latin typeface="Arial MT"/>
                <a:cs typeface="Arial MT"/>
              </a:rPr>
              <a:t> </a:t>
            </a:r>
            <a:r>
              <a:rPr sz="1800" b="1" dirty="0">
                <a:latin typeface="Arial"/>
                <a:cs typeface="Arial"/>
              </a:rPr>
              <a:t>standard</a:t>
            </a:r>
            <a:r>
              <a:rPr sz="1800" b="1" spc="-30" dirty="0">
                <a:latin typeface="Arial"/>
                <a:cs typeface="Arial"/>
              </a:rPr>
              <a:t> </a:t>
            </a:r>
            <a:r>
              <a:rPr sz="1800" b="1" dirty="0">
                <a:latin typeface="Arial"/>
                <a:cs typeface="Arial"/>
              </a:rPr>
              <a:t>evaluation</a:t>
            </a:r>
            <a:r>
              <a:rPr sz="1800" b="1" spc="-5" dirty="0">
                <a:latin typeface="Arial"/>
                <a:cs typeface="Arial"/>
              </a:rPr>
              <a:t> </a:t>
            </a:r>
            <a:r>
              <a:rPr sz="1800" b="1" dirty="0">
                <a:latin typeface="Arial"/>
                <a:cs typeface="Arial"/>
              </a:rPr>
              <a:t>benchmarks</a:t>
            </a:r>
            <a:r>
              <a:rPr sz="1800" b="1" spc="-20" dirty="0">
                <a:latin typeface="Arial"/>
                <a:cs typeface="Arial"/>
              </a:rPr>
              <a:t> </a:t>
            </a:r>
            <a:r>
              <a:rPr sz="1800" dirty="0">
                <a:latin typeface="Arial MT"/>
                <a:cs typeface="Arial MT"/>
              </a:rPr>
              <a:t>across</a:t>
            </a:r>
            <a:r>
              <a:rPr sz="1800" spc="-35" dirty="0">
                <a:latin typeface="Arial MT"/>
                <a:cs typeface="Arial MT"/>
              </a:rPr>
              <a:t> </a:t>
            </a:r>
            <a:r>
              <a:rPr sz="1800" dirty="0">
                <a:latin typeface="Arial MT"/>
                <a:cs typeface="Arial MT"/>
              </a:rPr>
              <a:t>research</a:t>
            </a:r>
            <a:r>
              <a:rPr sz="1800" spc="-25" dirty="0">
                <a:latin typeface="Arial MT"/>
                <a:cs typeface="Arial MT"/>
              </a:rPr>
              <a:t> </a:t>
            </a:r>
            <a:r>
              <a:rPr sz="1800" spc="-10" dirty="0">
                <a:latin typeface="Arial MT"/>
                <a:cs typeface="Arial MT"/>
              </a:rPr>
              <a:t>works.</a:t>
            </a:r>
            <a:endParaRPr sz="1800" dirty="0">
              <a:latin typeface="Arial MT"/>
              <a:cs typeface="Arial MT"/>
            </a:endParaRPr>
          </a:p>
          <a:p>
            <a:pPr>
              <a:lnSpc>
                <a:spcPct val="100000"/>
              </a:lnSpc>
              <a:spcBef>
                <a:spcPts val="90"/>
              </a:spcBef>
              <a:buFont typeface="Arial MT"/>
              <a:buChar char="•"/>
            </a:pPr>
            <a:endParaRPr sz="1800" dirty="0">
              <a:latin typeface="Arial MT"/>
              <a:cs typeface="Arial MT"/>
            </a:endParaRPr>
          </a:p>
          <a:p>
            <a:pPr marL="299085" indent="-286385">
              <a:lnSpc>
                <a:spcPct val="100000"/>
              </a:lnSpc>
              <a:buChar char="•"/>
              <a:tabLst>
                <a:tab pos="299085" algn="l"/>
              </a:tabLst>
            </a:pPr>
            <a:r>
              <a:rPr sz="1800" dirty="0">
                <a:latin typeface="Arial MT"/>
                <a:cs typeface="Arial MT"/>
              </a:rPr>
              <a:t>Limited</a:t>
            </a:r>
            <a:r>
              <a:rPr sz="1800" spc="-20" dirty="0">
                <a:latin typeface="Arial MT"/>
                <a:cs typeface="Arial MT"/>
              </a:rPr>
              <a:t> </a:t>
            </a:r>
            <a:r>
              <a:rPr sz="1800" dirty="0">
                <a:latin typeface="Arial MT"/>
                <a:cs typeface="Arial MT"/>
              </a:rPr>
              <a:t>work</a:t>
            </a:r>
            <a:r>
              <a:rPr sz="1800" spc="5" dirty="0">
                <a:latin typeface="Arial MT"/>
                <a:cs typeface="Arial MT"/>
              </a:rPr>
              <a:t> </a:t>
            </a:r>
            <a:r>
              <a:rPr sz="1800" dirty="0">
                <a:latin typeface="Arial MT"/>
                <a:cs typeface="Arial MT"/>
              </a:rPr>
              <a:t>on</a:t>
            </a:r>
            <a:r>
              <a:rPr sz="1800" spc="-10" dirty="0">
                <a:latin typeface="Arial MT"/>
                <a:cs typeface="Arial MT"/>
              </a:rPr>
              <a:t> </a:t>
            </a:r>
            <a:r>
              <a:rPr sz="1800" b="1" spc="-20" dirty="0">
                <a:latin typeface="Arial"/>
                <a:cs typeface="Arial"/>
              </a:rPr>
              <a:t>privacy-</a:t>
            </a:r>
            <a:r>
              <a:rPr sz="1800" b="1" dirty="0">
                <a:latin typeface="Arial"/>
                <a:cs typeface="Arial"/>
              </a:rPr>
              <a:t>preserving</a:t>
            </a:r>
            <a:r>
              <a:rPr sz="1800" b="1" spc="30" dirty="0">
                <a:latin typeface="Arial"/>
                <a:cs typeface="Arial"/>
              </a:rPr>
              <a:t> </a:t>
            </a:r>
            <a:r>
              <a:rPr sz="1800" b="1" dirty="0">
                <a:latin typeface="Arial"/>
                <a:cs typeface="Arial"/>
              </a:rPr>
              <a:t>and</a:t>
            </a:r>
            <a:r>
              <a:rPr sz="1800" b="1" spc="-25" dirty="0">
                <a:latin typeface="Arial"/>
                <a:cs typeface="Arial"/>
              </a:rPr>
              <a:t> </a:t>
            </a:r>
            <a:r>
              <a:rPr sz="1800" b="1" spc="-20" dirty="0">
                <a:latin typeface="Arial"/>
                <a:cs typeface="Arial"/>
              </a:rPr>
              <a:t>on-</a:t>
            </a:r>
            <a:r>
              <a:rPr sz="1800" b="1" dirty="0">
                <a:latin typeface="Arial"/>
                <a:cs typeface="Arial"/>
              </a:rPr>
              <a:t>device</a:t>
            </a:r>
            <a:r>
              <a:rPr sz="1800" b="1" spc="5" dirty="0">
                <a:latin typeface="Arial"/>
                <a:cs typeface="Arial"/>
              </a:rPr>
              <a:t> </a:t>
            </a:r>
            <a:r>
              <a:rPr sz="1800" b="1" dirty="0">
                <a:latin typeface="Arial"/>
                <a:cs typeface="Arial"/>
              </a:rPr>
              <a:t>inference</a:t>
            </a:r>
            <a:r>
              <a:rPr sz="1800" b="1" spc="-15" dirty="0">
                <a:latin typeface="Arial"/>
                <a:cs typeface="Arial"/>
              </a:rPr>
              <a:t> </a:t>
            </a:r>
            <a:r>
              <a:rPr sz="1800" spc="-10" dirty="0">
                <a:latin typeface="Arial MT"/>
                <a:cs typeface="Arial MT"/>
              </a:rPr>
              <a:t>approaches.</a:t>
            </a:r>
            <a:endParaRPr sz="1800" dirty="0">
              <a:latin typeface="Arial MT"/>
              <a:cs typeface="Arial MT"/>
            </a:endParaRPr>
          </a:p>
          <a:p>
            <a:pPr>
              <a:lnSpc>
                <a:spcPct val="100000"/>
              </a:lnSpc>
              <a:spcBef>
                <a:spcPts val="90"/>
              </a:spcBef>
              <a:buFont typeface="Arial MT"/>
              <a:buChar char="•"/>
            </a:pPr>
            <a:endParaRPr sz="1800" dirty="0">
              <a:latin typeface="Arial MT"/>
              <a:cs typeface="Arial MT"/>
            </a:endParaRPr>
          </a:p>
          <a:p>
            <a:pPr marL="299085" indent="-286385">
              <a:lnSpc>
                <a:spcPct val="100000"/>
              </a:lnSpc>
              <a:buFont typeface="Arial MT"/>
              <a:buChar char="•"/>
              <a:tabLst>
                <a:tab pos="299085" algn="l"/>
              </a:tabLst>
            </a:pPr>
            <a:r>
              <a:rPr sz="1800" b="1" dirty="0">
                <a:latin typeface="Arial"/>
                <a:cs typeface="Arial"/>
              </a:rPr>
              <a:t>Limited</a:t>
            </a:r>
            <a:r>
              <a:rPr sz="1800" b="1" spc="-50" dirty="0">
                <a:latin typeface="Arial"/>
                <a:cs typeface="Arial"/>
              </a:rPr>
              <a:t> </a:t>
            </a:r>
            <a:r>
              <a:rPr sz="1800" b="1" spc="-10" dirty="0">
                <a:latin typeface="Arial"/>
                <a:cs typeface="Arial"/>
              </a:rPr>
              <a:t>Multi-</a:t>
            </a:r>
            <a:r>
              <a:rPr sz="1800" b="1" dirty="0">
                <a:latin typeface="Arial"/>
                <a:cs typeface="Arial"/>
              </a:rPr>
              <a:t>Modal</a:t>
            </a:r>
            <a:r>
              <a:rPr sz="1800" b="1" spc="-50" dirty="0">
                <a:latin typeface="Arial"/>
                <a:cs typeface="Arial"/>
              </a:rPr>
              <a:t> </a:t>
            </a:r>
            <a:r>
              <a:rPr sz="1800" b="1" dirty="0">
                <a:latin typeface="Arial"/>
                <a:cs typeface="Arial"/>
              </a:rPr>
              <a:t>Integration</a:t>
            </a:r>
            <a:r>
              <a:rPr sz="1800" b="1" spc="-30" dirty="0">
                <a:latin typeface="Arial"/>
                <a:cs typeface="Arial"/>
              </a:rPr>
              <a:t> </a:t>
            </a:r>
            <a:r>
              <a:rPr sz="1800" dirty="0">
                <a:latin typeface="Arial MT"/>
                <a:cs typeface="Arial MT"/>
              </a:rPr>
              <a:t>–</a:t>
            </a:r>
            <a:r>
              <a:rPr sz="1800" spc="-30" dirty="0">
                <a:latin typeface="Arial MT"/>
                <a:cs typeface="Arial MT"/>
              </a:rPr>
              <a:t> </a:t>
            </a:r>
            <a:r>
              <a:rPr sz="1800" dirty="0">
                <a:latin typeface="Arial MT"/>
                <a:cs typeface="Arial MT"/>
              </a:rPr>
              <a:t>Few</a:t>
            </a:r>
            <a:r>
              <a:rPr sz="1800" spc="-30" dirty="0">
                <a:latin typeface="Arial MT"/>
                <a:cs typeface="Arial MT"/>
              </a:rPr>
              <a:t> </a:t>
            </a:r>
            <a:r>
              <a:rPr sz="1800" dirty="0">
                <a:latin typeface="Arial MT"/>
                <a:cs typeface="Arial MT"/>
              </a:rPr>
              <a:t>approaches</a:t>
            </a:r>
            <a:r>
              <a:rPr sz="1800" spc="-10" dirty="0">
                <a:latin typeface="Arial MT"/>
                <a:cs typeface="Arial MT"/>
              </a:rPr>
              <a:t> </a:t>
            </a:r>
            <a:r>
              <a:rPr sz="1800" dirty="0">
                <a:latin typeface="Arial MT"/>
                <a:cs typeface="Arial MT"/>
              </a:rPr>
              <a:t>combine</a:t>
            </a:r>
            <a:r>
              <a:rPr sz="1800" spc="-15" dirty="0">
                <a:latin typeface="Arial MT"/>
                <a:cs typeface="Arial MT"/>
              </a:rPr>
              <a:t> </a:t>
            </a:r>
            <a:r>
              <a:rPr sz="1800" b="1" dirty="0">
                <a:latin typeface="Arial"/>
                <a:cs typeface="Arial"/>
              </a:rPr>
              <a:t>visual</a:t>
            </a:r>
            <a:r>
              <a:rPr sz="1800" b="1" spc="10" dirty="0">
                <a:latin typeface="Arial"/>
                <a:cs typeface="Arial"/>
              </a:rPr>
              <a:t> </a:t>
            </a:r>
            <a:r>
              <a:rPr sz="1800" b="1" dirty="0">
                <a:latin typeface="Arial"/>
                <a:cs typeface="Arial"/>
              </a:rPr>
              <a:t>and</a:t>
            </a:r>
            <a:r>
              <a:rPr sz="1800" b="1" spc="-25" dirty="0">
                <a:latin typeface="Arial"/>
                <a:cs typeface="Arial"/>
              </a:rPr>
              <a:t> </a:t>
            </a:r>
            <a:r>
              <a:rPr sz="1800" b="1" dirty="0">
                <a:latin typeface="Arial"/>
                <a:cs typeface="Arial"/>
              </a:rPr>
              <a:t>sensor</a:t>
            </a:r>
            <a:r>
              <a:rPr sz="1800" b="1" spc="-25" dirty="0">
                <a:latin typeface="Arial"/>
                <a:cs typeface="Arial"/>
              </a:rPr>
              <a:t> </a:t>
            </a:r>
            <a:r>
              <a:rPr sz="1800" b="1" spc="-20" dirty="0">
                <a:latin typeface="Arial"/>
                <a:cs typeface="Arial"/>
              </a:rPr>
              <a:t>data</a:t>
            </a:r>
            <a:endParaRPr sz="1800" dirty="0">
              <a:latin typeface="Arial"/>
              <a:cs typeface="Arial"/>
            </a:endParaRPr>
          </a:p>
          <a:p>
            <a:pPr marL="299085">
              <a:lnSpc>
                <a:spcPct val="100000"/>
              </a:lnSpc>
            </a:pPr>
            <a:r>
              <a:rPr sz="1800" dirty="0">
                <a:latin typeface="Arial MT"/>
                <a:cs typeface="Arial MT"/>
              </a:rPr>
              <a:t>(e.g.,</a:t>
            </a:r>
            <a:r>
              <a:rPr sz="1800" spc="-65" dirty="0">
                <a:latin typeface="Arial MT"/>
                <a:cs typeface="Arial MT"/>
              </a:rPr>
              <a:t> </a:t>
            </a:r>
            <a:r>
              <a:rPr sz="1800" dirty="0">
                <a:latin typeface="Arial MT"/>
                <a:cs typeface="Arial MT"/>
              </a:rPr>
              <a:t>steering</a:t>
            </a:r>
            <a:r>
              <a:rPr sz="1800" spc="-40" dirty="0">
                <a:latin typeface="Arial MT"/>
                <a:cs typeface="Arial MT"/>
              </a:rPr>
              <a:t> </a:t>
            </a:r>
            <a:r>
              <a:rPr sz="1800" dirty="0">
                <a:latin typeface="Arial MT"/>
                <a:cs typeface="Arial MT"/>
              </a:rPr>
              <a:t>angle,</a:t>
            </a:r>
            <a:r>
              <a:rPr sz="1800" spc="-30" dirty="0">
                <a:latin typeface="Arial MT"/>
                <a:cs typeface="Arial MT"/>
              </a:rPr>
              <a:t> </a:t>
            </a:r>
            <a:r>
              <a:rPr sz="1800" dirty="0">
                <a:latin typeface="Arial MT"/>
                <a:cs typeface="Arial MT"/>
              </a:rPr>
              <a:t>acceleration)</a:t>
            </a:r>
            <a:r>
              <a:rPr sz="1800" spc="-20" dirty="0">
                <a:latin typeface="Arial MT"/>
                <a:cs typeface="Arial MT"/>
              </a:rPr>
              <a:t> </a:t>
            </a:r>
            <a:r>
              <a:rPr sz="1800" dirty="0">
                <a:latin typeface="Arial MT"/>
                <a:cs typeface="Arial MT"/>
              </a:rPr>
              <a:t>for</a:t>
            </a:r>
            <a:r>
              <a:rPr sz="1800" spc="-45" dirty="0">
                <a:latin typeface="Arial MT"/>
                <a:cs typeface="Arial MT"/>
              </a:rPr>
              <a:t> </a:t>
            </a:r>
            <a:r>
              <a:rPr sz="1800" dirty="0">
                <a:latin typeface="Arial MT"/>
                <a:cs typeface="Arial MT"/>
              </a:rPr>
              <a:t>richer</a:t>
            </a:r>
            <a:r>
              <a:rPr sz="1800" spc="-35" dirty="0">
                <a:latin typeface="Arial MT"/>
                <a:cs typeface="Arial MT"/>
              </a:rPr>
              <a:t> </a:t>
            </a:r>
            <a:r>
              <a:rPr sz="1800" dirty="0">
                <a:latin typeface="Arial MT"/>
                <a:cs typeface="Arial MT"/>
              </a:rPr>
              <a:t>behavior</a:t>
            </a:r>
            <a:r>
              <a:rPr sz="1800" spc="-30" dirty="0">
                <a:latin typeface="Arial MT"/>
                <a:cs typeface="Arial MT"/>
              </a:rPr>
              <a:t> </a:t>
            </a:r>
            <a:r>
              <a:rPr sz="1800" spc="-10" dirty="0">
                <a:latin typeface="Arial MT"/>
                <a:cs typeface="Arial MT"/>
              </a:rPr>
              <a:t>understanding.</a:t>
            </a:r>
            <a:endParaRPr sz="1800" dirty="0">
              <a:latin typeface="Arial MT"/>
              <a:cs typeface="Arial MT"/>
            </a:endParaRPr>
          </a:p>
          <a:p>
            <a:pPr>
              <a:lnSpc>
                <a:spcPct val="100000"/>
              </a:lnSpc>
              <a:spcBef>
                <a:spcPts val="95"/>
              </a:spcBef>
            </a:pPr>
            <a:endParaRPr sz="1800" dirty="0">
              <a:latin typeface="Arial MT"/>
              <a:cs typeface="Arial MT"/>
            </a:endParaRPr>
          </a:p>
          <a:p>
            <a:pPr marL="299085" marR="669925" indent="-287020">
              <a:lnSpc>
                <a:spcPct val="100000"/>
              </a:lnSpc>
              <a:buFont typeface="Arial MT"/>
              <a:buChar char="•"/>
              <a:tabLst>
                <a:tab pos="299085" algn="l"/>
              </a:tabLst>
            </a:pPr>
            <a:r>
              <a:rPr sz="1800" b="1" spc="-10" dirty="0">
                <a:latin typeface="Arial"/>
                <a:cs typeface="Arial"/>
              </a:rPr>
              <a:t>Minimal</a:t>
            </a:r>
            <a:r>
              <a:rPr sz="1800" b="1" spc="-100" dirty="0">
                <a:latin typeface="Arial"/>
                <a:cs typeface="Arial"/>
              </a:rPr>
              <a:t> </a:t>
            </a:r>
            <a:r>
              <a:rPr sz="1800" b="1" dirty="0">
                <a:latin typeface="Arial"/>
                <a:cs typeface="Arial"/>
              </a:rPr>
              <a:t>Attention</a:t>
            </a:r>
            <a:r>
              <a:rPr sz="1800" b="1" spc="15" dirty="0">
                <a:latin typeface="Arial"/>
                <a:cs typeface="Arial"/>
              </a:rPr>
              <a:t> </a:t>
            </a:r>
            <a:r>
              <a:rPr sz="1800" b="1" dirty="0">
                <a:latin typeface="Arial"/>
                <a:cs typeface="Arial"/>
              </a:rPr>
              <a:t>to</a:t>
            </a:r>
            <a:r>
              <a:rPr sz="1800" b="1" spc="-20" dirty="0">
                <a:latin typeface="Arial"/>
                <a:cs typeface="Arial"/>
              </a:rPr>
              <a:t> </a:t>
            </a:r>
            <a:r>
              <a:rPr sz="1800" b="1" dirty="0">
                <a:latin typeface="Arial"/>
                <a:cs typeface="Arial"/>
              </a:rPr>
              <a:t>Explainability</a:t>
            </a:r>
            <a:r>
              <a:rPr sz="1800" b="1" spc="-35" dirty="0">
                <a:latin typeface="Arial"/>
                <a:cs typeface="Arial"/>
              </a:rPr>
              <a:t> </a:t>
            </a:r>
            <a:r>
              <a:rPr sz="1800" dirty="0">
                <a:latin typeface="Arial MT"/>
                <a:cs typeface="Arial MT"/>
              </a:rPr>
              <a:t>–</a:t>
            </a:r>
            <a:r>
              <a:rPr sz="1800" spc="-25" dirty="0">
                <a:latin typeface="Arial MT"/>
                <a:cs typeface="Arial MT"/>
              </a:rPr>
              <a:t> </a:t>
            </a:r>
            <a:r>
              <a:rPr sz="1800" dirty="0">
                <a:latin typeface="Arial MT"/>
                <a:cs typeface="Arial MT"/>
              </a:rPr>
              <a:t>Most</a:t>
            </a:r>
            <a:r>
              <a:rPr sz="1800" spc="-25" dirty="0">
                <a:latin typeface="Arial MT"/>
                <a:cs typeface="Arial MT"/>
              </a:rPr>
              <a:t> </a:t>
            </a:r>
            <a:r>
              <a:rPr sz="1800" dirty="0">
                <a:latin typeface="Arial MT"/>
                <a:cs typeface="Arial MT"/>
              </a:rPr>
              <a:t>systems</a:t>
            </a:r>
            <a:r>
              <a:rPr sz="1800" spc="-15" dirty="0">
                <a:latin typeface="Arial MT"/>
                <a:cs typeface="Arial MT"/>
              </a:rPr>
              <a:t> </a:t>
            </a:r>
            <a:r>
              <a:rPr sz="1800" dirty="0">
                <a:latin typeface="Arial MT"/>
                <a:cs typeface="Arial MT"/>
              </a:rPr>
              <a:t>function</a:t>
            </a:r>
            <a:r>
              <a:rPr sz="1800" spc="-15" dirty="0">
                <a:latin typeface="Arial MT"/>
                <a:cs typeface="Arial MT"/>
              </a:rPr>
              <a:t> </a:t>
            </a:r>
            <a:r>
              <a:rPr sz="1800" dirty="0">
                <a:latin typeface="Arial MT"/>
                <a:cs typeface="Arial MT"/>
              </a:rPr>
              <a:t>as</a:t>
            </a:r>
            <a:r>
              <a:rPr sz="1800" spc="-25" dirty="0">
                <a:latin typeface="Arial MT"/>
                <a:cs typeface="Arial MT"/>
              </a:rPr>
              <a:t> </a:t>
            </a:r>
            <a:r>
              <a:rPr sz="1800" dirty="0">
                <a:latin typeface="Arial MT"/>
                <a:cs typeface="Arial MT"/>
              </a:rPr>
              <a:t>black</a:t>
            </a:r>
            <a:r>
              <a:rPr sz="1800" spc="-15" dirty="0">
                <a:latin typeface="Arial MT"/>
                <a:cs typeface="Arial MT"/>
              </a:rPr>
              <a:t> </a:t>
            </a:r>
            <a:r>
              <a:rPr sz="1800" dirty="0">
                <a:latin typeface="Arial MT"/>
                <a:cs typeface="Arial MT"/>
              </a:rPr>
              <a:t>boxes;</a:t>
            </a:r>
            <a:r>
              <a:rPr sz="1800" spc="-10" dirty="0">
                <a:latin typeface="Arial MT"/>
                <a:cs typeface="Arial MT"/>
              </a:rPr>
              <a:t> </a:t>
            </a:r>
            <a:r>
              <a:rPr sz="1800" spc="-20" dirty="0">
                <a:latin typeface="Arial MT"/>
                <a:cs typeface="Arial MT"/>
              </a:rPr>
              <a:t>lack </a:t>
            </a:r>
            <a:r>
              <a:rPr sz="1800" dirty="0">
                <a:latin typeface="Arial MT"/>
                <a:cs typeface="Arial MT"/>
              </a:rPr>
              <a:t>interpretability</a:t>
            </a:r>
            <a:r>
              <a:rPr sz="1800" spc="-5" dirty="0">
                <a:latin typeface="Arial MT"/>
                <a:cs typeface="Arial MT"/>
              </a:rPr>
              <a:t> </a:t>
            </a:r>
            <a:r>
              <a:rPr sz="1800" dirty="0">
                <a:latin typeface="Arial MT"/>
                <a:cs typeface="Arial MT"/>
              </a:rPr>
              <a:t>in</a:t>
            </a:r>
            <a:r>
              <a:rPr sz="1800" spc="-40" dirty="0">
                <a:latin typeface="Arial MT"/>
                <a:cs typeface="Arial MT"/>
              </a:rPr>
              <a:t> </a:t>
            </a:r>
            <a:r>
              <a:rPr sz="1800" dirty="0">
                <a:latin typeface="Arial MT"/>
                <a:cs typeface="Arial MT"/>
              </a:rPr>
              <a:t>showing</a:t>
            </a:r>
            <a:r>
              <a:rPr sz="1800" spc="30" dirty="0">
                <a:latin typeface="Arial MT"/>
                <a:cs typeface="Arial MT"/>
              </a:rPr>
              <a:t> </a:t>
            </a:r>
            <a:r>
              <a:rPr sz="1800" i="1" dirty="0">
                <a:latin typeface="Arial"/>
                <a:cs typeface="Arial"/>
              </a:rPr>
              <a:t>why</a:t>
            </a:r>
            <a:r>
              <a:rPr sz="1800" i="1" spc="-40" dirty="0">
                <a:latin typeface="Arial"/>
                <a:cs typeface="Arial"/>
              </a:rPr>
              <a:t> </a:t>
            </a:r>
            <a:r>
              <a:rPr sz="1800" dirty="0">
                <a:latin typeface="Arial MT"/>
                <a:cs typeface="Arial MT"/>
              </a:rPr>
              <a:t>a</a:t>
            </a:r>
            <a:r>
              <a:rPr sz="1800" spc="-30" dirty="0">
                <a:latin typeface="Arial MT"/>
                <a:cs typeface="Arial MT"/>
              </a:rPr>
              <a:t> </a:t>
            </a:r>
            <a:r>
              <a:rPr sz="1800" dirty="0">
                <a:latin typeface="Arial MT"/>
                <a:cs typeface="Arial MT"/>
              </a:rPr>
              <a:t>behavior</a:t>
            </a:r>
            <a:r>
              <a:rPr sz="1800" spc="-15" dirty="0">
                <a:latin typeface="Arial MT"/>
                <a:cs typeface="Arial MT"/>
              </a:rPr>
              <a:t> </a:t>
            </a:r>
            <a:r>
              <a:rPr sz="1800" dirty="0">
                <a:latin typeface="Arial MT"/>
                <a:cs typeface="Arial MT"/>
              </a:rPr>
              <a:t>is</a:t>
            </a:r>
            <a:r>
              <a:rPr sz="1800" spc="-30" dirty="0">
                <a:latin typeface="Arial MT"/>
                <a:cs typeface="Arial MT"/>
              </a:rPr>
              <a:t> </a:t>
            </a:r>
            <a:r>
              <a:rPr sz="1800" dirty="0">
                <a:latin typeface="Arial MT"/>
                <a:cs typeface="Arial MT"/>
              </a:rPr>
              <a:t>flagged</a:t>
            </a:r>
            <a:r>
              <a:rPr sz="1800" spc="-25" dirty="0">
                <a:latin typeface="Arial MT"/>
                <a:cs typeface="Arial MT"/>
              </a:rPr>
              <a:t> </a:t>
            </a:r>
            <a:r>
              <a:rPr sz="1800" dirty="0">
                <a:latin typeface="Arial MT"/>
                <a:cs typeface="Arial MT"/>
              </a:rPr>
              <a:t>as</a:t>
            </a:r>
            <a:r>
              <a:rPr sz="1800" spc="-30" dirty="0">
                <a:latin typeface="Arial MT"/>
                <a:cs typeface="Arial MT"/>
              </a:rPr>
              <a:t> </a:t>
            </a:r>
            <a:r>
              <a:rPr sz="1800" spc="-10" dirty="0">
                <a:latin typeface="Arial MT"/>
                <a:cs typeface="Arial MT"/>
              </a:rPr>
              <a:t>unsafe.</a:t>
            </a:r>
            <a:endParaRPr sz="1800" dirty="0">
              <a:latin typeface="Arial MT"/>
              <a:cs typeface="Arial MT"/>
            </a:endParaRPr>
          </a:p>
          <a:p>
            <a:pPr>
              <a:lnSpc>
                <a:spcPct val="100000"/>
              </a:lnSpc>
              <a:spcBef>
                <a:spcPts val="90"/>
              </a:spcBef>
            </a:pPr>
            <a:endParaRPr sz="1800" dirty="0">
              <a:latin typeface="Arial MT"/>
              <a:cs typeface="Arial MT"/>
            </a:endParaRPr>
          </a:p>
          <a:p>
            <a:pPr marL="12700">
              <a:lnSpc>
                <a:spcPct val="100000"/>
              </a:lnSpc>
            </a:pPr>
            <a:r>
              <a:rPr sz="1800" spc="-50" dirty="0">
                <a:latin typeface="Arial MT"/>
                <a:cs typeface="Arial MT"/>
              </a:rPr>
              <a:t>.</a:t>
            </a:r>
            <a:endParaRPr sz="1800" dirty="0">
              <a:latin typeface="Arial MT"/>
              <a:cs typeface="Arial M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639567" y="1057338"/>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a:spLocks noGrp="1"/>
          </p:cNvSpPr>
          <p:nvPr>
            <p:ph type="title"/>
          </p:nvPr>
        </p:nvSpPr>
        <p:spPr>
          <a:xfrm>
            <a:off x="8557641" y="598170"/>
            <a:ext cx="1474470" cy="391160"/>
          </a:xfrm>
          <a:prstGeom prst="rect">
            <a:avLst/>
          </a:prstGeom>
        </p:spPr>
        <p:txBody>
          <a:bodyPr vert="horz" wrap="square" lIns="0" tIns="12700" rIns="0" bIns="0" rtlCol="0">
            <a:spAutoFit/>
          </a:bodyPr>
          <a:lstStyle/>
          <a:p>
            <a:pPr marL="12700">
              <a:lnSpc>
                <a:spcPct val="100000"/>
              </a:lnSpc>
              <a:spcBef>
                <a:spcPts val="100"/>
              </a:spcBef>
            </a:pPr>
            <a:r>
              <a:rPr spc="-10" dirty="0"/>
              <a:t>Objectives</a:t>
            </a:r>
          </a:p>
        </p:txBody>
      </p:sp>
      <p:sp>
        <p:nvSpPr>
          <p:cNvPr id="4" name="object 4"/>
          <p:cNvSpPr txBox="1"/>
          <p:nvPr/>
        </p:nvSpPr>
        <p:spPr>
          <a:xfrm>
            <a:off x="990396" y="1142746"/>
            <a:ext cx="9982200" cy="5366213"/>
          </a:xfrm>
          <a:prstGeom prst="rect">
            <a:avLst/>
          </a:prstGeom>
        </p:spPr>
        <p:txBody>
          <a:bodyPr vert="horz" wrap="square" lIns="0" tIns="15240" rIns="0" bIns="0" rtlCol="0">
            <a:spAutoFit/>
          </a:bodyPr>
          <a:lstStyle/>
          <a:p>
            <a:pPr marL="299085" marR="777240" indent="-287020">
              <a:lnSpc>
                <a:spcPct val="99100"/>
              </a:lnSpc>
              <a:spcBef>
                <a:spcPts val="120"/>
              </a:spcBef>
              <a:buChar char="•"/>
              <a:tabLst>
                <a:tab pos="299085" algn="l"/>
              </a:tabLst>
            </a:pPr>
            <a:r>
              <a:rPr sz="1800" spc="-95" dirty="0">
                <a:latin typeface="Arial MT"/>
                <a:cs typeface="Arial MT"/>
              </a:rPr>
              <a:t>To</a:t>
            </a:r>
            <a:r>
              <a:rPr sz="1800" spc="-30" dirty="0">
                <a:latin typeface="Arial MT"/>
                <a:cs typeface="Arial MT"/>
              </a:rPr>
              <a:t> </a:t>
            </a:r>
            <a:r>
              <a:rPr sz="1800" b="1" dirty="0">
                <a:latin typeface="Arial"/>
                <a:cs typeface="Arial"/>
              </a:rPr>
              <a:t>detect</a:t>
            </a:r>
            <a:r>
              <a:rPr sz="1800" b="1" spc="-50" dirty="0">
                <a:latin typeface="Arial"/>
                <a:cs typeface="Arial"/>
              </a:rPr>
              <a:t> </a:t>
            </a:r>
            <a:r>
              <a:rPr sz="1800" b="1" dirty="0">
                <a:latin typeface="Arial"/>
                <a:cs typeface="Arial"/>
              </a:rPr>
              <a:t>abnormal</a:t>
            </a:r>
            <a:r>
              <a:rPr sz="1800" b="1" spc="-25" dirty="0">
                <a:latin typeface="Arial"/>
                <a:cs typeface="Arial"/>
              </a:rPr>
              <a:t> </a:t>
            </a:r>
            <a:r>
              <a:rPr sz="1800" b="1" dirty="0">
                <a:latin typeface="Arial"/>
                <a:cs typeface="Arial"/>
              </a:rPr>
              <a:t>driver</a:t>
            </a:r>
            <a:r>
              <a:rPr sz="1800" b="1" spc="-5" dirty="0">
                <a:latin typeface="Arial"/>
                <a:cs typeface="Arial"/>
              </a:rPr>
              <a:t> </a:t>
            </a:r>
            <a:r>
              <a:rPr sz="1800" b="1" dirty="0">
                <a:latin typeface="Arial"/>
                <a:cs typeface="Arial"/>
              </a:rPr>
              <a:t>behaviors</a:t>
            </a:r>
            <a:r>
              <a:rPr sz="1800" b="1" spc="5" dirty="0">
                <a:latin typeface="Arial"/>
                <a:cs typeface="Arial"/>
              </a:rPr>
              <a:t> </a:t>
            </a:r>
            <a:r>
              <a:rPr sz="1800" dirty="0">
                <a:latin typeface="Arial MT"/>
                <a:cs typeface="Arial MT"/>
              </a:rPr>
              <a:t>such</a:t>
            </a:r>
            <a:r>
              <a:rPr sz="1800" spc="-20" dirty="0">
                <a:latin typeface="Arial MT"/>
                <a:cs typeface="Arial MT"/>
              </a:rPr>
              <a:t> </a:t>
            </a:r>
            <a:r>
              <a:rPr sz="1800" dirty="0">
                <a:latin typeface="Arial MT"/>
                <a:cs typeface="Arial MT"/>
              </a:rPr>
              <a:t>as</a:t>
            </a:r>
            <a:r>
              <a:rPr sz="1800" spc="-35" dirty="0">
                <a:latin typeface="Arial MT"/>
                <a:cs typeface="Arial MT"/>
              </a:rPr>
              <a:t> </a:t>
            </a:r>
            <a:r>
              <a:rPr sz="1800" dirty="0">
                <a:latin typeface="Arial MT"/>
                <a:cs typeface="Arial MT"/>
              </a:rPr>
              <a:t>drowsiness,</a:t>
            </a:r>
            <a:r>
              <a:rPr sz="1800" spc="20" dirty="0">
                <a:latin typeface="Arial MT"/>
                <a:cs typeface="Arial MT"/>
              </a:rPr>
              <a:t> </a:t>
            </a:r>
            <a:r>
              <a:rPr sz="1800" dirty="0">
                <a:latin typeface="Arial MT"/>
                <a:cs typeface="Arial MT"/>
              </a:rPr>
              <a:t>distraction,</a:t>
            </a:r>
            <a:r>
              <a:rPr sz="1800" spc="-15" dirty="0">
                <a:latin typeface="Arial MT"/>
                <a:cs typeface="Arial MT"/>
              </a:rPr>
              <a:t> </a:t>
            </a:r>
            <a:r>
              <a:rPr sz="1800" dirty="0">
                <a:latin typeface="Arial MT"/>
                <a:cs typeface="Arial MT"/>
              </a:rPr>
              <a:t>and</a:t>
            </a:r>
            <a:r>
              <a:rPr sz="1800" spc="-40" dirty="0">
                <a:latin typeface="Arial MT"/>
                <a:cs typeface="Arial MT"/>
              </a:rPr>
              <a:t> </a:t>
            </a:r>
            <a:r>
              <a:rPr sz="1800" dirty="0">
                <a:latin typeface="Arial MT"/>
                <a:cs typeface="Arial MT"/>
              </a:rPr>
              <a:t>rash</a:t>
            </a:r>
            <a:r>
              <a:rPr sz="1800" spc="-20" dirty="0">
                <a:latin typeface="Arial MT"/>
                <a:cs typeface="Arial MT"/>
              </a:rPr>
              <a:t> </a:t>
            </a:r>
            <a:r>
              <a:rPr sz="1800" spc="-10" dirty="0">
                <a:latin typeface="Arial MT"/>
                <a:cs typeface="Arial MT"/>
              </a:rPr>
              <a:t>driving </a:t>
            </a:r>
            <a:r>
              <a:rPr sz="1800" dirty="0">
                <a:latin typeface="Arial MT"/>
                <a:cs typeface="Arial MT"/>
              </a:rPr>
              <a:t>usingdeep</a:t>
            </a:r>
            <a:r>
              <a:rPr sz="1800" spc="-40" dirty="0">
                <a:latin typeface="Arial MT"/>
                <a:cs typeface="Arial MT"/>
              </a:rPr>
              <a:t> </a:t>
            </a:r>
            <a:r>
              <a:rPr sz="1800" dirty="0">
                <a:latin typeface="Arial MT"/>
                <a:cs typeface="Arial MT"/>
              </a:rPr>
              <a:t>learning</a:t>
            </a:r>
            <a:r>
              <a:rPr sz="1800" spc="-30" dirty="0">
                <a:latin typeface="Arial MT"/>
                <a:cs typeface="Arial MT"/>
              </a:rPr>
              <a:t> </a:t>
            </a:r>
            <a:r>
              <a:rPr sz="1800" spc="-10" dirty="0">
                <a:latin typeface="Arial MT"/>
                <a:cs typeface="Arial MT"/>
              </a:rPr>
              <a:t>techniques</a:t>
            </a:r>
            <a:r>
              <a:rPr sz="2800" spc="-10" dirty="0">
                <a:latin typeface="Arial MT"/>
                <a:cs typeface="Arial MT"/>
              </a:rPr>
              <a:t>.</a:t>
            </a:r>
            <a:endParaRPr sz="2800" dirty="0">
              <a:latin typeface="Arial MT"/>
              <a:cs typeface="Arial MT"/>
            </a:endParaRPr>
          </a:p>
          <a:p>
            <a:pPr>
              <a:lnSpc>
                <a:spcPct val="100000"/>
              </a:lnSpc>
              <a:spcBef>
                <a:spcPts val="1320"/>
              </a:spcBef>
              <a:buFont typeface="Arial MT"/>
              <a:buChar char="•"/>
            </a:pPr>
            <a:endParaRPr sz="1800" dirty="0">
              <a:latin typeface="Arial MT"/>
              <a:cs typeface="Arial MT"/>
            </a:endParaRPr>
          </a:p>
          <a:p>
            <a:pPr marL="469265" marR="308610" indent="-457200">
              <a:lnSpc>
                <a:spcPct val="100000"/>
              </a:lnSpc>
              <a:buChar char="•"/>
              <a:tabLst>
                <a:tab pos="469265" algn="l"/>
              </a:tabLst>
            </a:pPr>
            <a:r>
              <a:rPr sz="1800" spc="-95" dirty="0">
                <a:latin typeface="Arial MT"/>
                <a:cs typeface="Arial MT"/>
              </a:rPr>
              <a:t>To</a:t>
            </a:r>
            <a:r>
              <a:rPr sz="1800" spc="-30" dirty="0">
                <a:latin typeface="Arial MT"/>
                <a:cs typeface="Arial MT"/>
              </a:rPr>
              <a:t> </a:t>
            </a:r>
            <a:r>
              <a:rPr sz="1800" b="1" dirty="0">
                <a:latin typeface="Arial"/>
                <a:cs typeface="Arial"/>
              </a:rPr>
              <a:t>design</a:t>
            </a:r>
            <a:r>
              <a:rPr sz="1800" b="1" spc="-45" dirty="0">
                <a:latin typeface="Arial"/>
                <a:cs typeface="Arial"/>
              </a:rPr>
              <a:t> </a:t>
            </a:r>
            <a:r>
              <a:rPr sz="1800" b="1" dirty="0">
                <a:latin typeface="Arial"/>
                <a:cs typeface="Arial"/>
              </a:rPr>
              <a:t>lightweight</a:t>
            </a:r>
            <a:r>
              <a:rPr sz="1800" b="1" spc="-75" dirty="0">
                <a:latin typeface="Arial"/>
                <a:cs typeface="Arial"/>
              </a:rPr>
              <a:t> </a:t>
            </a:r>
            <a:r>
              <a:rPr sz="1800" b="1" dirty="0">
                <a:latin typeface="Arial"/>
                <a:cs typeface="Arial"/>
              </a:rPr>
              <a:t>and</a:t>
            </a:r>
            <a:r>
              <a:rPr sz="1800" b="1" spc="-25" dirty="0">
                <a:latin typeface="Arial"/>
                <a:cs typeface="Arial"/>
              </a:rPr>
              <a:t> </a:t>
            </a:r>
            <a:r>
              <a:rPr sz="1800" b="1" dirty="0">
                <a:latin typeface="Arial"/>
                <a:cs typeface="Arial"/>
              </a:rPr>
              <a:t>efficient</a:t>
            </a:r>
            <a:r>
              <a:rPr sz="1800" b="1" spc="-30" dirty="0">
                <a:latin typeface="Arial"/>
                <a:cs typeface="Arial"/>
              </a:rPr>
              <a:t> </a:t>
            </a:r>
            <a:r>
              <a:rPr sz="1800" b="1" dirty="0">
                <a:latin typeface="Arial"/>
                <a:cs typeface="Arial"/>
              </a:rPr>
              <a:t>deep</a:t>
            </a:r>
            <a:r>
              <a:rPr sz="1800" b="1" spc="-25" dirty="0">
                <a:latin typeface="Arial"/>
                <a:cs typeface="Arial"/>
              </a:rPr>
              <a:t> </a:t>
            </a:r>
            <a:r>
              <a:rPr sz="1800" b="1" dirty="0">
                <a:latin typeface="Arial"/>
                <a:cs typeface="Arial"/>
              </a:rPr>
              <a:t>learning</a:t>
            </a:r>
            <a:r>
              <a:rPr sz="1800" b="1" spc="-30" dirty="0">
                <a:latin typeface="Arial"/>
                <a:cs typeface="Arial"/>
              </a:rPr>
              <a:t> </a:t>
            </a:r>
            <a:r>
              <a:rPr sz="1800" b="1" dirty="0">
                <a:latin typeface="Arial"/>
                <a:cs typeface="Arial"/>
              </a:rPr>
              <a:t>models</a:t>
            </a:r>
            <a:r>
              <a:rPr sz="1800" b="1" spc="-10" dirty="0">
                <a:latin typeface="Arial"/>
                <a:cs typeface="Arial"/>
              </a:rPr>
              <a:t> </a:t>
            </a:r>
            <a:r>
              <a:rPr sz="1800" dirty="0">
                <a:latin typeface="Arial MT"/>
                <a:cs typeface="Arial MT"/>
              </a:rPr>
              <a:t>suitable</a:t>
            </a:r>
            <a:r>
              <a:rPr sz="1800" spc="-20" dirty="0">
                <a:latin typeface="Arial MT"/>
                <a:cs typeface="Arial MT"/>
              </a:rPr>
              <a:t> </a:t>
            </a:r>
            <a:r>
              <a:rPr sz="1800" dirty="0">
                <a:latin typeface="Arial MT"/>
                <a:cs typeface="Arial MT"/>
              </a:rPr>
              <a:t>for</a:t>
            </a:r>
            <a:r>
              <a:rPr sz="1800" spc="-25" dirty="0">
                <a:latin typeface="Arial MT"/>
                <a:cs typeface="Arial MT"/>
              </a:rPr>
              <a:t> </a:t>
            </a:r>
            <a:r>
              <a:rPr sz="1800" dirty="0">
                <a:latin typeface="Arial MT"/>
                <a:cs typeface="Arial MT"/>
              </a:rPr>
              <a:t>deployment</a:t>
            </a:r>
            <a:r>
              <a:rPr sz="1800" spc="5" dirty="0">
                <a:latin typeface="Arial MT"/>
                <a:cs typeface="Arial MT"/>
              </a:rPr>
              <a:t> </a:t>
            </a:r>
            <a:r>
              <a:rPr sz="1800" dirty="0">
                <a:latin typeface="Arial MT"/>
                <a:cs typeface="Arial MT"/>
              </a:rPr>
              <a:t>on</a:t>
            </a:r>
            <a:r>
              <a:rPr sz="1800" spc="-25" dirty="0">
                <a:latin typeface="Arial MT"/>
                <a:cs typeface="Arial MT"/>
              </a:rPr>
              <a:t> in- </a:t>
            </a:r>
            <a:r>
              <a:rPr sz="1800" dirty="0">
                <a:latin typeface="Arial MT"/>
                <a:cs typeface="Arial MT"/>
              </a:rPr>
              <a:t>vehicle</a:t>
            </a:r>
            <a:r>
              <a:rPr sz="1800" spc="-55" dirty="0">
                <a:latin typeface="Arial MT"/>
                <a:cs typeface="Arial MT"/>
              </a:rPr>
              <a:t> </a:t>
            </a:r>
            <a:r>
              <a:rPr sz="1800" spc="-10" dirty="0">
                <a:latin typeface="Arial MT"/>
                <a:cs typeface="Arial MT"/>
              </a:rPr>
              <a:t>hardware.</a:t>
            </a:r>
            <a:endParaRPr sz="1800" dirty="0">
              <a:latin typeface="Arial MT"/>
              <a:cs typeface="Arial MT"/>
            </a:endParaRPr>
          </a:p>
          <a:p>
            <a:pPr>
              <a:lnSpc>
                <a:spcPct val="100000"/>
              </a:lnSpc>
              <a:spcBef>
                <a:spcPts val="90"/>
              </a:spcBef>
              <a:buFont typeface="Arial MT"/>
              <a:buChar char="•"/>
            </a:pPr>
            <a:endParaRPr sz="1800" dirty="0">
              <a:latin typeface="Arial MT"/>
              <a:cs typeface="Arial MT"/>
            </a:endParaRPr>
          </a:p>
          <a:p>
            <a:pPr marL="469265" marR="1174115" indent="-457200">
              <a:lnSpc>
                <a:spcPct val="100000"/>
              </a:lnSpc>
              <a:buChar char="•"/>
              <a:tabLst>
                <a:tab pos="469265" algn="l"/>
              </a:tabLst>
            </a:pPr>
            <a:r>
              <a:rPr sz="1800" spc="-95" dirty="0">
                <a:latin typeface="Arial MT"/>
                <a:cs typeface="Arial MT"/>
              </a:rPr>
              <a:t>To</a:t>
            </a:r>
            <a:r>
              <a:rPr sz="1800" spc="-30" dirty="0">
                <a:latin typeface="Arial MT"/>
                <a:cs typeface="Arial MT"/>
              </a:rPr>
              <a:t> </a:t>
            </a:r>
            <a:r>
              <a:rPr sz="1800" b="1" dirty="0">
                <a:latin typeface="Arial"/>
                <a:cs typeface="Arial"/>
              </a:rPr>
              <a:t>improve</a:t>
            </a:r>
            <a:r>
              <a:rPr sz="1800" b="1" spc="-25" dirty="0">
                <a:latin typeface="Arial"/>
                <a:cs typeface="Arial"/>
              </a:rPr>
              <a:t> </a:t>
            </a:r>
            <a:r>
              <a:rPr sz="1800" b="1" dirty="0">
                <a:latin typeface="Arial"/>
                <a:cs typeface="Arial"/>
              </a:rPr>
              <a:t>accuracy</a:t>
            </a:r>
            <a:r>
              <a:rPr sz="1800" b="1" spc="-20" dirty="0">
                <a:latin typeface="Arial"/>
                <a:cs typeface="Arial"/>
              </a:rPr>
              <a:t> </a:t>
            </a:r>
            <a:r>
              <a:rPr sz="1800" b="1" dirty="0">
                <a:latin typeface="Arial"/>
                <a:cs typeface="Arial"/>
              </a:rPr>
              <a:t>and</a:t>
            </a:r>
            <a:r>
              <a:rPr sz="1800" b="1" spc="-30" dirty="0">
                <a:latin typeface="Arial"/>
                <a:cs typeface="Arial"/>
              </a:rPr>
              <a:t> </a:t>
            </a:r>
            <a:r>
              <a:rPr sz="1800" b="1" dirty="0">
                <a:latin typeface="Arial"/>
                <a:cs typeface="Arial"/>
              </a:rPr>
              <a:t>reduce</a:t>
            </a:r>
            <a:r>
              <a:rPr sz="1800" b="1" spc="-45" dirty="0">
                <a:latin typeface="Arial"/>
                <a:cs typeface="Arial"/>
              </a:rPr>
              <a:t> </a:t>
            </a:r>
            <a:r>
              <a:rPr sz="1800" b="1" dirty="0">
                <a:latin typeface="Arial"/>
                <a:cs typeface="Arial"/>
              </a:rPr>
              <a:t>false</a:t>
            </a:r>
            <a:r>
              <a:rPr sz="1800" b="1" spc="-25" dirty="0">
                <a:latin typeface="Arial"/>
                <a:cs typeface="Arial"/>
              </a:rPr>
              <a:t> </a:t>
            </a:r>
            <a:r>
              <a:rPr sz="1800" b="1" dirty="0">
                <a:latin typeface="Arial"/>
                <a:cs typeface="Arial"/>
              </a:rPr>
              <a:t>positives</a:t>
            </a:r>
            <a:r>
              <a:rPr sz="1800" b="1" spc="-5" dirty="0">
                <a:latin typeface="Arial"/>
                <a:cs typeface="Arial"/>
              </a:rPr>
              <a:t> </a:t>
            </a:r>
            <a:r>
              <a:rPr sz="1800" dirty="0">
                <a:latin typeface="Arial MT"/>
                <a:cs typeface="Arial MT"/>
              </a:rPr>
              <a:t>through</a:t>
            </a:r>
            <a:r>
              <a:rPr sz="1800" spc="-30" dirty="0">
                <a:latin typeface="Arial MT"/>
                <a:cs typeface="Arial MT"/>
              </a:rPr>
              <a:t> </a:t>
            </a:r>
            <a:r>
              <a:rPr sz="1800" dirty="0">
                <a:latin typeface="Arial MT"/>
                <a:cs typeface="Arial MT"/>
              </a:rPr>
              <a:t>model</a:t>
            </a:r>
            <a:r>
              <a:rPr sz="1800" spc="-30" dirty="0">
                <a:latin typeface="Arial MT"/>
                <a:cs typeface="Arial MT"/>
              </a:rPr>
              <a:t> </a:t>
            </a:r>
            <a:r>
              <a:rPr sz="1800" dirty="0">
                <a:latin typeface="Arial MT"/>
                <a:cs typeface="Arial MT"/>
              </a:rPr>
              <a:t>tuning</a:t>
            </a:r>
            <a:r>
              <a:rPr sz="1800" spc="-25" dirty="0">
                <a:latin typeface="Arial MT"/>
                <a:cs typeface="Arial MT"/>
              </a:rPr>
              <a:t> </a:t>
            </a:r>
            <a:r>
              <a:rPr sz="1800" dirty="0">
                <a:latin typeface="Arial MT"/>
                <a:cs typeface="Arial MT"/>
              </a:rPr>
              <a:t>and</a:t>
            </a:r>
            <a:r>
              <a:rPr sz="1800" spc="-30" dirty="0">
                <a:latin typeface="Arial MT"/>
                <a:cs typeface="Arial MT"/>
              </a:rPr>
              <a:t> </a:t>
            </a:r>
            <a:r>
              <a:rPr sz="1800" spc="-20" dirty="0">
                <a:latin typeface="Arial MT"/>
                <a:cs typeface="Arial MT"/>
              </a:rPr>
              <a:t>data </a:t>
            </a:r>
            <a:r>
              <a:rPr sz="1800" spc="-10" dirty="0">
                <a:latin typeface="Arial MT"/>
                <a:cs typeface="Arial MT"/>
              </a:rPr>
              <a:t>preprocessing.</a:t>
            </a:r>
            <a:endParaRPr sz="1800" dirty="0">
              <a:latin typeface="Arial MT"/>
              <a:cs typeface="Arial MT"/>
            </a:endParaRPr>
          </a:p>
          <a:p>
            <a:pPr>
              <a:lnSpc>
                <a:spcPct val="100000"/>
              </a:lnSpc>
              <a:spcBef>
                <a:spcPts val="90"/>
              </a:spcBef>
              <a:buFont typeface="Arial MT"/>
              <a:buChar char="•"/>
            </a:pPr>
            <a:endParaRPr sz="1800" dirty="0">
              <a:latin typeface="Arial MT"/>
              <a:cs typeface="Arial MT"/>
            </a:endParaRPr>
          </a:p>
          <a:p>
            <a:pPr marL="469265" marR="426084" indent="-457200">
              <a:lnSpc>
                <a:spcPct val="100000"/>
              </a:lnSpc>
              <a:buChar char="•"/>
              <a:tabLst>
                <a:tab pos="469265" algn="l"/>
              </a:tabLst>
            </a:pPr>
            <a:r>
              <a:rPr sz="1800" spc="-95" dirty="0">
                <a:latin typeface="Arial MT"/>
                <a:cs typeface="Arial MT"/>
              </a:rPr>
              <a:t>To</a:t>
            </a:r>
            <a:r>
              <a:rPr sz="1800" spc="-30" dirty="0">
                <a:latin typeface="Arial MT"/>
                <a:cs typeface="Arial MT"/>
              </a:rPr>
              <a:t> </a:t>
            </a:r>
            <a:r>
              <a:rPr sz="1800" b="1" dirty="0">
                <a:latin typeface="Arial"/>
                <a:cs typeface="Arial"/>
              </a:rPr>
              <a:t>enhance</a:t>
            </a:r>
            <a:r>
              <a:rPr sz="1800" b="1" spc="-65" dirty="0">
                <a:latin typeface="Arial"/>
                <a:cs typeface="Arial"/>
              </a:rPr>
              <a:t> </a:t>
            </a:r>
            <a:r>
              <a:rPr sz="1800" b="1" dirty="0">
                <a:latin typeface="Arial"/>
                <a:cs typeface="Arial"/>
              </a:rPr>
              <a:t>road</a:t>
            </a:r>
            <a:r>
              <a:rPr sz="1800" b="1" spc="-25" dirty="0">
                <a:latin typeface="Arial"/>
                <a:cs typeface="Arial"/>
              </a:rPr>
              <a:t> </a:t>
            </a:r>
            <a:r>
              <a:rPr sz="1800" b="1" dirty="0">
                <a:latin typeface="Arial"/>
                <a:cs typeface="Arial"/>
              </a:rPr>
              <a:t>safety</a:t>
            </a:r>
            <a:r>
              <a:rPr sz="1800" b="1" spc="-30" dirty="0">
                <a:latin typeface="Arial"/>
                <a:cs typeface="Arial"/>
              </a:rPr>
              <a:t> </a:t>
            </a:r>
            <a:r>
              <a:rPr sz="1800" b="1" dirty="0">
                <a:latin typeface="Arial"/>
                <a:cs typeface="Arial"/>
              </a:rPr>
              <a:t>and</a:t>
            </a:r>
            <a:r>
              <a:rPr sz="1800" b="1" spc="-35" dirty="0">
                <a:latin typeface="Arial"/>
                <a:cs typeface="Arial"/>
              </a:rPr>
              <a:t> </a:t>
            </a:r>
            <a:r>
              <a:rPr sz="1800" b="1" dirty="0">
                <a:latin typeface="Arial"/>
                <a:cs typeface="Arial"/>
              </a:rPr>
              <a:t>support</a:t>
            </a:r>
            <a:r>
              <a:rPr sz="1800" b="1" spc="-50" dirty="0">
                <a:latin typeface="Arial"/>
                <a:cs typeface="Arial"/>
              </a:rPr>
              <a:t> </a:t>
            </a:r>
            <a:r>
              <a:rPr sz="1800" b="1" dirty="0">
                <a:latin typeface="Arial"/>
                <a:cs typeface="Arial"/>
              </a:rPr>
              <a:t>intelligent</a:t>
            </a:r>
            <a:r>
              <a:rPr sz="1800" b="1" spc="-50" dirty="0">
                <a:latin typeface="Arial"/>
                <a:cs typeface="Arial"/>
              </a:rPr>
              <a:t> </a:t>
            </a:r>
            <a:r>
              <a:rPr sz="1800" b="1" dirty="0">
                <a:latin typeface="Arial"/>
                <a:cs typeface="Arial"/>
              </a:rPr>
              <a:t>transportation</a:t>
            </a:r>
            <a:r>
              <a:rPr sz="1800" b="1" spc="-35" dirty="0">
                <a:latin typeface="Arial"/>
                <a:cs typeface="Arial"/>
              </a:rPr>
              <a:t> </a:t>
            </a:r>
            <a:r>
              <a:rPr sz="1800" b="1" dirty="0">
                <a:latin typeface="Arial"/>
                <a:cs typeface="Arial"/>
              </a:rPr>
              <a:t>systems</a:t>
            </a:r>
            <a:r>
              <a:rPr sz="1800" b="1" spc="15" dirty="0">
                <a:latin typeface="Arial"/>
                <a:cs typeface="Arial"/>
              </a:rPr>
              <a:t> </a:t>
            </a:r>
            <a:r>
              <a:rPr sz="1800" dirty="0">
                <a:latin typeface="Arial MT"/>
                <a:cs typeface="Arial MT"/>
              </a:rPr>
              <a:t>by</a:t>
            </a:r>
            <a:r>
              <a:rPr sz="1800" spc="-40" dirty="0">
                <a:latin typeface="Arial MT"/>
                <a:cs typeface="Arial MT"/>
              </a:rPr>
              <a:t> </a:t>
            </a:r>
            <a:r>
              <a:rPr sz="1800" spc="-10" dirty="0">
                <a:latin typeface="Arial MT"/>
                <a:cs typeface="Arial MT"/>
              </a:rPr>
              <a:t>minimizing </a:t>
            </a:r>
            <a:r>
              <a:rPr sz="1800" dirty="0">
                <a:latin typeface="Arial MT"/>
                <a:cs typeface="Arial MT"/>
              </a:rPr>
              <a:t>human</a:t>
            </a:r>
            <a:r>
              <a:rPr sz="1800" spc="-20" dirty="0">
                <a:latin typeface="Arial MT"/>
                <a:cs typeface="Arial MT"/>
              </a:rPr>
              <a:t> </a:t>
            </a:r>
            <a:r>
              <a:rPr sz="1800" spc="-10" dirty="0">
                <a:latin typeface="Arial MT"/>
                <a:cs typeface="Arial MT"/>
              </a:rPr>
              <a:t>error.</a:t>
            </a:r>
            <a:endParaRPr sz="1800" dirty="0">
              <a:latin typeface="Arial MT"/>
              <a:cs typeface="Arial MT"/>
            </a:endParaRPr>
          </a:p>
          <a:p>
            <a:pPr>
              <a:lnSpc>
                <a:spcPct val="100000"/>
              </a:lnSpc>
              <a:spcBef>
                <a:spcPts val="90"/>
              </a:spcBef>
              <a:buFont typeface="Arial MT"/>
              <a:buChar char="•"/>
            </a:pPr>
            <a:endParaRPr sz="1800" dirty="0">
              <a:latin typeface="Arial MT"/>
              <a:cs typeface="Arial MT"/>
            </a:endParaRPr>
          </a:p>
          <a:p>
            <a:pPr marL="469265" marR="213995" indent="-457200">
              <a:lnSpc>
                <a:spcPct val="100000"/>
              </a:lnSpc>
              <a:buChar char="•"/>
              <a:tabLst>
                <a:tab pos="469265" algn="l"/>
              </a:tabLst>
            </a:pPr>
            <a:r>
              <a:rPr sz="1800" spc="-95" dirty="0">
                <a:latin typeface="Arial MT"/>
                <a:cs typeface="Arial MT"/>
              </a:rPr>
              <a:t>To</a:t>
            </a:r>
            <a:r>
              <a:rPr sz="1800" spc="-30" dirty="0">
                <a:latin typeface="Arial MT"/>
                <a:cs typeface="Arial MT"/>
              </a:rPr>
              <a:t> </a:t>
            </a:r>
            <a:r>
              <a:rPr sz="1800" b="1" dirty="0">
                <a:latin typeface="Arial"/>
                <a:cs typeface="Arial"/>
              </a:rPr>
              <a:t>create</a:t>
            </a:r>
            <a:r>
              <a:rPr sz="1800" b="1" spc="-30" dirty="0">
                <a:latin typeface="Arial"/>
                <a:cs typeface="Arial"/>
              </a:rPr>
              <a:t> </a:t>
            </a:r>
            <a:r>
              <a:rPr sz="1800" b="1" dirty="0">
                <a:latin typeface="Arial"/>
                <a:cs typeface="Arial"/>
              </a:rPr>
              <a:t>a</a:t>
            </a:r>
            <a:r>
              <a:rPr sz="1800" b="1" spc="-25" dirty="0">
                <a:latin typeface="Arial"/>
                <a:cs typeface="Arial"/>
              </a:rPr>
              <a:t> </a:t>
            </a:r>
            <a:r>
              <a:rPr sz="1800" b="1" dirty="0">
                <a:latin typeface="Arial"/>
                <a:cs typeface="Arial"/>
              </a:rPr>
              <a:t>reliable</a:t>
            </a:r>
            <a:r>
              <a:rPr sz="1800" b="1" spc="-25" dirty="0">
                <a:latin typeface="Arial"/>
                <a:cs typeface="Arial"/>
              </a:rPr>
              <a:t> </a:t>
            </a:r>
            <a:r>
              <a:rPr sz="1800" b="1" dirty="0">
                <a:latin typeface="Arial"/>
                <a:cs typeface="Arial"/>
              </a:rPr>
              <a:t>driver monitoring</a:t>
            </a:r>
            <a:r>
              <a:rPr sz="1800" b="1" spc="-40" dirty="0">
                <a:latin typeface="Arial"/>
                <a:cs typeface="Arial"/>
              </a:rPr>
              <a:t> </a:t>
            </a:r>
            <a:r>
              <a:rPr sz="1800" b="1" dirty="0">
                <a:latin typeface="Arial"/>
                <a:cs typeface="Arial"/>
              </a:rPr>
              <a:t>framework</a:t>
            </a:r>
            <a:r>
              <a:rPr sz="1800" b="1" spc="-50" dirty="0">
                <a:latin typeface="Arial"/>
                <a:cs typeface="Arial"/>
              </a:rPr>
              <a:t> </a:t>
            </a:r>
            <a:r>
              <a:rPr sz="1800" dirty="0">
                <a:latin typeface="Arial MT"/>
                <a:cs typeface="Arial MT"/>
              </a:rPr>
              <a:t>that</a:t>
            </a:r>
            <a:r>
              <a:rPr sz="1800" spc="-20" dirty="0">
                <a:latin typeface="Arial MT"/>
                <a:cs typeface="Arial MT"/>
              </a:rPr>
              <a:t> </a:t>
            </a:r>
            <a:r>
              <a:rPr sz="1800" dirty="0">
                <a:latin typeface="Arial MT"/>
                <a:cs typeface="Arial MT"/>
              </a:rPr>
              <a:t>can</a:t>
            </a:r>
            <a:r>
              <a:rPr sz="1800" spc="-30" dirty="0">
                <a:latin typeface="Arial MT"/>
                <a:cs typeface="Arial MT"/>
              </a:rPr>
              <a:t> </a:t>
            </a:r>
            <a:r>
              <a:rPr sz="1800" dirty="0">
                <a:latin typeface="Arial MT"/>
                <a:cs typeface="Arial MT"/>
              </a:rPr>
              <a:t>adapt</a:t>
            </a:r>
            <a:r>
              <a:rPr sz="1800" spc="-10" dirty="0">
                <a:latin typeface="Arial MT"/>
                <a:cs typeface="Arial MT"/>
              </a:rPr>
              <a:t> </a:t>
            </a:r>
            <a:r>
              <a:rPr sz="1800" dirty="0">
                <a:latin typeface="Arial MT"/>
                <a:cs typeface="Arial MT"/>
              </a:rPr>
              <a:t>to</a:t>
            </a:r>
            <a:r>
              <a:rPr sz="1800" spc="-25" dirty="0">
                <a:latin typeface="Arial MT"/>
                <a:cs typeface="Arial MT"/>
              </a:rPr>
              <a:t> </a:t>
            </a:r>
            <a:r>
              <a:rPr sz="1800" dirty="0">
                <a:latin typeface="Arial MT"/>
                <a:cs typeface="Arial MT"/>
              </a:rPr>
              <a:t>different</a:t>
            </a:r>
            <a:r>
              <a:rPr sz="1800" spc="-25" dirty="0">
                <a:latin typeface="Arial MT"/>
                <a:cs typeface="Arial MT"/>
              </a:rPr>
              <a:t> </a:t>
            </a:r>
            <a:r>
              <a:rPr sz="1800" dirty="0">
                <a:latin typeface="Arial MT"/>
                <a:cs typeface="Arial MT"/>
              </a:rPr>
              <a:t>driver</a:t>
            </a:r>
            <a:r>
              <a:rPr sz="1800" spc="-20" dirty="0">
                <a:latin typeface="Arial MT"/>
                <a:cs typeface="Arial MT"/>
              </a:rPr>
              <a:t> </a:t>
            </a:r>
            <a:r>
              <a:rPr sz="1800" spc="-10" dirty="0">
                <a:latin typeface="Arial MT"/>
                <a:cs typeface="Arial MT"/>
              </a:rPr>
              <a:t>profiles </a:t>
            </a:r>
            <a:r>
              <a:rPr sz="1800" dirty="0">
                <a:latin typeface="Arial MT"/>
                <a:cs typeface="Arial MT"/>
              </a:rPr>
              <a:t>and</a:t>
            </a:r>
            <a:r>
              <a:rPr sz="1800" spc="-10" dirty="0">
                <a:latin typeface="Arial MT"/>
                <a:cs typeface="Arial MT"/>
              </a:rPr>
              <a:t> environments.</a:t>
            </a:r>
            <a:endParaRPr sz="1800" dirty="0">
              <a:latin typeface="Arial MT"/>
              <a:cs typeface="Arial MT"/>
            </a:endParaRPr>
          </a:p>
          <a:p>
            <a:pPr>
              <a:lnSpc>
                <a:spcPct val="100000"/>
              </a:lnSpc>
              <a:spcBef>
                <a:spcPts val="95"/>
              </a:spcBef>
              <a:buFont typeface="Arial MT"/>
              <a:buChar char="•"/>
            </a:pPr>
            <a:endParaRPr sz="1800" dirty="0">
              <a:latin typeface="Arial MT"/>
              <a:cs typeface="Arial MT"/>
            </a:endParaRPr>
          </a:p>
          <a:p>
            <a:pPr marL="469265" indent="-456565" algn="l">
              <a:lnSpc>
                <a:spcPct val="100000"/>
              </a:lnSpc>
              <a:buChar char="•"/>
              <a:tabLst>
                <a:tab pos="469265" algn="l"/>
              </a:tabLst>
            </a:pPr>
            <a:r>
              <a:rPr sz="1800" spc="-95" dirty="0">
                <a:latin typeface="Arial MT"/>
                <a:cs typeface="Arial MT"/>
              </a:rPr>
              <a:t>To</a:t>
            </a:r>
            <a:r>
              <a:rPr sz="1800" spc="-40" dirty="0">
                <a:latin typeface="Arial MT"/>
                <a:cs typeface="Arial MT"/>
              </a:rPr>
              <a:t> </a:t>
            </a:r>
            <a:r>
              <a:rPr sz="1800" dirty="0">
                <a:latin typeface="Arial MT"/>
                <a:cs typeface="Arial MT"/>
              </a:rPr>
              <a:t>enhance</a:t>
            </a:r>
            <a:r>
              <a:rPr sz="1800" spc="-45" dirty="0">
                <a:latin typeface="Arial MT"/>
                <a:cs typeface="Arial MT"/>
              </a:rPr>
              <a:t> </a:t>
            </a:r>
            <a:r>
              <a:rPr sz="1800" dirty="0">
                <a:latin typeface="Arial MT"/>
                <a:cs typeface="Arial MT"/>
              </a:rPr>
              <a:t>model</a:t>
            </a:r>
            <a:r>
              <a:rPr sz="1800" spc="-30" dirty="0">
                <a:latin typeface="Arial MT"/>
                <a:cs typeface="Arial MT"/>
              </a:rPr>
              <a:t> </a:t>
            </a:r>
            <a:r>
              <a:rPr sz="1800" dirty="0">
                <a:latin typeface="Arial MT"/>
                <a:cs typeface="Arial MT"/>
              </a:rPr>
              <a:t>transparency</a:t>
            </a:r>
            <a:r>
              <a:rPr sz="1800" spc="-25" dirty="0">
                <a:latin typeface="Arial MT"/>
                <a:cs typeface="Arial MT"/>
              </a:rPr>
              <a:t> </a:t>
            </a:r>
            <a:r>
              <a:rPr sz="1800" dirty="0">
                <a:latin typeface="Arial MT"/>
                <a:cs typeface="Arial MT"/>
              </a:rPr>
              <a:t>by</a:t>
            </a:r>
            <a:r>
              <a:rPr sz="1800" spc="-40" dirty="0">
                <a:latin typeface="Arial MT"/>
                <a:cs typeface="Arial MT"/>
              </a:rPr>
              <a:t> </a:t>
            </a:r>
            <a:r>
              <a:rPr sz="1800" b="1" dirty="0">
                <a:latin typeface="Arial MT"/>
                <a:cs typeface="Arial MT"/>
              </a:rPr>
              <a:t>integrating</a:t>
            </a:r>
            <a:r>
              <a:rPr sz="1800" b="1" spc="-20" dirty="0">
                <a:latin typeface="Arial MT"/>
                <a:cs typeface="Arial MT"/>
              </a:rPr>
              <a:t> </a:t>
            </a:r>
            <a:r>
              <a:rPr sz="1800" b="1" dirty="0">
                <a:latin typeface="Arial MT"/>
                <a:cs typeface="Arial MT"/>
              </a:rPr>
              <a:t>explainability methods</a:t>
            </a:r>
            <a:r>
              <a:rPr sz="1800" b="1" spc="-35" dirty="0">
                <a:latin typeface="Arial MT"/>
                <a:cs typeface="Arial MT"/>
              </a:rPr>
              <a:t> </a:t>
            </a:r>
            <a:r>
              <a:rPr sz="1800" dirty="0">
                <a:latin typeface="Arial MT"/>
                <a:cs typeface="Arial MT"/>
              </a:rPr>
              <a:t>that</a:t>
            </a:r>
            <a:r>
              <a:rPr sz="1800" spc="-35" dirty="0">
                <a:latin typeface="Arial MT"/>
                <a:cs typeface="Arial MT"/>
              </a:rPr>
              <a:t> </a:t>
            </a:r>
            <a:r>
              <a:rPr sz="1800" dirty="0">
                <a:latin typeface="Arial MT"/>
                <a:cs typeface="Arial MT"/>
              </a:rPr>
              <a:t>show</a:t>
            </a:r>
            <a:r>
              <a:rPr sz="1800" spc="-30" dirty="0">
                <a:latin typeface="Arial MT"/>
                <a:cs typeface="Arial MT"/>
              </a:rPr>
              <a:t> </a:t>
            </a:r>
            <a:r>
              <a:rPr sz="1800" dirty="0">
                <a:latin typeface="Arial MT"/>
                <a:cs typeface="Arial MT"/>
              </a:rPr>
              <a:t>why</a:t>
            </a:r>
            <a:r>
              <a:rPr sz="1800" spc="-5" dirty="0">
                <a:latin typeface="Arial MT"/>
                <a:cs typeface="Arial MT"/>
              </a:rPr>
              <a:t> </a:t>
            </a:r>
            <a:r>
              <a:rPr sz="1800" dirty="0">
                <a:latin typeface="Arial MT"/>
                <a:cs typeface="Arial MT"/>
              </a:rPr>
              <a:t>a</a:t>
            </a:r>
            <a:r>
              <a:rPr sz="1800" spc="-35" dirty="0">
                <a:latin typeface="Arial MT"/>
                <a:cs typeface="Arial MT"/>
              </a:rPr>
              <a:t> </a:t>
            </a:r>
            <a:r>
              <a:rPr sz="1800" spc="-10" dirty="0">
                <a:latin typeface="Arial MT"/>
                <a:cs typeface="Arial MT"/>
              </a:rPr>
              <a:t>driver’s</a:t>
            </a:r>
            <a:endParaRPr sz="1800" dirty="0">
              <a:latin typeface="Arial MT"/>
              <a:cs typeface="Arial MT"/>
            </a:endParaRPr>
          </a:p>
          <a:p>
            <a:pPr marL="469265" algn="l">
              <a:lnSpc>
                <a:spcPct val="100000"/>
              </a:lnSpc>
            </a:pPr>
            <a:r>
              <a:rPr sz="1800" dirty="0">
                <a:latin typeface="Arial MT"/>
                <a:cs typeface="Arial MT"/>
              </a:rPr>
              <a:t>behavior is</a:t>
            </a:r>
            <a:r>
              <a:rPr sz="1800" spc="-25" dirty="0">
                <a:latin typeface="Arial MT"/>
                <a:cs typeface="Arial MT"/>
              </a:rPr>
              <a:t> </a:t>
            </a:r>
            <a:r>
              <a:rPr sz="1800" dirty="0">
                <a:latin typeface="Arial MT"/>
                <a:cs typeface="Arial MT"/>
              </a:rPr>
              <a:t>flagged</a:t>
            </a:r>
            <a:r>
              <a:rPr sz="1800" spc="-20" dirty="0">
                <a:latin typeface="Arial MT"/>
                <a:cs typeface="Arial MT"/>
              </a:rPr>
              <a:t> </a:t>
            </a:r>
            <a:r>
              <a:rPr sz="1800" dirty="0">
                <a:latin typeface="Arial MT"/>
                <a:cs typeface="Arial MT"/>
              </a:rPr>
              <a:t>as</a:t>
            </a:r>
            <a:r>
              <a:rPr sz="1800" spc="-25" dirty="0">
                <a:latin typeface="Arial MT"/>
                <a:cs typeface="Arial MT"/>
              </a:rPr>
              <a:t> </a:t>
            </a:r>
            <a:r>
              <a:rPr sz="1800" spc="-10" dirty="0">
                <a:latin typeface="Arial MT"/>
                <a:cs typeface="Arial MT"/>
              </a:rPr>
              <a:t>anomalous.</a:t>
            </a:r>
            <a:endParaRPr sz="1800" dirty="0">
              <a:latin typeface="Arial MT"/>
              <a:cs typeface="Arial M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1896979" y="762608"/>
            <a:ext cx="8763000" cy="830997"/>
          </a:xfrm>
          <a:prstGeom prst="rect">
            <a:avLst/>
          </a:prstGeom>
          <a:noFill/>
          <a:ln w="9525">
            <a:noFill/>
            <a:miter lim="800000"/>
            <a:headEnd/>
            <a:tailEnd/>
          </a:ln>
        </p:spPr>
        <p:txBody>
          <a:bodyPr wrap="square">
            <a:spAutoFit/>
          </a:bodyPr>
          <a:lstStyle/>
          <a:p>
            <a:pPr marL="342900" indent="-342900" algn="r"/>
            <a:r>
              <a:rPr lang="en-US" sz="2400" dirty="0">
                <a:solidFill>
                  <a:srgbClr val="FF0000"/>
                </a:solidFill>
              </a:rPr>
              <a:t>State Farm Distracted Driver Detection Dataset</a:t>
            </a:r>
          </a:p>
          <a:p>
            <a:pPr marL="342900" indent="-342900" algn="r">
              <a:spcBef>
                <a:spcPts val="0"/>
              </a:spcBef>
              <a:spcAft>
                <a:spcPts val="0"/>
              </a:spcAft>
            </a:pPr>
            <a:r>
              <a:rPr lang="en-US" sz="2400" dirty="0">
                <a:solidFill>
                  <a:srgbClr val="FF0000"/>
                </a:solidFill>
                <a:latin typeface="Trebuchet MS"/>
                <a:sym typeface="Trebuchet MS"/>
              </a:rPr>
              <a:t> Exploration</a:t>
            </a:r>
            <a:endParaRPr lang="en-US" sz="2400" dirty="0">
              <a:solidFill>
                <a:srgbClr val="FF0000"/>
              </a:solidFill>
            </a:endParaRPr>
          </a:p>
        </p:txBody>
      </p:sp>
      <p:sp>
        <p:nvSpPr>
          <p:cNvPr id="6" name="Content Placeholder 2"/>
          <p:cNvSpPr txBox="1">
            <a:spLocks/>
          </p:cNvSpPr>
          <p:nvPr/>
        </p:nvSpPr>
        <p:spPr>
          <a:xfrm>
            <a:off x="1981200" y="1368406"/>
            <a:ext cx="8229600" cy="5489593"/>
          </a:xfrm>
          <a:prstGeom prst="rect">
            <a:avLst/>
          </a:prstGeom>
        </p:spPr>
        <p:txBody>
          <a:bodyPr/>
          <a:lstStyle/>
          <a:p>
            <a:pPr algn="just">
              <a:spcBef>
                <a:spcPts val="0"/>
              </a:spcBef>
              <a:spcAft>
                <a:spcPts val="0"/>
              </a:spcAft>
            </a:pPr>
            <a:endParaRPr lang="en-US" sz="2400" dirty="0">
              <a:solidFill>
                <a:srgbClr val="0033CC"/>
              </a:solidFill>
              <a:latin typeface="Trebuchet MS"/>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a:ea typeface="Trebuchet MS"/>
                <a:cs typeface="Trebuchet MS"/>
                <a:sym typeface="Trebuchet MS"/>
              </a:rPr>
              <a:t>Availability of dataset</a:t>
            </a:r>
          </a:p>
          <a:p>
            <a:pPr algn="just">
              <a:spcBef>
                <a:spcPts val="0"/>
              </a:spcBef>
              <a:spcAft>
                <a:spcPts val="0"/>
              </a:spcAft>
            </a:pPr>
            <a:r>
              <a:rPr lang="en-US" b="1" dirty="0"/>
              <a:t>This dataset is publicly available through the Kaggle platform as part of the State Farm Distracted Driver Detection competition. It can be downloaded freely after logging into Kaggle and is intended for academic and research use.</a:t>
            </a:r>
          </a:p>
          <a:p>
            <a:pPr algn="just">
              <a:spcBef>
                <a:spcPts val="0"/>
              </a:spcBef>
              <a:spcAft>
                <a:spcPts val="0"/>
              </a:spcAft>
            </a:pPr>
            <a:endParaRPr lang="en-US" b="1" dirty="0">
              <a:solidFill>
                <a:srgbClr val="0033CC"/>
              </a:solidFill>
              <a:latin typeface="Trebuchet MS"/>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a:ea typeface="Trebuchet MS"/>
                <a:cs typeface="Trebuchet MS"/>
                <a:sym typeface="Trebuchet MS"/>
              </a:rPr>
              <a:t>Source of dataset</a:t>
            </a:r>
          </a:p>
          <a:p>
            <a:pPr algn="just">
              <a:spcBef>
                <a:spcPts val="0"/>
              </a:spcBef>
              <a:spcAft>
                <a:spcPts val="0"/>
              </a:spcAft>
            </a:pPr>
            <a:endParaRPr lang="en-US" sz="2400" dirty="0">
              <a:solidFill>
                <a:srgbClr val="0033CC"/>
              </a:solidFill>
              <a:latin typeface="Trebuchet MS"/>
              <a:ea typeface="Trebuchet MS"/>
              <a:cs typeface="Trebuchet MS"/>
              <a:sym typeface="Trebuchet MS"/>
            </a:endParaRPr>
          </a:p>
          <a:p>
            <a:pPr algn="just">
              <a:spcBef>
                <a:spcPts val="0"/>
              </a:spcBef>
              <a:spcAft>
                <a:spcPts val="0"/>
              </a:spcAft>
            </a:pPr>
            <a:r>
              <a:rPr lang="en-US" b="1" dirty="0"/>
              <a:t>The dataset was released by State Farm Insurance Company and hosted on Kaggle for the 2016 computer vision competition.</a:t>
            </a:r>
          </a:p>
          <a:p>
            <a:pPr algn="just">
              <a:spcBef>
                <a:spcPts val="0"/>
              </a:spcBef>
              <a:spcAft>
                <a:spcPts val="0"/>
              </a:spcAft>
            </a:pPr>
            <a:endParaRPr lang="en-US" b="1" dirty="0">
              <a:solidFill>
                <a:srgbClr val="0033CC"/>
              </a:solidFill>
              <a:latin typeface="Trebuchet MS"/>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a:ea typeface="Trebuchet MS"/>
                <a:cs typeface="Trebuchet MS"/>
                <a:sym typeface="Trebuchet MS"/>
              </a:rPr>
              <a:t>Size of dataset</a:t>
            </a:r>
          </a:p>
          <a:p>
            <a:pPr algn="just">
              <a:spcBef>
                <a:spcPts val="0"/>
              </a:spcBef>
              <a:spcAft>
                <a:spcPts val="0"/>
              </a:spcAft>
            </a:pPr>
            <a:r>
              <a:rPr lang="en-US" b="1" dirty="0"/>
              <a:t>The downloaded dataset is approximately 4 GB in size and contains labeled and unlabeled RGB driving images. It includes about 22,424 training images and around 79,000 test images across 10 distraction categories.</a:t>
            </a:r>
            <a:endParaRPr lang="en-US" b="1" dirty="0">
              <a:solidFill>
                <a:srgbClr val="0033CC"/>
              </a:solidFill>
              <a:latin typeface="Trebuchet MS"/>
              <a:ea typeface="Trebuchet MS"/>
              <a:cs typeface="Trebuchet MS"/>
              <a:sym typeface="Trebuchet M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1905000" y="1143002"/>
            <a:ext cx="87630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IN" sz="2400" b="1" dirty="0">
                <a:solidFill>
                  <a:srgbClr val="FF0000"/>
                </a:solidFill>
              </a:rPr>
              <a:t>Driver Drowsiness Dataset (D3S)</a:t>
            </a:r>
            <a:r>
              <a:rPr lang="en-US" sz="2400" b="1" dirty="0">
                <a:solidFill>
                  <a:srgbClr val="FF0000"/>
                </a:solidFill>
                <a:latin typeface="Trebuchet MS"/>
                <a:sym typeface="Trebuchet MS"/>
              </a:rPr>
              <a:t> </a:t>
            </a:r>
            <a:r>
              <a:rPr lang="en-US" sz="2400" dirty="0">
                <a:solidFill>
                  <a:srgbClr val="FF0000"/>
                </a:solidFill>
                <a:latin typeface="Trebuchet MS"/>
                <a:sym typeface="Trebuchet MS"/>
              </a:rPr>
              <a:t>Exploration</a:t>
            </a:r>
            <a:endParaRPr lang="en-US" sz="2400" dirty="0"/>
          </a:p>
        </p:txBody>
      </p:sp>
      <p:sp>
        <p:nvSpPr>
          <p:cNvPr id="6" name="Content Placeholder 2"/>
          <p:cNvSpPr txBox="1">
            <a:spLocks/>
          </p:cNvSpPr>
          <p:nvPr/>
        </p:nvSpPr>
        <p:spPr>
          <a:xfrm>
            <a:off x="2061411" y="1373833"/>
            <a:ext cx="8229600" cy="5374625"/>
          </a:xfrm>
          <a:prstGeom prst="rect">
            <a:avLst/>
          </a:prstGeom>
        </p:spPr>
        <p:txBody>
          <a:bodyPr/>
          <a:lstStyle/>
          <a:p>
            <a:pPr algn="just">
              <a:spcBef>
                <a:spcPts val="0"/>
              </a:spcBef>
              <a:spcAft>
                <a:spcPts val="0"/>
              </a:spcAft>
            </a:pPr>
            <a:endParaRPr lang="en-US" sz="2400" dirty="0">
              <a:solidFill>
                <a:srgbClr val="0033CC"/>
              </a:solidFill>
              <a:latin typeface="Trebuchet MS"/>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a:ea typeface="Trebuchet MS"/>
                <a:cs typeface="Trebuchet MS"/>
                <a:sym typeface="Trebuchet MS"/>
              </a:rPr>
              <a:t>Availability of dataset</a:t>
            </a:r>
          </a:p>
          <a:p>
            <a:pPr algn="just">
              <a:spcBef>
                <a:spcPts val="0"/>
              </a:spcBef>
              <a:spcAft>
                <a:spcPts val="0"/>
              </a:spcAft>
            </a:pPr>
            <a:r>
              <a:rPr lang="en-US" b="1" dirty="0"/>
              <a:t>The D3S dataset is publicly available for academic research. It can be accessed through the official GitHub repository, which provides video files, extracted frames, and annotation data.</a:t>
            </a:r>
          </a:p>
          <a:p>
            <a:pPr algn="just">
              <a:spcBef>
                <a:spcPts val="0"/>
              </a:spcBef>
              <a:spcAft>
                <a:spcPts val="0"/>
              </a:spcAft>
            </a:pPr>
            <a:endParaRPr lang="en-US" b="1" dirty="0">
              <a:solidFill>
                <a:srgbClr val="0033CC"/>
              </a:solidFill>
              <a:latin typeface="Trebuchet MS"/>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a:ea typeface="Trebuchet MS"/>
                <a:cs typeface="Trebuchet MS"/>
                <a:sym typeface="Trebuchet MS"/>
              </a:rPr>
              <a:t>Source of dataset</a:t>
            </a:r>
          </a:p>
          <a:p>
            <a:pPr algn="just">
              <a:spcBef>
                <a:spcPts val="0"/>
              </a:spcBef>
              <a:spcAft>
                <a:spcPts val="0"/>
              </a:spcAft>
            </a:pPr>
            <a:r>
              <a:rPr lang="en-US" b="1" dirty="0"/>
              <a:t>The dataset is released through the GitHub project “Driver-Drowsiness-Dataset-D3S” created by independent researchers. The repository contains the original drowsiness videos and corresponding frame-level annotations.</a:t>
            </a:r>
          </a:p>
          <a:p>
            <a:pPr algn="just">
              <a:spcBef>
                <a:spcPts val="0"/>
              </a:spcBef>
              <a:spcAft>
                <a:spcPts val="0"/>
              </a:spcAft>
            </a:pPr>
            <a:endParaRPr lang="en-US" b="1" dirty="0">
              <a:solidFill>
                <a:srgbClr val="0033CC"/>
              </a:solidFill>
              <a:latin typeface="Trebuchet MS"/>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a:ea typeface="Trebuchet MS"/>
                <a:cs typeface="Trebuchet MS"/>
                <a:sym typeface="Trebuchet MS"/>
              </a:rPr>
              <a:t>Size of dataset</a:t>
            </a:r>
          </a:p>
          <a:p>
            <a:pPr algn="just">
              <a:spcBef>
                <a:spcPts val="0"/>
              </a:spcBef>
              <a:spcAft>
                <a:spcPts val="0"/>
              </a:spcAft>
            </a:pPr>
            <a:r>
              <a:rPr lang="en-US" b="1" dirty="0"/>
              <a:t>The dataset consists of approximately 3 minutes of drowsiness-related video recordings, with an overall size of around 300–500 MB. It includes 3 subjects and multiple facial behavior classes such as eye closing, yawning, neutral</a:t>
            </a:r>
            <a:r>
              <a:rPr lang="en-US" sz="2400" b="1" dirty="0"/>
              <a:t>, </a:t>
            </a:r>
            <a:r>
              <a:rPr lang="en-US" b="1" dirty="0"/>
              <a:t>and happy expressions.</a:t>
            </a:r>
            <a:endParaRPr lang="en-US" b="1" dirty="0">
              <a:solidFill>
                <a:srgbClr val="0033CC"/>
              </a:solidFill>
              <a:latin typeface="Trebuchet MS"/>
              <a:ea typeface="Trebuchet MS"/>
              <a:cs typeface="Trebuchet MS"/>
              <a:sym typeface="Trebuchet M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1905000" y="1143002"/>
            <a:ext cx="87630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dirty="0">
                <a:solidFill>
                  <a:srgbClr val="FF0000"/>
                </a:solidFill>
              </a:rPr>
              <a:t>Driver Anomaly Detection (DAD) Dataset</a:t>
            </a:r>
            <a:r>
              <a:rPr lang="en-US" sz="2400" dirty="0">
                <a:solidFill>
                  <a:srgbClr val="FF0000"/>
                </a:solidFill>
                <a:latin typeface="Trebuchet MS"/>
                <a:sym typeface="Trebuchet MS"/>
              </a:rPr>
              <a:t> Exploration</a:t>
            </a:r>
            <a:endParaRPr lang="en-US" sz="2400" dirty="0"/>
          </a:p>
        </p:txBody>
      </p:sp>
      <p:sp>
        <p:nvSpPr>
          <p:cNvPr id="6" name="Content Placeholder 2"/>
          <p:cNvSpPr txBox="1">
            <a:spLocks/>
          </p:cNvSpPr>
          <p:nvPr/>
        </p:nvSpPr>
        <p:spPr>
          <a:xfrm>
            <a:off x="609600" y="1605636"/>
            <a:ext cx="11353800" cy="5105400"/>
          </a:xfrm>
          <a:prstGeom prst="rect">
            <a:avLst/>
          </a:prstGeom>
        </p:spPr>
        <p:txBody>
          <a:bodyPr/>
          <a:lstStyle/>
          <a:p>
            <a:pPr algn="just">
              <a:spcBef>
                <a:spcPts val="0"/>
              </a:spcBef>
              <a:spcAft>
                <a:spcPts val="0"/>
              </a:spcAft>
            </a:pPr>
            <a:endParaRPr lang="en-US" sz="2400" dirty="0">
              <a:solidFill>
                <a:srgbClr val="0033CC"/>
              </a:solidFill>
              <a:latin typeface="Trebuchet MS"/>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a:ea typeface="Trebuchet MS"/>
                <a:cs typeface="Trebuchet MS"/>
                <a:sym typeface="Trebuchet MS"/>
              </a:rPr>
              <a:t>Availability of dataset</a:t>
            </a:r>
          </a:p>
          <a:p>
            <a:pPr algn="l">
              <a:spcBef>
                <a:spcPts val="0"/>
              </a:spcBef>
              <a:spcAft>
                <a:spcPts val="0"/>
              </a:spcAft>
            </a:pPr>
            <a:r>
              <a:rPr lang="en-US" sz="1400" b="1" dirty="0"/>
              <a:t>The Driver Anomaly Detection (DAD) dataset is publicly available for academic and research purposes.</a:t>
            </a:r>
            <a:br>
              <a:rPr lang="en-US" sz="1400" b="1" dirty="0"/>
            </a:br>
            <a:r>
              <a:rPr lang="en-US" sz="1400" b="1" dirty="0"/>
              <a:t>It can be accessed and downloaded only after agreeing to the terms of the official license issued by the Institute for Human-Machine Communication (MMK), </a:t>
            </a:r>
            <a:r>
              <a:rPr lang="en-US" sz="1400" b="1" dirty="0" err="1"/>
              <a:t>Technische</a:t>
            </a:r>
            <a:r>
              <a:rPr lang="en-US" sz="1400" b="1" dirty="0"/>
              <a:t> Universität München (TUM).</a:t>
            </a:r>
          </a:p>
          <a:p>
            <a:pPr algn="l">
              <a:spcBef>
                <a:spcPts val="0"/>
              </a:spcBef>
              <a:spcAft>
                <a:spcPts val="0"/>
              </a:spcAft>
            </a:pPr>
            <a:endParaRPr lang="en-US" sz="1400" dirty="0">
              <a:solidFill>
                <a:srgbClr val="0033CC"/>
              </a:solidFill>
              <a:latin typeface="Trebuchet MS"/>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a:ea typeface="Trebuchet MS"/>
                <a:cs typeface="Trebuchet MS"/>
                <a:sym typeface="Trebuchet MS"/>
              </a:rPr>
              <a:t>Source of dataset</a:t>
            </a:r>
          </a:p>
          <a:p>
            <a:pPr algn="just">
              <a:spcBef>
                <a:spcPts val="0"/>
              </a:spcBef>
              <a:spcAft>
                <a:spcPts val="0"/>
              </a:spcAft>
            </a:pPr>
            <a:endParaRPr lang="en-US" sz="2400" dirty="0">
              <a:solidFill>
                <a:srgbClr val="0033CC"/>
              </a:solidFill>
              <a:latin typeface="Trebuchet MS"/>
              <a:ea typeface="Trebuchet MS"/>
              <a:cs typeface="Trebuchet MS"/>
              <a:sym typeface="Trebuchet MS"/>
            </a:endParaRPr>
          </a:p>
          <a:p>
            <a:pPr algn="l">
              <a:spcBef>
                <a:spcPts val="0"/>
              </a:spcBef>
              <a:spcAft>
                <a:spcPts val="0"/>
              </a:spcAft>
            </a:pPr>
            <a:r>
              <a:rPr lang="en-IN" sz="1400" b="1" dirty="0"/>
              <a:t>Driver Anomaly Detection (DAD) Dataset</a:t>
            </a:r>
            <a:br>
              <a:rPr lang="en-IN" sz="1400" b="1" dirty="0"/>
            </a:br>
            <a:r>
              <a:rPr lang="en-IN" sz="1400" b="1" dirty="0"/>
              <a:t>Institute for Human-Machine Communication (MMK)</a:t>
            </a:r>
            <a:br>
              <a:rPr lang="en-IN" sz="1400" b="1" dirty="0"/>
            </a:br>
            <a:r>
              <a:rPr lang="en-IN" sz="1400" b="1" dirty="0" err="1"/>
              <a:t>Technische</a:t>
            </a:r>
            <a:r>
              <a:rPr lang="en-IN" sz="1400" b="1" dirty="0"/>
              <a:t> Universität München (TUM), Germany.</a:t>
            </a:r>
            <a:endParaRPr lang="en-US" sz="1400" b="1" dirty="0">
              <a:solidFill>
                <a:srgbClr val="0033CC"/>
              </a:solidFill>
              <a:latin typeface="Trebuchet MS"/>
              <a:ea typeface="Trebuchet MS"/>
              <a:cs typeface="Trebuchet MS"/>
              <a:sym typeface="Trebuchet MS"/>
            </a:endParaRPr>
          </a:p>
          <a:p>
            <a:pPr algn="just">
              <a:spcBef>
                <a:spcPts val="0"/>
              </a:spcBef>
              <a:spcAft>
                <a:spcPts val="0"/>
              </a:spcAft>
            </a:pPr>
            <a:endParaRPr lang="en-US" sz="2400" dirty="0">
              <a:solidFill>
                <a:srgbClr val="0033CC"/>
              </a:solidFill>
              <a:latin typeface="Trebuchet MS"/>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a:ea typeface="Trebuchet MS"/>
                <a:cs typeface="Trebuchet MS"/>
                <a:sym typeface="Trebuchet MS"/>
              </a:rPr>
              <a:t>Size of dataset</a:t>
            </a:r>
          </a:p>
          <a:p>
            <a:pPr algn="just">
              <a:spcBef>
                <a:spcPts val="0"/>
              </a:spcBef>
              <a:spcAft>
                <a:spcPts val="0"/>
              </a:spcAft>
            </a:pPr>
            <a:endParaRPr lang="en-US" sz="2400" dirty="0">
              <a:solidFill>
                <a:srgbClr val="0033CC"/>
              </a:solidFill>
              <a:latin typeface="Trebuchet MS"/>
              <a:ea typeface="Trebuchet MS"/>
              <a:cs typeface="Trebuchet MS"/>
              <a:sym typeface="Trebuchet MS"/>
            </a:endParaRPr>
          </a:p>
          <a:p>
            <a:pPr algn="l">
              <a:spcBef>
                <a:spcPts val="0"/>
              </a:spcBef>
              <a:spcAft>
                <a:spcPts val="0"/>
              </a:spcAft>
            </a:pPr>
            <a:r>
              <a:rPr lang="en-US" sz="1600" b="1" dirty="0"/>
              <a:t>The downloaded version contains approximately 9 GB of night-vision image frames.</a:t>
            </a:r>
            <a:br>
              <a:rPr lang="en-US" sz="1600" b="1" dirty="0"/>
            </a:br>
            <a:r>
              <a:rPr lang="en-US" sz="1600" b="1" dirty="0"/>
              <a:t>This version includes images only (no video files) extracted from the original DAD dataset.</a:t>
            </a:r>
            <a:br>
              <a:rPr lang="en-US" sz="1600" b="1" dirty="0"/>
            </a:br>
            <a:r>
              <a:rPr lang="en-US" sz="1600" b="1" dirty="0"/>
              <a:t>Resolution ranges from 640×480 to 1280×720 depending on the frame set.</a:t>
            </a:r>
            <a:endParaRPr lang="en-US" sz="1600" b="1" dirty="0">
              <a:solidFill>
                <a:srgbClr val="0033CC"/>
              </a:solidFill>
              <a:latin typeface="Trebuchet MS"/>
              <a:ea typeface="Trebuchet MS"/>
              <a:cs typeface="Trebuchet MS"/>
              <a:sym typeface="Trebuchet MS"/>
            </a:endParaRPr>
          </a:p>
          <a:p>
            <a:pPr algn="just">
              <a:spcBef>
                <a:spcPts val="0"/>
              </a:spcBef>
              <a:spcAft>
                <a:spcPts val="0"/>
              </a:spcAft>
            </a:pPr>
            <a:endParaRPr lang="en-US" sz="2400" dirty="0">
              <a:solidFill>
                <a:srgbClr val="0033CC"/>
              </a:solidFill>
              <a:latin typeface="Trebuchet MS"/>
              <a:ea typeface="Trebuchet MS"/>
              <a:cs typeface="Trebuchet MS"/>
              <a:sym typeface="Trebuchet M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538728" y="1336603"/>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2362200" y="911451"/>
            <a:ext cx="87630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dirty="0">
                <a:solidFill>
                  <a:srgbClr val="FF0000"/>
                </a:solidFill>
                <a:latin typeface="Trebuchet MS"/>
                <a:ea typeface="Trebuchet MS"/>
                <a:cs typeface="Trebuchet MS"/>
                <a:sym typeface="Trebuchet MS"/>
              </a:rPr>
              <a:t>Expected Deliverables</a:t>
            </a:r>
            <a:endParaRPr lang="en-US" sz="2400" dirty="0"/>
          </a:p>
        </p:txBody>
      </p:sp>
      <p:sp>
        <p:nvSpPr>
          <p:cNvPr id="6" name="Content Placeholder 2"/>
          <p:cNvSpPr txBox="1">
            <a:spLocks/>
          </p:cNvSpPr>
          <p:nvPr/>
        </p:nvSpPr>
        <p:spPr>
          <a:xfrm>
            <a:off x="685800" y="1752600"/>
            <a:ext cx="9982200" cy="4724400"/>
          </a:xfrm>
          <a:prstGeom prst="rect">
            <a:avLst/>
          </a:prstGeom>
        </p:spPr>
        <p:txBody>
          <a:bodyPr/>
          <a:lstStyle/>
          <a:p>
            <a:pPr algn="just">
              <a:spcBef>
                <a:spcPts val="0"/>
              </a:spcBef>
              <a:spcAft>
                <a:spcPts val="0"/>
              </a:spcAft>
            </a:pPr>
            <a:r>
              <a:rPr lang="en-US" sz="2600" b="1" dirty="0">
                <a:solidFill>
                  <a:srgbClr val="0000FF"/>
                </a:solidFill>
                <a:latin typeface="+mn-lt"/>
              </a:rPr>
              <a:t>Capstone-I → Research &amp; Baseline :</a:t>
            </a:r>
            <a:endParaRPr lang="en-US" sz="2400" dirty="0">
              <a:latin typeface="+mn-lt"/>
            </a:endParaRPr>
          </a:p>
          <a:p>
            <a:pPr marL="457200" indent="-457200" algn="just">
              <a:spcBef>
                <a:spcPts val="0"/>
              </a:spcBef>
              <a:spcAft>
                <a:spcPts val="0"/>
              </a:spcAft>
              <a:buFont typeface="Arial" panose="020B0604020202020204" pitchFamily="34" charset="0"/>
              <a:buChar char="•"/>
            </a:pPr>
            <a:r>
              <a:rPr lang="en-US" sz="2400" dirty="0">
                <a:latin typeface="+mn-lt"/>
                <a:ea typeface="Calibri" panose="020F0502020204030204" pitchFamily="34" charset="0"/>
                <a:cs typeface="Calibri" panose="020F0502020204030204" pitchFamily="34" charset="0"/>
              </a:rPr>
              <a:t>Collect and preprocess datasets (e.g., </a:t>
            </a:r>
            <a:r>
              <a:rPr lang="en-US" sz="2400" dirty="0" err="1">
                <a:latin typeface="+mn-lt"/>
                <a:ea typeface="Calibri" panose="020F0502020204030204" pitchFamily="34" charset="0"/>
                <a:cs typeface="Calibri" panose="020F0502020204030204" pitchFamily="34" charset="0"/>
              </a:rPr>
              <a:t>AICity</a:t>
            </a:r>
            <a:r>
              <a:rPr lang="en-US" sz="2400" dirty="0">
                <a:latin typeface="+mn-lt"/>
                <a:ea typeface="Calibri" panose="020F0502020204030204" pitchFamily="34" charset="0"/>
                <a:cs typeface="Calibri" panose="020F0502020204030204" pitchFamily="34" charset="0"/>
              </a:rPr>
              <a:t> Challenge</a:t>
            </a:r>
            <a:r>
              <a:rPr lang="en-US" sz="2400" dirty="0">
                <a:latin typeface="+mn-lt"/>
              </a:rPr>
              <a:t>).</a:t>
            </a:r>
          </a:p>
          <a:p>
            <a:pPr marL="457200" indent="-457200" algn="just">
              <a:spcBef>
                <a:spcPts val="0"/>
              </a:spcBef>
              <a:spcAft>
                <a:spcPts val="0"/>
              </a:spcAft>
              <a:buFont typeface="Arial" panose="020B0604020202020204" pitchFamily="34" charset="0"/>
              <a:buChar char="•"/>
            </a:pPr>
            <a:r>
              <a:rPr lang="en-US" sz="2400" dirty="0">
                <a:latin typeface="+mn-lt"/>
                <a:ea typeface="Calibri" panose="020F0502020204030204" pitchFamily="34" charset="0"/>
                <a:cs typeface="Calibri" panose="020F0502020204030204" pitchFamily="34" charset="0"/>
              </a:rPr>
              <a:t>Build a </a:t>
            </a:r>
            <a:r>
              <a:rPr lang="en-US" sz="2400" b="1" dirty="0">
                <a:latin typeface="+mn-lt"/>
                <a:ea typeface="Calibri" panose="020F0502020204030204" pitchFamily="34" charset="0"/>
                <a:cs typeface="Calibri" panose="020F0502020204030204" pitchFamily="34" charset="0"/>
              </a:rPr>
              <a:t>baseline model</a:t>
            </a:r>
            <a:r>
              <a:rPr lang="en-US" sz="2400" dirty="0">
                <a:latin typeface="+mn-lt"/>
                <a:ea typeface="Calibri" panose="020F0502020204030204" pitchFamily="34" charset="0"/>
                <a:cs typeface="Calibri" panose="020F0502020204030204" pitchFamily="34" charset="0"/>
              </a:rPr>
              <a:t> (simple CNN or </a:t>
            </a:r>
            <a:r>
              <a:rPr lang="en-US" sz="2400" dirty="0" err="1">
                <a:latin typeface="+mn-lt"/>
                <a:ea typeface="Calibri" panose="020F0502020204030204" pitchFamily="34" charset="0"/>
                <a:cs typeface="Calibri" panose="020F0502020204030204" pitchFamily="34" charset="0"/>
              </a:rPr>
              <a:t>Autoencoder</a:t>
            </a:r>
            <a:r>
              <a:rPr lang="en-US" sz="2400" dirty="0">
                <a:latin typeface="+mn-lt"/>
                <a:ea typeface="Calibri" panose="020F0502020204030204" pitchFamily="34" charset="0"/>
                <a:cs typeface="Calibri" panose="020F0502020204030204" pitchFamily="34" charset="0"/>
              </a:rPr>
              <a:t>) for anomaly detection.</a:t>
            </a:r>
          </a:p>
          <a:p>
            <a:pPr algn="just">
              <a:spcBef>
                <a:spcPts val="0"/>
              </a:spcBef>
              <a:spcAft>
                <a:spcPts val="0"/>
              </a:spcAft>
            </a:pPr>
            <a:endParaRPr lang="en-US" sz="2400" dirty="0">
              <a:latin typeface="+mn-lt"/>
              <a:ea typeface="Calibri" panose="020F0502020204030204" pitchFamily="34" charset="0"/>
              <a:cs typeface="Calibri" panose="020F0502020204030204" pitchFamily="34" charset="0"/>
            </a:endParaRPr>
          </a:p>
          <a:p>
            <a:pPr algn="just">
              <a:spcBef>
                <a:spcPts val="0"/>
              </a:spcBef>
              <a:spcAft>
                <a:spcPts val="0"/>
              </a:spcAft>
            </a:pPr>
            <a:r>
              <a:rPr lang="en-US" sz="2600" b="1" dirty="0">
                <a:solidFill>
                  <a:srgbClr val="0000FF"/>
                </a:solidFill>
                <a:latin typeface="+mn-lt"/>
              </a:rPr>
              <a:t>Capstone-II → Model Development :</a:t>
            </a:r>
          </a:p>
          <a:p>
            <a:pPr marL="342900" indent="-342900" algn="just">
              <a:spcBef>
                <a:spcPts val="0"/>
              </a:spcBef>
              <a:spcAft>
                <a:spcPts val="0"/>
              </a:spcAft>
              <a:buFont typeface="Arial" panose="020B0604020202020204" pitchFamily="34" charset="0"/>
              <a:buChar char="•"/>
            </a:pPr>
            <a:r>
              <a:rPr lang="en-US" sz="2400" dirty="0">
                <a:latin typeface="+mn-lt"/>
              </a:rPr>
              <a:t>Design </a:t>
            </a:r>
            <a:r>
              <a:rPr lang="en-US" sz="2400" b="1" dirty="0">
                <a:latin typeface="+mn-lt"/>
              </a:rPr>
              <a:t>multi-modal deep learning models</a:t>
            </a:r>
            <a:r>
              <a:rPr lang="en-US" sz="2400" dirty="0">
                <a:latin typeface="+mn-lt"/>
              </a:rPr>
              <a:t> (CNN–LSTM).</a:t>
            </a:r>
          </a:p>
          <a:p>
            <a:pPr marL="342900" indent="-342900" algn="just">
              <a:spcBef>
                <a:spcPts val="0"/>
              </a:spcBef>
              <a:spcAft>
                <a:spcPts val="0"/>
              </a:spcAft>
              <a:buFont typeface="Arial" panose="020B0604020202020204" pitchFamily="34" charset="0"/>
              <a:buChar char="•"/>
            </a:pPr>
            <a:r>
              <a:rPr lang="en-US" sz="2400" dirty="0">
                <a:latin typeface="+mn-lt"/>
              </a:rPr>
              <a:t>Evaluate accuracy, precision, recall, F1-score for anomaly detection.</a:t>
            </a:r>
          </a:p>
          <a:p>
            <a:pPr marL="342900" indent="-342900" algn="just">
              <a:spcBef>
                <a:spcPts val="0"/>
              </a:spcBef>
              <a:spcAft>
                <a:spcPts val="0"/>
              </a:spcAft>
              <a:buFont typeface="Arial" panose="020B0604020202020204" pitchFamily="34" charset="0"/>
              <a:buChar char="•"/>
            </a:pPr>
            <a:r>
              <a:rPr lang="en-US" sz="2400" dirty="0">
                <a:latin typeface="+mn-lt"/>
              </a:rPr>
              <a:t>Compare different deep learning methods (CNN vs LSTM vs </a:t>
            </a:r>
            <a:r>
              <a:rPr lang="en-US" sz="2400" dirty="0" err="1">
                <a:latin typeface="+mn-lt"/>
              </a:rPr>
              <a:t>Autoencoder</a:t>
            </a:r>
            <a:r>
              <a:rPr lang="en-US" sz="2400" dirty="0">
                <a:latin typeface="+mn-lt"/>
              </a:rPr>
              <a:t>).</a:t>
            </a:r>
            <a:endParaRPr lang="en-US" sz="2400" dirty="0">
              <a:latin typeface="+mn-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227802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2362200" y="1044219"/>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1219200" y="582554"/>
            <a:ext cx="87630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dirty="0">
                <a:solidFill>
                  <a:srgbClr val="FF0000"/>
                </a:solidFill>
                <a:latin typeface="Trebuchet MS"/>
                <a:ea typeface="Trebuchet MS"/>
                <a:cs typeface="Trebuchet MS"/>
                <a:sym typeface="Trebuchet MS"/>
              </a:rPr>
              <a:t>Expected Deliverables</a:t>
            </a:r>
            <a:endParaRPr lang="en-US" sz="2400" dirty="0"/>
          </a:p>
        </p:txBody>
      </p:sp>
      <p:sp>
        <p:nvSpPr>
          <p:cNvPr id="6" name="Content Placeholder 2"/>
          <p:cNvSpPr txBox="1">
            <a:spLocks/>
          </p:cNvSpPr>
          <p:nvPr/>
        </p:nvSpPr>
        <p:spPr>
          <a:xfrm>
            <a:off x="914400" y="1752600"/>
            <a:ext cx="9753600" cy="4724400"/>
          </a:xfrm>
          <a:prstGeom prst="rect">
            <a:avLst/>
          </a:prstGeom>
        </p:spPr>
        <p:txBody>
          <a:bodyPr/>
          <a:lstStyle/>
          <a:p>
            <a:pPr algn="just">
              <a:spcBef>
                <a:spcPts val="0"/>
              </a:spcBef>
              <a:spcAft>
                <a:spcPts val="0"/>
              </a:spcAft>
            </a:pPr>
            <a:r>
              <a:rPr lang="en-US" sz="2600" b="1" dirty="0">
                <a:solidFill>
                  <a:srgbClr val="0000FF"/>
                </a:solidFill>
                <a:latin typeface="+mn-lt"/>
              </a:rPr>
              <a:t>Capstone-III → Integration &amp; Testing :</a:t>
            </a:r>
          </a:p>
          <a:p>
            <a:pPr marL="342900" indent="-342900" algn="just">
              <a:spcBef>
                <a:spcPts val="0"/>
              </a:spcBef>
              <a:spcAft>
                <a:spcPts val="0"/>
              </a:spcAf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Integrate system into an </a:t>
            </a:r>
            <a:r>
              <a:rPr lang="en-US" sz="2400" b="1" dirty="0">
                <a:latin typeface="Calibri" panose="020F0502020204030204" pitchFamily="34" charset="0"/>
                <a:ea typeface="Calibri" panose="020F0502020204030204" pitchFamily="34" charset="0"/>
                <a:cs typeface="Calibri" panose="020F0502020204030204" pitchFamily="34" charset="0"/>
              </a:rPr>
              <a:t>Intelligent Transportation System (ITS) simulation</a:t>
            </a:r>
            <a:r>
              <a:rPr lang="en-US" sz="2400" dirty="0">
                <a:latin typeface="Calibri" panose="020F0502020204030204" pitchFamily="34" charset="0"/>
                <a:ea typeface="Calibri" panose="020F0502020204030204" pitchFamily="34" charset="0"/>
                <a:cs typeface="Calibri" panose="020F0502020204030204" pitchFamily="34" charset="0"/>
              </a:rPr>
              <a:t>.</a:t>
            </a:r>
          </a:p>
          <a:p>
            <a:pPr marL="342900" indent="-342900" algn="just">
              <a:spcBef>
                <a:spcPts val="0"/>
              </a:spcBef>
              <a:spcAft>
                <a:spcPts val="0"/>
              </a:spcAf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Implement </a:t>
            </a:r>
            <a:r>
              <a:rPr lang="en-US" sz="2400" b="1" dirty="0">
                <a:latin typeface="Calibri" panose="020F0502020204030204" pitchFamily="34" charset="0"/>
                <a:ea typeface="Calibri" panose="020F0502020204030204" pitchFamily="34" charset="0"/>
                <a:cs typeface="Calibri" panose="020F0502020204030204" pitchFamily="34" charset="0"/>
              </a:rPr>
              <a:t>real-time driver monitoring</a:t>
            </a:r>
            <a:r>
              <a:rPr lang="en-US" sz="2400" dirty="0">
                <a:latin typeface="Calibri" panose="020F0502020204030204" pitchFamily="34" charset="0"/>
                <a:ea typeface="Calibri" panose="020F0502020204030204" pitchFamily="34" charset="0"/>
                <a:cs typeface="Calibri" panose="020F0502020204030204" pitchFamily="34" charset="0"/>
              </a:rPr>
              <a:t> (latency &lt; 200 </a:t>
            </a:r>
            <a:r>
              <a:rPr lang="en-US" sz="2400" dirty="0" err="1">
                <a:latin typeface="Calibri" panose="020F0502020204030204" pitchFamily="34" charset="0"/>
                <a:ea typeface="Calibri" panose="020F0502020204030204" pitchFamily="34" charset="0"/>
                <a:cs typeface="Calibri" panose="020F0502020204030204" pitchFamily="34" charset="0"/>
              </a:rPr>
              <a:t>ms</a:t>
            </a:r>
            <a:r>
              <a:rPr lang="en-US" sz="2400" dirty="0">
                <a:latin typeface="Calibri" panose="020F0502020204030204" pitchFamily="34" charset="0"/>
                <a:ea typeface="Calibri" panose="020F0502020204030204" pitchFamily="34" charset="0"/>
                <a:cs typeface="Calibri" panose="020F0502020204030204" pitchFamily="34" charset="0"/>
              </a:rPr>
              <a:t>).</a:t>
            </a:r>
          </a:p>
          <a:p>
            <a:pPr marL="342900" indent="-342900" algn="just">
              <a:spcBef>
                <a:spcPts val="0"/>
              </a:spcBef>
              <a:spcAft>
                <a:spcPts val="0"/>
              </a:spcAf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Add an </a:t>
            </a:r>
            <a:r>
              <a:rPr lang="en-US" sz="2400" b="1" dirty="0">
                <a:latin typeface="Calibri" panose="020F0502020204030204" pitchFamily="34" charset="0"/>
                <a:ea typeface="Calibri" panose="020F0502020204030204" pitchFamily="34" charset="0"/>
                <a:cs typeface="Calibri" panose="020F0502020204030204" pitchFamily="34" charset="0"/>
              </a:rPr>
              <a:t>alerting mechanism</a:t>
            </a:r>
            <a:r>
              <a:rPr lang="en-US" sz="2400" dirty="0">
                <a:latin typeface="Calibri" panose="020F0502020204030204" pitchFamily="34" charset="0"/>
                <a:ea typeface="Calibri" panose="020F0502020204030204" pitchFamily="34" charset="0"/>
                <a:cs typeface="Calibri" panose="020F0502020204030204" pitchFamily="34" charset="0"/>
              </a:rPr>
              <a:t> (buzzer, screen alert, braking).</a:t>
            </a:r>
          </a:p>
          <a:p>
            <a:pPr marL="342900" indent="-342900" algn="just">
              <a:spcBef>
                <a:spcPts val="0"/>
              </a:spcBef>
              <a:spcAft>
                <a:spcPts val="0"/>
              </a:spcAf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Test prototype under </a:t>
            </a:r>
            <a:r>
              <a:rPr lang="en-US" sz="2400" b="1" dirty="0">
                <a:latin typeface="Calibri" panose="020F0502020204030204" pitchFamily="34" charset="0"/>
                <a:ea typeface="Calibri" panose="020F0502020204030204" pitchFamily="34" charset="0"/>
                <a:cs typeface="Calibri" panose="020F0502020204030204" pitchFamily="34" charset="0"/>
              </a:rPr>
              <a:t>different driving scenarios</a:t>
            </a:r>
            <a:r>
              <a:rPr lang="en-US" sz="2400" dirty="0">
                <a:latin typeface="Calibri" panose="020F0502020204030204" pitchFamily="34" charset="0"/>
                <a:ea typeface="Calibri" panose="020F0502020204030204" pitchFamily="34" charset="0"/>
                <a:cs typeface="Calibri" panose="020F0502020204030204" pitchFamily="34" charset="0"/>
              </a:rPr>
              <a:t> (day/night, highway/city).</a:t>
            </a:r>
          </a:p>
          <a:p>
            <a:pPr marL="342900" indent="-342900" algn="just">
              <a:spcBef>
                <a:spcPts val="0"/>
              </a:spcBef>
              <a:spcAft>
                <a:spcPts val="0"/>
              </a:spcAft>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a:p>
            <a:pPr algn="just">
              <a:spcBef>
                <a:spcPts val="0"/>
              </a:spcBef>
              <a:spcAft>
                <a:spcPts val="0"/>
              </a:spcAft>
            </a:pPr>
            <a:r>
              <a:rPr lang="en-US" sz="2600" b="1" dirty="0">
                <a:solidFill>
                  <a:srgbClr val="0000FF"/>
                </a:solidFill>
                <a:latin typeface="+mn-lt"/>
              </a:rPr>
              <a:t>Capstone-IV → Deployment &amp; Finalization :</a:t>
            </a:r>
          </a:p>
          <a:p>
            <a:pPr marL="342900" indent="-342900" algn="just">
              <a:spcBef>
                <a:spcPts val="0"/>
              </a:spcBef>
              <a:spcAft>
                <a:spcPts val="0"/>
              </a:spcAft>
              <a:buFont typeface="Arial" panose="020B0604020202020204" pitchFamily="34" charset="0"/>
              <a:buChar char="•"/>
            </a:pPr>
            <a:r>
              <a:rPr lang="en-US" sz="2400" dirty="0">
                <a:latin typeface="+mn-lt"/>
              </a:rPr>
              <a:t>Deploy the anomaly detection system.</a:t>
            </a:r>
          </a:p>
          <a:p>
            <a:pPr marL="342900" indent="-342900" algn="just">
              <a:spcBef>
                <a:spcPts val="0"/>
              </a:spcBef>
              <a:spcAft>
                <a:spcPts val="0"/>
              </a:spcAft>
              <a:buFont typeface="Arial" panose="020B0604020202020204" pitchFamily="34" charset="0"/>
              <a:buChar char="•"/>
            </a:pPr>
            <a:r>
              <a:rPr lang="en-US" sz="2400" dirty="0">
                <a:latin typeface="+mn-lt"/>
              </a:rPr>
              <a:t>Conduct </a:t>
            </a:r>
            <a:r>
              <a:rPr lang="en-US" sz="2400" b="1" dirty="0">
                <a:latin typeface="+mn-lt"/>
              </a:rPr>
              <a:t>final validation</a:t>
            </a:r>
            <a:r>
              <a:rPr lang="en-US" sz="2400" dirty="0">
                <a:latin typeface="+mn-lt"/>
              </a:rPr>
              <a:t> with live test </a:t>
            </a:r>
          </a:p>
          <a:p>
            <a:pPr marL="342900" indent="-342900" algn="just">
              <a:spcBef>
                <a:spcPts val="0"/>
              </a:spcBef>
              <a:spcAft>
                <a:spcPts val="0"/>
              </a:spcAft>
              <a:buFont typeface="Arial" panose="020B0604020202020204" pitchFamily="34" charset="0"/>
              <a:buChar char="•"/>
            </a:pPr>
            <a:r>
              <a:rPr lang="en-US" sz="2400" dirty="0" err="1">
                <a:latin typeface="+mn-lt"/>
              </a:rPr>
              <a:t>repare</a:t>
            </a:r>
            <a:r>
              <a:rPr lang="en-US" sz="2400" dirty="0">
                <a:latin typeface="+mn-lt"/>
              </a:rPr>
              <a:t> final </a:t>
            </a:r>
            <a:r>
              <a:rPr lang="en-US" sz="2400" b="1" dirty="0">
                <a:latin typeface="+mn-lt"/>
              </a:rPr>
              <a:t>documentation, publication paper(s), and project report</a:t>
            </a:r>
            <a:r>
              <a:rPr lang="en-US" sz="2400" dirty="0">
                <a:latin typeface="+mn-lt"/>
              </a:rPr>
              <a:t>.</a:t>
            </a:r>
          </a:p>
          <a:p>
            <a:pPr algn="just">
              <a:spcBef>
                <a:spcPts val="0"/>
              </a:spcBef>
              <a:spcAft>
                <a:spcPts val="0"/>
              </a:spcAft>
            </a:pPr>
            <a:endParaRPr lang="en-US" sz="2400" b="1" dirty="0">
              <a:solidFill>
                <a:srgbClr val="0000FF"/>
              </a:solidFill>
            </a:endParaRPr>
          </a:p>
          <a:p>
            <a:pPr marL="342900" indent="-342900" algn="just">
              <a:spcBef>
                <a:spcPts val="0"/>
              </a:spcBef>
              <a:spcAft>
                <a:spcPts val="0"/>
              </a:spcAft>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894040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590800" y="99506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209800" y="533400"/>
            <a:ext cx="7772400" cy="461665"/>
          </a:xfrm>
          <a:prstGeom prst="rect">
            <a:avLst/>
          </a:prstGeom>
          <a:noFill/>
          <a:ln w="9525">
            <a:noFill/>
            <a:miter lim="800000"/>
            <a:headEnd/>
            <a:tailEnd/>
          </a:ln>
        </p:spPr>
        <p:txBody>
          <a:bodyPr wrap="square">
            <a:spAutoFit/>
          </a:bodyPr>
          <a:lstStyle/>
          <a:p>
            <a:pPr marL="342900" indent="-342900" algn="r" eaLnBrk="0" hangingPunct="0">
              <a:spcBef>
                <a:spcPts val="0"/>
              </a:spcBef>
              <a:spcAft>
                <a:spcPts val="0"/>
              </a:spcAft>
              <a:defRPr/>
            </a:pPr>
            <a:r>
              <a:rPr lang="en-IN" sz="2400" b="1" dirty="0">
                <a:solidFill>
                  <a:schemeClr val="tx1">
                    <a:lumMod val="75000"/>
                    <a:lumOff val="25000"/>
                  </a:schemeClr>
                </a:solidFill>
                <a:latin typeface="Trebuchet MS"/>
              </a:rPr>
              <a:t>Capstone Project Timeline</a:t>
            </a:r>
            <a:endParaRPr lang="en-US" sz="2400" b="1" dirty="0">
              <a:solidFill>
                <a:schemeClr val="tx1">
                  <a:lumMod val="75000"/>
                  <a:lumOff val="25000"/>
                </a:schemeClr>
              </a:solidFill>
              <a:latin typeface="Trebuchet MS"/>
            </a:endParaRPr>
          </a:p>
        </p:txBody>
      </p:sp>
      <p:graphicFrame>
        <p:nvGraphicFramePr>
          <p:cNvPr id="48" name="Content Placeholder 47"/>
          <p:cNvGraphicFramePr>
            <a:graphicFrameLocks noGrp="1"/>
          </p:cNvGraphicFramePr>
          <p:nvPr>
            <p:ph idx="1"/>
          </p:nvPr>
        </p:nvGraphicFramePr>
        <p:xfrm>
          <a:off x="914400" y="1825624"/>
          <a:ext cx="11201400" cy="480377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3193415">
              <a:lnSpc>
                <a:spcPct val="100000"/>
              </a:lnSpc>
              <a:spcBef>
                <a:spcPts val="100"/>
              </a:spcBef>
            </a:pPr>
            <a:r>
              <a:rPr spc="-10" dirty="0"/>
              <a:t>Conclusion</a:t>
            </a:r>
          </a:p>
        </p:txBody>
      </p:sp>
      <p:sp>
        <p:nvSpPr>
          <p:cNvPr id="4" name="TextBox 3">
            <a:extLst>
              <a:ext uri="{FF2B5EF4-FFF2-40B4-BE49-F238E27FC236}">
                <a16:creationId xmlns:a16="http://schemas.microsoft.com/office/drawing/2014/main" id="{68D4AC5B-6B65-AEC2-EFEB-D9573523772D}"/>
              </a:ext>
            </a:extLst>
          </p:cNvPr>
          <p:cNvSpPr txBox="1"/>
          <p:nvPr/>
        </p:nvSpPr>
        <p:spPr>
          <a:xfrm>
            <a:off x="1905000" y="2362199"/>
            <a:ext cx="9296400" cy="2031325"/>
          </a:xfrm>
          <a:prstGeom prst="rect">
            <a:avLst/>
          </a:prstGeom>
          <a:noFill/>
        </p:spPr>
        <p:txBody>
          <a:bodyPr wrap="square" rtlCol="0">
            <a:spAutoFit/>
          </a:bodyPr>
          <a:lstStyle/>
          <a:p>
            <a:r>
              <a:rPr lang="en-US" b="1" dirty="0"/>
              <a:t>The project </a:t>
            </a:r>
            <a:r>
              <a:rPr lang="en-US" b="1" i="1" dirty="0"/>
              <a:t>“Driver Behavior Anomaly Detection using Deep Learning for Accident Prevention”</a:t>
            </a:r>
            <a:r>
              <a:rPr lang="en-US" b="1" dirty="0"/>
              <a:t> lays the foundation for an intelligent system that detects unsafe driver behaviors like drowsiness, distraction, and rash driving using CNN and LSTM models.</a:t>
            </a:r>
            <a:br>
              <a:rPr lang="en-US" b="1" dirty="0"/>
            </a:br>
            <a:r>
              <a:rPr lang="en-US" b="1" dirty="0"/>
              <a:t>By analyzing real-time data, it enhances road safety and minimizes human error.</a:t>
            </a:r>
            <a:br>
              <a:rPr lang="en-US" b="1" dirty="0"/>
            </a:br>
            <a:r>
              <a:rPr lang="en-US" b="1" dirty="0"/>
              <a:t>Future improvements include integrating multi-modal data, lightweight on-device models, and explainable AI to build safer and smarter transportation systems.</a:t>
            </a:r>
            <a:endParaRPr lang="en-IN"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a:spLocks noGrp="1"/>
          </p:cNvSpPr>
          <p:nvPr>
            <p:ph type="title"/>
          </p:nvPr>
        </p:nvSpPr>
        <p:spPr>
          <a:xfrm>
            <a:off x="9062466" y="1167129"/>
            <a:ext cx="1527810" cy="391160"/>
          </a:xfrm>
          <a:prstGeom prst="rect">
            <a:avLst/>
          </a:prstGeom>
        </p:spPr>
        <p:txBody>
          <a:bodyPr vert="horz" wrap="square" lIns="0" tIns="12700" rIns="0" bIns="0" rtlCol="0">
            <a:spAutoFit/>
          </a:bodyPr>
          <a:lstStyle/>
          <a:p>
            <a:pPr marL="12700">
              <a:lnSpc>
                <a:spcPct val="100000"/>
              </a:lnSpc>
              <a:spcBef>
                <a:spcPts val="100"/>
              </a:spcBef>
            </a:pPr>
            <a:r>
              <a:rPr spc="-10" dirty="0"/>
              <a:t>References</a:t>
            </a:r>
          </a:p>
        </p:txBody>
      </p:sp>
      <p:sp>
        <p:nvSpPr>
          <p:cNvPr id="4" name="object 4"/>
          <p:cNvSpPr txBox="1"/>
          <p:nvPr/>
        </p:nvSpPr>
        <p:spPr>
          <a:xfrm>
            <a:off x="2250694" y="2731134"/>
            <a:ext cx="7956550" cy="1859483"/>
          </a:xfrm>
          <a:prstGeom prst="rect">
            <a:avLst/>
          </a:prstGeom>
        </p:spPr>
        <p:txBody>
          <a:bodyPr vert="horz" wrap="square" lIns="0" tIns="12700" rIns="0" bIns="0" rtlCol="0">
            <a:spAutoFit/>
          </a:bodyPr>
          <a:lstStyle/>
          <a:p>
            <a:pPr marL="12700" marR="5715" indent="12065" algn="ctr">
              <a:lnSpc>
                <a:spcPct val="100000"/>
              </a:lnSpc>
              <a:spcBef>
                <a:spcPts val="100"/>
              </a:spcBef>
            </a:pPr>
            <a:r>
              <a:rPr lang="en-IN" sz="2400" dirty="0">
                <a:solidFill>
                  <a:schemeClr val="accent5">
                    <a:lumMod val="75000"/>
                  </a:schemeClr>
                </a:solidFill>
              </a:rPr>
              <a:t>Abnormal Driving </a:t>
            </a:r>
            <a:r>
              <a:rPr lang="en-IN" sz="2400" dirty="0" err="1">
                <a:solidFill>
                  <a:schemeClr val="accent5">
                    <a:lumMod val="75000"/>
                  </a:schemeClr>
                </a:solidFill>
              </a:rPr>
              <a:t>Behavior</a:t>
            </a:r>
            <a:r>
              <a:rPr lang="en-IN" sz="2400" dirty="0">
                <a:solidFill>
                  <a:schemeClr val="accent5">
                    <a:lumMod val="75000"/>
                  </a:schemeClr>
                </a:solidFill>
              </a:rPr>
              <a:t> Detection: A Machine and Deep Learning Based Hybrid Model by Uddin M.A., Hossain N., Ahamed A., et al. — </a:t>
            </a:r>
            <a:r>
              <a:rPr lang="en-IN" sz="2400" i="1" dirty="0">
                <a:solidFill>
                  <a:schemeClr val="accent5">
                    <a:lumMod val="75000"/>
                  </a:schemeClr>
                </a:solidFill>
              </a:rPr>
              <a:t>International Journal of Intelligent Transportation Systems Research</a:t>
            </a:r>
            <a:r>
              <a:rPr lang="en-IN" sz="2400" dirty="0">
                <a:solidFill>
                  <a:schemeClr val="accent5">
                    <a:lumMod val="75000"/>
                  </a:schemeClr>
                </a:solidFill>
              </a:rPr>
              <a:t>, Vol. 23, pp. 568-591, 2025</a:t>
            </a:r>
            <a:endParaRPr sz="2400" dirty="0">
              <a:solidFill>
                <a:schemeClr val="accent5">
                  <a:lumMod val="75000"/>
                </a:schemeClr>
              </a:solidFill>
              <a:latin typeface="Trebuchet MS"/>
              <a:cs typeface="Trebuchet M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75226" y="3372992"/>
            <a:ext cx="2322195" cy="635000"/>
          </a:xfrm>
          <a:prstGeom prst="rect">
            <a:avLst/>
          </a:prstGeom>
        </p:spPr>
        <p:txBody>
          <a:bodyPr vert="horz" wrap="square" lIns="0" tIns="12065" rIns="0" bIns="0" rtlCol="0">
            <a:spAutoFit/>
          </a:bodyPr>
          <a:lstStyle/>
          <a:p>
            <a:pPr marL="12700">
              <a:lnSpc>
                <a:spcPct val="100000"/>
              </a:lnSpc>
              <a:spcBef>
                <a:spcPts val="95"/>
              </a:spcBef>
            </a:pPr>
            <a:r>
              <a:rPr sz="4000" dirty="0"/>
              <a:t>Thank</a:t>
            </a:r>
            <a:r>
              <a:rPr sz="4000" spc="-195" dirty="0"/>
              <a:t> </a:t>
            </a:r>
            <a:r>
              <a:rPr sz="4000" spc="-110" dirty="0"/>
              <a:t>You</a:t>
            </a:r>
            <a:endParaRPr sz="4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125</TotalTime>
  <Words>2615</Words>
  <Application>Microsoft Office PowerPoint</Application>
  <PresentationFormat>Widescreen</PresentationFormat>
  <Paragraphs>238</Paragraphs>
  <Slides>27</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Arial MT</vt:lpstr>
      <vt:lpstr>Calibri</vt:lpstr>
      <vt:lpstr>Times New Roman</vt:lpstr>
      <vt:lpstr>Trebuchet MS</vt:lpstr>
      <vt:lpstr>Wingdings</vt:lpstr>
      <vt:lpstr>Office Theme</vt:lpstr>
      <vt:lpstr>UE23CS320A– Project Phase – 1 Review -2</vt:lpstr>
      <vt:lpstr>PowerPoint Presentation</vt:lpstr>
      <vt:lpstr>PowerPoint Presentation</vt:lpstr>
      <vt:lpstr>PowerPoint Presentation</vt:lpstr>
      <vt:lpstr>Problem Statement</vt:lpstr>
      <vt:lpstr>Abstract</vt:lpstr>
      <vt:lpstr>PowerPoint Presentation</vt:lpstr>
      <vt:lpstr>PowerPoint Presentation</vt:lpstr>
      <vt:lpstr>Suggestions from Review - 1</vt:lpstr>
      <vt:lpstr>Literature Survey/Existing System</vt:lpstr>
      <vt:lpstr>PowerPoint Presentation</vt:lpstr>
      <vt:lpstr>PowerPoint Presentation</vt:lpstr>
      <vt:lpstr>PowerPoint Presentation</vt:lpstr>
      <vt:lpstr>Literature Survey/Existing System</vt:lpstr>
      <vt:lpstr>PowerPoint Presentation</vt:lpstr>
      <vt:lpstr>Challenges</vt:lpstr>
      <vt:lpstr>Research Gap</vt:lpstr>
      <vt:lpstr>Objectives</vt:lpstr>
      <vt:lpstr>PowerPoint Presentation</vt:lpstr>
      <vt:lpstr>PowerPoint Presentation</vt:lpstr>
      <vt:lpstr>PowerPoint Presentation</vt:lpstr>
      <vt:lpstr>PowerPoint Presentation</vt:lpstr>
      <vt:lpstr>PowerPoint Presentation</vt:lpstr>
      <vt:lpstr>PowerPoint Presentation</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Sunitha R</dc:creator>
  <cp:lastModifiedBy>ranjith v</cp:lastModifiedBy>
  <cp:revision>10</cp:revision>
  <dcterms:created xsi:type="dcterms:W3CDTF">2025-11-04T18:34:22Z</dcterms:created>
  <dcterms:modified xsi:type="dcterms:W3CDTF">2025-11-19T12:50:22Z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2025-11-04T00:00:00Z</vt:filetime>
  </property>
  <property fmtid="{D5CDD505-2E9C-101B-9397-08002B2CF9AE}" pid="3" name="Creator">
    <vt:lpwstr>Microsoft® PowerPoint® 2021</vt:lpwstr>
  </property>
  <property fmtid="{D5CDD505-2E9C-101B-9397-08002B2CF9AE}" pid="4" name="LastSaved">
    <vt:filetime>2025-11-04T00:00:00Z</vt:filetime>
  </property>
  <property fmtid="{D5CDD505-2E9C-101B-9397-08002B2CF9AE}" pid="5" name="Producer">
    <vt:lpwstr>Microsoft® PowerPoint® 2021</vt:lpwstr>
  </property>
</Properties>
</file>