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69" r:id="rId15"/>
    <p:sldId id="277" r:id="rId16"/>
    <p:sldId id="592" r:id="rId17"/>
    <p:sldId id="593" r:id="rId18"/>
    <p:sldId id="586" r:id="rId19"/>
    <p:sldId id="272" r:id="rId20"/>
    <p:sldId id="273" r:id="rId21"/>
    <p:sldId id="274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6D658-1344-4453-92BE-8851E1E03439}" v="3" dt="2025-11-05T05:03:20.7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33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ith v" userId="2660a8e3a8b598cc" providerId="LiveId" clId="{51E44FCE-B4F6-40C8-85AB-746D126B7023}"/>
    <pc:docChg chg="modSld">
      <pc:chgData name="ranjith v" userId="2660a8e3a8b598cc" providerId="LiveId" clId="{51E44FCE-B4F6-40C8-85AB-746D126B7023}" dt="2025-11-05T05:03:32.624" v="10" actId="113"/>
      <pc:docMkLst>
        <pc:docMk/>
      </pc:docMkLst>
      <pc:sldChg chg="addSp modSp mod">
        <pc:chgData name="ranjith v" userId="2660a8e3a8b598cc" providerId="LiveId" clId="{51E44FCE-B4F6-40C8-85AB-746D126B7023}" dt="2025-11-05T05:03:32.624" v="10" actId="113"/>
        <pc:sldMkLst>
          <pc:docMk/>
          <pc:sldMk cId="0" sldId="272"/>
        </pc:sldMkLst>
        <pc:spChg chg="add mod">
          <ac:chgData name="ranjith v" userId="2660a8e3a8b598cc" providerId="LiveId" clId="{51E44FCE-B4F6-40C8-85AB-746D126B7023}" dt="2025-11-05T05:03:32.624" v="10" actId="113"/>
          <ac:spMkLst>
            <pc:docMk/>
            <pc:sldMk cId="0" sldId="272"/>
            <ac:spMk id="4" creationId="{68D4AC5B-6B65-AEC2-EFEB-D9573523772D}"/>
          </ac:spMkLst>
        </pc:spChg>
      </pc:sldChg>
      <pc:sldChg chg="modSp mod">
        <pc:chgData name="ranjith v" userId="2660a8e3a8b598cc" providerId="LiveId" clId="{51E44FCE-B4F6-40C8-85AB-746D126B7023}" dt="2025-11-05T05:02:39.572" v="6" actId="207"/>
        <pc:sldMkLst>
          <pc:docMk/>
          <pc:sldMk cId="0" sldId="273"/>
        </pc:sldMkLst>
        <pc:spChg chg="mod">
          <ac:chgData name="ranjith v" userId="2660a8e3a8b598cc" providerId="LiveId" clId="{51E44FCE-B4F6-40C8-85AB-746D126B7023}" dt="2025-11-05T05:02:39.572" v="6" actId="207"/>
          <ac:spMkLst>
            <pc:docMk/>
            <pc:sldMk cId="0" sldId="273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24</a:t>
            </a:r>
            <a:r>
              <a:rPr lang="en-US" baseline="0" dirty="0"/>
              <a:t> Months Capstone Timeline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636-4D08-A536-92A711628AE1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36-4D08-A536-92A711628AE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636-4D08-A536-92A711628A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8636-4D08-A536-92A711628AE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8636-4D08-A536-92A711628A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8636-4D08-A536-92A711628A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8636-4D08-A536-92A711628AE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D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F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0-8636-4D08-A536-92A711628AE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2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4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6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7-8636-4D08-A536-92A711628AE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9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B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C-8636-4D08-A536-92A711628AE1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E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F-8636-4D08-A536-92A711628AE1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0-8636-4D08-A536-92A711628AE1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Sheet1!$K$2:$K$10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51-8636-4D08-A536-92A711628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44124160"/>
        <c:axId val="202687128"/>
      </c:barChart>
      <c:catAx>
        <c:axId val="2441241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87128"/>
        <c:crosses val="autoZero"/>
        <c:auto val="1"/>
        <c:lblAlgn val="ctr"/>
        <c:lblOffset val="100"/>
        <c:noMultiLvlLbl val="0"/>
      </c:catAx>
      <c:valAx>
        <c:axId val="2026871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124160"/>
        <c:crosses val="autoZero"/>
        <c:crossBetween val="between"/>
      </c:valAx>
      <c:spPr>
        <a:solidFill>
          <a:schemeClr val="bg1"/>
        </a:solidFill>
        <a:ln>
          <a:noFill/>
        </a:ln>
        <a:effectLst>
          <a:outerShdw blurRad="50800" dist="50800" dir="5400000" sx="1000" sy="1000" algn="ctr" rotWithShape="0">
            <a:srgbClr val="000000"/>
          </a:outerShd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80701-CB0D-4B7E-BE3C-0C35DF8FB8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BD190-B59A-47D5-88B8-692384BAE5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31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42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56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22877" y="264413"/>
            <a:ext cx="1106538" cy="533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24169" y="1130553"/>
            <a:ext cx="4666869" cy="4277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3019" y="3134614"/>
            <a:ext cx="8442325" cy="2025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1482" y="606349"/>
            <a:ext cx="5321300" cy="10852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2465070" algn="l"/>
              </a:tabLst>
            </a:pPr>
            <a:r>
              <a:rPr sz="2800" b="1" spc="-10" dirty="0">
                <a:latin typeface="Trebuchet MS"/>
                <a:cs typeface="Trebuchet MS"/>
              </a:rPr>
              <a:t>UE23CS320A–</a:t>
            </a:r>
            <a:r>
              <a:rPr sz="2800" b="1" dirty="0">
                <a:latin typeface="Trebuchet MS"/>
                <a:cs typeface="Trebuchet MS"/>
              </a:rPr>
              <a:t>	Project</a:t>
            </a:r>
            <a:r>
              <a:rPr sz="2800" b="1" spc="-8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Phase</a:t>
            </a:r>
            <a:r>
              <a:rPr sz="2800" b="1" spc="-6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–</a:t>
            </a:r>
            <a:r>
              <a:rPr sz="2800" b="1" spc="-65" dirty="0">
                <a:latin typeface="Trebuchet MS"/>
                <a:cs typeface="Trebuchet MS"/>
              </a:rPr>
              <a:t> </a:t>
            </a:r>
            <a:r>
              <a:rPr sz="2800" b="1" spc="-50" dirty="0">
                <a:latin typeface="Trebuchet MS"/>
                <a:cs typeface="Trebuchet MS"/>
              </a:rPr>
              <a:t>1</a:t>
            </a:r>
            <a:endParaRPr sz="2800">
              <a:latin typeface="Trebuchet MS"/>
              <a:cs typeface="Trebuchet MS"/>
            </a:endParaRPr>
          </a:p>
          <a:p>
            <a:pPr marL="153670" algn="ctr">
              <a:lnSpc>
                <a:spcPct val="100000"/>
              </a:lnSpc>
              <a:spcBef>
                <a:spcPts val="375"/>
              </a:spcBef>
            </a:pPr>
            <a:r>
              <a:rPr sz="3600" dirty="0"/>
              <a:t>Review</a:t>
            </a:r>
            <a:r>
              <a:rPr sz="3600" spc="-185" dirty="0"/>
              <a:t> </a:t>
            </a:r>
            <a:r>
              <a:rPr sz="3600" spc="-25" dirty="0"/>
              <a:t>-</a:t>
            </a:r>
            <a:r>
              <a:rPr sz="3600" spc="-50" dirty="0"/>
              <a:t>2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350391" y="2589403"/>
            <a:ext cx="7674609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991995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Project</a:t>
            </a:r>
            <a:r>
              <a:rPr sz="2400" spc="-14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Title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	:Driver</a:t>
            </a:r>
            <a:r>
              <a:rPr sz="2400" spc="-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Behavior</a:t>
            </a:r>
            <a:r>
              <a:rPr sz="2400" spc="-17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Anomaly</a:t>
            </a:r>
            <a:r>
              <a:rPr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Detection</a:t>
            </a:r>
            <a:r>
              <a:rPr sz="2400" spc="-7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using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Deep</a:t>
            </a:r>
            <a:r>
              <a:rPr sz="2400" spc="-8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Learning</a:t>
            </a:r>
            <a:r>
              <a:rPr sz="2400" spc="-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for</a:t>
            </a:r>
            <a:r>
              <a:rPr sz="2400" spc="-1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Accident</a:t>
            </a:r>
            <a:r>
              <a:rPr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Prevention</a:t>
            </a:r>
            <a:endParaRPr sz="2400">
              <a:latin typeface="Trebuchet MS"/>
              <a:cs typeface="Trebuchet MS"/>
            </a:endParaRPr>
          </a:p>
          <a:p>
            <a:pPr marL="12700" marR="5227320">
              <a:lnSpc>
                <a:spcPct val="200000"/>
              </a:lnSpc>
              <a:tabLst>
                <a:tab pos="2007235" algn="l"/>
              </a:tabLst>
            </a:pP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Project</a:t>
            </a:r>
            <a:r>
              <a:rPr sz="2400" spc="-1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33CC"/>
                </a:solidFill>
                <a:latin typeface="Trebuchet MS"/>
                <a:cs typeface="Trebuchet MS"/>
              </a:rPr>
              <a:t>ID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033CC"/>
                </a:solidFill>
                <a:latin typeface="Trebuchet MS"/>
                <a:cs typeface="Trebuchet MS"/>
              </a:rPr>
              <a:t>:</a:t>
            </a:r>
            <a:r>
              <a:rPr sz="2400" spc="-25" dirty="0">
                <a:solidFill>
                  <a:srgbClr val="0000FF"/>
                </a:solidFill>
                <a:latin typeface="Trebuchet MS"/>
                <a:cs typeface="Trebuchet MS"/>
              </a:rPr>
              <a:t>06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Project</a:t>
            </a:r>
            <a:r>
              <a:rPr sz="2400" spc="-13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Guide</a:t>
            </a:r>
            <a:r>
              <a:rPr sz="2400" spc="-11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33CC"/>
                </a:solidFill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987550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Project</a:t>
            </a:r>
            <a:r>
              <a:rPr sz="2400" spc="-14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33CC"/>
                </a:solidFill>
                <a:latin typeface="Trebuchet MS"/>
                <a:cs typeface="Trebuchet MS"/>
              </a:rPr>
              <a:t>Team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	:Poojary</a:t>
            </a:r>
            <a:r>
              <a:rPr sz="2400" spc="-10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Sairaj</a:t>
            </a:r>
            <a:r>
              <a:rPr sz="2400" spc="-114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Shankar-</a:t>
            </a:r>
            <a:r>
              <a:rPr sz="2400" spc="-10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PES2UG23AM073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253" y="5150358"/>
            <a:ext cx="24225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Mahesh</a:t>
            </a:r>
            <a:r>
              <a:rPr sz="2400" spc="-6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E</a:t>
            </a:r>
            <a:r>
              <a:rPr sz="2400" spc="-17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Ajjer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Chetan</a:t>
            </a:r>
            <a:r>
              <a:rPr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Nadichagi </a:t>
            </a:r>
            <a:r>
              <a:rPr sz="2400" dirty="0">
                <a:solidFill>
                  <a:srgbClr val="0033CC"/>
                </a:solidFill>
                <a:latin typeface="Trebuchet MS"/>
                <a:cs typeface="Trebuchet MS"/>
              </a:rPr>
              <a:t>Ranjith</a:t>
            </a:r>
            <a:r>
              <a:rPr sz="2400" spc="-9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Kumar.V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821" y="5150358"/>
            <a:ext cx="24682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 indent="-203835">
              <a:lnSpc>
                <a:spcPct val="100000"/>
              </a:lnSpc>
              <a:spcBef>
                <a:spcPts val="100"/>
              </a:spcBef>
              <a:buChar char="-"/>
              <a:tabLst>
                <a:tab pos="219075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PES2UG23CS316</a:t>
            </a:r>
            <a:endParaRPr sz="2400">
              <a:latin typeface="Trebuchet MS"/>
              <a:cs typeface="Trebuchet MS"/>
            </a:endParaRPr>
          </a:p>
          <a:p>
            <a:pPr marL="231140" indent="-203835">
              <a:lnSpc>
                <a:spcPct val="100000"/>
              </a:lnSpc>
              <a:buChar char="-"/>
              <a:tabLst>
                <a:tab pos="231140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PES2UG23CS149</a:t>
            </a:r>
            <a:endParaRPr sz="2400">
              <a:latin typeface="Trebuchet MS"/>
              <a:cs typeface="Trebuchet MS"/>
            </a:endParaRPr>
          </a:p>
          <a:p>
            <a:pPr marL="216535" indent="-203835">
              <a:lnSpc>
                <a:spcPct val="100000"/>
              </a:lnSpc>
              <a:buChar char="-"/>
              <a:tabLst>
                <a:tab pos="216535" algn="l"/>
              </a:tabLst>
            </a:pPr>
            <a:r>
              <a:rPr sz="2400" spc="-10" dirty="0">
                <a:solidFill>
                  <a:srgbClr val="0033CC"/>
                </a:solidFill>
                <a:latin typeface="Trebuchet MS"/>
                <a:cs typeface="Trebuchet MS"/>
              </a:rPr>
              <a:t>PES2UG23AM082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79294" y="1641322"/>
            <a:ext cx="5307965" cy="29527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00FF"/>
              </a:buClr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Introduction</a:t>
            </a:r>
            <a:r>
              <a:rPr sz="2000" spc="-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and</a:t>
            </a:r>
            <a:r>
              <a:rPr sz="2000" spc="-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Motivation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Problem</a:t>
            </a:r>
            <a:r>
              <a:rPr sz="2000" spc="-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Statement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Abstract</a:t>
            </a:r>
            <a:r>
              <a:rPr sz="2000" spc="-5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and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Scope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Suggestions</a:t>
            </a:r>
            <a:r>
              <a:rPr sz="2000" spc="-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from</a:t>
            </a:r>
            <a:r>
              <a:rPr sz="2000" spc="-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Review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–</a:t>
            </a:r>
            <a:r>
              <a:rPr sz="2000" spc="-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0000F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4311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Research</a:t>
            </a:r>
            <a:r>
              <a:rPr sz="2000" spc="-5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/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Technology</a:t>
            </a:r>
            <a:r>
              <a:rPr sz="2000" spc="-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gap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and</a:t>
            </a:r>
            <a:r>
              <a:rPr sz="2000" spc="-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Challenges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Objectives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Literature</a:t>
            </a:r>
            <a:r>
              <a:rPr sz="2000" spc="-7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Survey</a:t>
            </a:r>
            <a:r>
              <a:rPr sz="2000" spc="-3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/</a:t>
            </a:r>
            <a:r>
              <a:rPr sz="2000" spc="-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FF"/>
                </a:solidFill>
                <a:latin typeface="Trebuchet MS"/>
                <a:cs typeface="Trebuchet MS"/>
              </a:rPr>
              <a:t>Existing</a:t>
            </a:r>
            <a:r>
              <a:rPr sz="2000" spc="-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System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0000FF"/>
                </a:solidFill>
                <a:latin typeface="Trebuchet MS"/>
                <a:cs typeface="Trebuchet MS"/>
              </a:rPr>
              <a:t>References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82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05255" y="1167129"/>
            <a:ext cx="10229850" cy="421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50290" algn="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Introduction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 indent="12065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“Driver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Anomaly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Accident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Prevention</a:t>
            </a:r>
            <a:r>
              <a:rPr sz="2400" spc="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Intelligent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Transportation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Systems”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focuses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identifying</a:t>
            </a:r>
            <a:r>
              <a:rPr sz="2400" spc="4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abnormal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unsafe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4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</a:t>
            </a:r>
            <a:r>
              <a:rPr sz="2400" spc="4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4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4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4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road </a:t>
            </a:r>
            <a:r>
              <a:rPr sz="2400" dirty="0">
                <a:latin typeface="Arial MT"/>
                <a:cs typeface="Arial MT"/>
              </a:rPr>
              <a:t>accidents.</a:t>
            </a:r>
            <a:r>
              <a:rPr sz="2400" spc="3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growing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vehicles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rise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accident </a:t>
            </a:r>
            <a:r>
              <a:rPr sz="2400" dirty="0">
                <a:latin typeface="Arial MT"/>
                <a:cs typeface="Arial MT"/>
              </a:rPr>
              <a:t>rates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due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error,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become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essential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</a:t>
            </a:r>
            <a:r>
              <a:rPr sz="2400" spc="3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intelligent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monitor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analyze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time.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Using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techniques,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aims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</a:t>
            </a:r>
            <a:r>
              <a:rPr sz="2400" spc="3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anomalies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 </a:t>
            </a:r>
            <a:r>
              <a:rPr sz="2400" dirty="0">
                <a:latin typeface="Arial MT"/>
                <a:cs typeface="Arial MT"/>
              </a:rPr>
              <a:t>drowsiness,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distraction,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rash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driving,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inattention,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timely </a:t>
            </a:r>
            <a:r>
              <a:rPr sz="2400" dirty="0">
                <a:latin typeface="Arial MT"/>
                <a:cs typeface="Arial MT"/>
              </a:rPr>
              <a:t>alerts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prevent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accidents.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90852" y="1167129"/>
            <a:ext cx="10060305" cy="275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67105" algn="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Motivation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2400">
              <a:latin typeface="Trebuchet MS"/>
              <a:cs typeface="Trebuchet MS"/>
            </a:endParaRPr>
          </a:p>
          <a:p>
            <a:pPr marL="12065" marR="5080" indent="6985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motivation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behind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desire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road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lives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minimizing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error.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integrating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artificial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intelligence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transportation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move </a:t>
            </a:r>
            <a:r>
              <a:rPr sz="2400" dirty="0">
                <a:latin typeface="Arial MT"/>
                <a:cs typeface="Arial MT"/>
              </a:rPr>
              <a:t>toward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safer,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smarter,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reliable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environments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—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ultimately </a:t>
            </a:r>
            <a:r>
              <a:rPr sz="2400" dirty="0">
                <a:latin typeface="Arial MT"/>
                <a:cs typeface="Arial MT"/>
              </a:rPr>
              <a:t>helping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alert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ensuring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longer,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safer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journeys.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65807" y="2230323"/>
            <a:ext cx="929767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952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Despite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significant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advancements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vehicle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technology,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human</a:t>
            </a:r>
            <a:r>
              <a:rPr sz="2400" spc="6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remains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road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Drivers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exhibit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abnormal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drowsiness,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distraction, </a:t>
            </a:r>
            <a:r>
              <a:rPr sz="2400" dirty="0">
                <a:latin typeface="Arial MT"/>
                <a:cs typeface="Arial MT"/>
              </a:rPr>
              <a:t>speeding,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mobile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phone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usage,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severe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collisions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life.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Existing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vehicles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primarily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post-</a:t>
            </a:r>
            <a:r>
              <a:rPr sz="2400" dirty="0">
                <a:latin typeface="Arial MT"/>
                <a:cs typeface="Arial MT"/>
              </a:rPr>
              <a:t>accident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rather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prevention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unsafe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behaviors.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80" dirty="0"/>
              <a:t> </a:t>
            </a:r>
            <a:r>
              <a:rPr spc="-10" dirty="0"/>
              <a:t>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40255" y="2230323"/>
            <a:ext cx="89509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“Driver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Behavior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Deep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Learning,”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aims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road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error.</a:t>
            </a:r>
            <a:endParaRPr sz="2400">
              <a:latin typeface="Arial MT"/>
              <a:cs typeface="Arial MT"/>
            </a:endParaRPr>
          </a:p>
          <a:p>
            <a:pPr marL="12065" marR="5080" indent="-2540" algn="ctr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unsafe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like </a:t>
            </a:r>
            <a:r>
              <a:rPr sz="2400" dirty="0">
                <a:latin typeface="Arial MT"/>
                <a:cs typeface="Arial MT"/>
              </a:rPr>
              <a:t>drowsiness,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distraction,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rash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early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alerts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contributes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building safer,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smarter,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reliable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transportation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90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49400" y="1185417"/>
            <a:ext cx="8719185" cy="2610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Scope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715" algn="just">
              <a:lnSpc>
                <a:spcPct val="999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scope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prevent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unsafe </a:t>
            </a:r>
            <a:r>
              <a:rPr sz="2400" dirty="0">
                <a:latin typeface="Arial MT"/>
                <a:cs typeface="Arial MT"/>
              </a:rPr>
              <a:t>driving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behaviors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techniques.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analyzing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actions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generating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early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alerts,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aims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accidents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caused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3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3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promote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safer,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smarter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transportation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7604" y="1010348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3054" y="572770"/>
            <a:ext cx="10807065" cy="522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702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Suggestions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from</a:t>
            </a:r>
            <a:r>
              <a:rPr sz="24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Review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-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Key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suggestions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remarks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by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panel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members: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"/>
              <a:cs typeface="Arial"/>
            </a:endParaRPr>
          </a:p>
          <a:p>
            <a:pPr marL="353060" marR="5715" indent="-340360" algn="just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panel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advised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find</a:t>
            </a:r>
            <a:r>
              <a:rPr sz="2400" b="1" spc="1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114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suitable</a:t>
            </a:r>
            <a:r>
              <a:rPr sz="2400" b="1" spc="1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dataset</a:t>
            </a:r>
            <a:r>
              <a:rPr sz="2400" b="1" spc="1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related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driver</a:t>
            </a:r>
            <a:r>
              <a:rPr sz="2400" b="1" spc="1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behavior 	</a:t>
            </a:r>
            <a:r>
              <a:rPr sz="2400" b="1" dirty="0">
                <a:latin typeface="Arial"/>
                <a:cs typeface="Arial"/>
              </a:rPr>
              <a:t>anomalies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effective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training.</a:t>
            </a:r>
            <a:endParaRPr sz="2400">
              <a:latin typeface="Arial MT"/>
              <a:cs typeface="Arial MT"/>
            </a:endParaRPr>
          </a:p>
          <a:p>
            <a:pPr marL="353060" marR="6350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suggested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adopting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deep</a:t>
            </a:r>
            <a:r>
              <a:rPr sz="2400" b="1" spc="1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b="1" spc="1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approach</a:t>
            </a:r>
            <a:r>
              <a:rPr sz="2400" b="1" spc="1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accurate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detection 	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abnormal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behaviors.</a:t>
            </a:r>
            <a:endParaRPr sz="2400">
              <a:latin typeface="Arial MT"/>
              <a:cs typeface="Arial MT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members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recommended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deep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CNN, 	</a:t>
            </a:r>
            <a:r>
              <a:rPr sz="2400" b="1" dirty="0">
                <a:latin typeface="Arial"/>
                <a:cs typeface="Arial"/>
              </a:rPr>
              <a:t>Autoencoders,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LSTM,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13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ADA</a:t>
            </a:r>
            <a:endParaRPr sz="2400">
              <a:latin typeface="Arial"/>
              <a:cs typeface="Arial"/>
            </a:endParaRPr>
          </a:p>
          <a:p>
            <a:pPr marL="353060" marR="6985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itially,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planned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V2V/V2I</a:t>
            </a:r>
            <a:r>
              <a:rPr sz="2400" b="1" spc="1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communication</a:t>
            </a:r>
            <a:r>
              <a:rPr sz="2400" b="1" spc="1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alert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traffic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authorities 	</a:t>
            </a:r>
            <a:r>
              <a:rPr sz="2400" dirty="0">
                <a:latin typeface="Arial MT"/>
                <a:cs typeface="Arial MT"/>
              </a:rPr>
              <a:t>during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anomalies,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panel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advised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40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3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feasible</a:t>
            </a:r>
            <a:r>
              <a:rPr sz="2400" b="1" spc="3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3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3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current 	scope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7604" y="1010348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3054" y="1383538"/>
            <a:ext cx="1080833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Implementation: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identified</a:t>
            </a:r>
            <a:r>
              <a:rPr sz="2400" b="1" spc="1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1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collected</a:t>
            </a:r>
            <a:r>
              <a:rPr sz="2400" b="1" spc="1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datasets</a:t>
            </a:r>
            <a:r>
              <a:rPr sz="2400" b="1" spc="1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representing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driver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behavior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daylight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night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(IR)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conditions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3060" marR="8890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developed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deep</a:t>
            </a:r>
            <a:r>
              <a:rPr sz="2400" b="1" spc="2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b="1" spc="2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techniques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focusing 	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CNN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LSTM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anomaly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detection.</a:t>
            </a:r>
            <a:endParaRPr sz="2400">
              <a:latin typeface="Arial MT"/>
              <a:cs typeface="Arial MT"/>
            </a:endParaRPr>
          </a:p>
          <a:p>
            <a:pPr marL="353060" marR="6350" indent="-340360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members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recommended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deep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CNN, 	</a:t>
            </a:r>
            <a:r>
              <a:rPr sz="2400" b="1" dirty="0">
                <a:latin typeface="Arial"/>
                <a:cs typeface="Arial"/>
              </a:rPr>
              <a:t>Autoencoders,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LSTM,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13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ADA</a:t>
            </a:r>
            <a:endParaRPr sz="2400">
              <a:latin typeface="Arial"/>
              <a:cs typeface="Arial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panel’s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suggestion,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V2V/V2I</a:t>
            </a:r>
            <a:r>
              <a:rPr sz="2400" b="1" spc="1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communication</a:t>
            </a:r>
            <a:r>
              <a:rPr sz="2400" b="1" spc="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feature</a:t>
            </a:r>
            <a:r>
              <a:rPr sz="2400" b="1" spc="10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has 	</a:t>
            </a:r>
            <a:r>
              <a:rPr sz="2400" b="1" dirty="0">
                <a:latin typeface="Arial"/>
                <a:cs typeface="Arial"/>
              </a:rPr>
              <a:t>been</a:t>
            </a:r>
            <a:r>
              <a:rPr sz="2400" b="1" spc="229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excluded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now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focuses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solely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real-</a:t>
            </a:r>
            <a:r>
              <a:rPr sz="2400" b="1" dirty="0">
                <a:latin typeface="Arial"/>
                <a:cs typeface="Arial"/>
              </a:rPr>
              <a:t>time</a:t>
            </a:r>
            <a:r>
              <a:rPr sz="2400" b="1" spc="2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anomaly 	</a:t>
            </a:r>
            <a:r>
              <a:rPr sz="2400" b="1" dirty="0">
                <a:latin typeface="Arial"/>
                <a:cs typeface="Arial"/>
              </a:rPr>
              <a:t>detection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vehicle.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71057" y="572770"/>
            <a:ext cx="38468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Suggestions</a:t>
            </a:r>
            <a:r>
              <a:rPr spc="-50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spc="-10" dirty="0"/>
              <a:t>Review</a:t>
            </a:r>
            <a:r>
              <a:rPr spc="-50" dirty="0"/>
              <a:t> </a:t>
            </a:r>
            <a:r>
              <a:rPr dirty="0"/>
              <a:t>-</a:t>
            </a:r>
            <a:r>
              <a:rPr spc="-70" dirty="0"/>
              <a:t> </a:t>
            </a: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8711" y="884110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01278" y="482549"/>
            <a:ext cx="14884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Challenges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6417" y="1372565"/>
            <a:ext cx="892746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False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Positives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Anomaly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Alerts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misclassify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safe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gestures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(like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adjusting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glasses)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anomalies,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trust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Low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robustness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fail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lighting,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occlusions,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camera</a:t>
            </a:r>
            <a:r>
              <a:rPr sz="1800" spc="-10" dirty="0">
                <a:latin typeface="Arial MT"/>
                <a:cs typeface="Arial MT"/>
              </a:rPr>
              <a:t> vibration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marR="65913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Privacy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issues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Continuous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monitoring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raises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ethical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security concerns..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Class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Imbalance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Datasets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dangerous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(like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sudden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drowsiness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texting)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occur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rarely, </a:t>
            </a: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difficult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those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patterns</a:t>
            </a:r>
            <a:r>
              <a:rPr sz="1800" spc="-10" dirty="0">
                <a:latin typeface="Arial MT"/>
                <a:cs typeface="Arial MT"/>
              </a:rPr>
              <a:t> effectively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Driver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Diversity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Differences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skin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tone,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facial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physical build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reduce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generalization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drivers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regions..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99085" marR="129539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Edge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Device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Constraints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Running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heavy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CNN/LSTM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architectures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low-</a:t>
            </a:r>
            <a:r>
              <a:rPr sz="1800" spc="-10" dirty="0">
                <a:latin typeface="Arial MT"/>
                <a:cs typeface="Arial MT"/>
              </a:rPr>
              <a:t>power </a:t>
            </a:r>
            <a:r>
              <a:rPr sz="1800" dirty="0">
                <a:latin typeface="Arial MT"/>
                <a:cs typeface="Arial MT"/>
              </a:rPr>
              <a:t>hardware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latency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issues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vehicles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9613" y="1106487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15121" y="443610"/>
            <a:ext cx="18757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Research</a:t>
            </a:r>
            <a:r>
              <a:rPr spc="-105" dirty="0"/>
              <a:t> </a:t>
            </a:r>
            <a:r>
              <a:rPr spc="-25" dirty="0"/>
              <a:t>Gap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123" y="1395729"/>
            <a:ext cx="9324340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large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diverse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datasets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covering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various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conditions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Lack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generalizable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adaptive models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anomaly</a:t>
            </a:r>
            <a:r>
              <a:rPr sz="1800" spc="-10" dirty="0">
                <a:latin typeface="Arial MT"/>
                <a:cs typeface="Arial MT"/>
              </a:rPr>
              <a:t> detection.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lightweight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deep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models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suitable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embedded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systems.(hard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ware)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Absence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standard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evaluation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benchmarks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research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works.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Limited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20" dirty="0">
                <a:latin typeface="Arial"/>
                <a:cs typeface="Arial"/>
              </a:rPr>
              <a:t>privacy-</a:t>
            </a:r>
            <a:r>
              <a:rPr sz="1800" b="1" dirty="0">
                <a:latin typeface="Arial"/>
                <a:cs typeface="Arial"/>
              </a:rPr>
              <a:t>preserving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on-</a:t>
            </a:r>
            <a:r>
              <a:rPr sz="1800" b="1" dirty="0">
                <a:latin typeface="Arial"/>
                <a:cs typeface="Arial"/>
              </a:rPr>
              <a:t>device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inference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approaches.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Limited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Multi-</a:t>
            </a:r>
            <a:r>
              <a:rPr sz="1800" b="1" dirty="0">
                <a:latin typeface="Arial"/>
                <a:cs typeface="Arial"/>
              </a:rPr>
              <a:t>Modal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Integration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approaches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combine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visual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sensor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steering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angle,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acceleration)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richer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understanding.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 MT"/>
              <a:cs typeface="Arial MT"/>
            </a:endParaRPr>
          </a:p>
          <a:p>
            <a:pPr marL="299085" marR="66992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spc="-10" dirty="0">
                <a:latin typeface="Arial"/>
                <a:cs typeface="Arial"/>
              </a:rPr>
              <a:t>Minimal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Attention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Explainability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black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boxes;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lack </a:t>
            </a:r>
            <a:r>
              <a:rPr sz="1800" dirty="0">
                <a:latin typeface="Arial MT"/>
                <a:cs typeface="Arial MT"/>
              </a:rPr>
              <a:t>interpretability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showing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why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flagged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unsafe.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39567" y="1057338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57641" y="598170"/>
            <a:ext cx="147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396" y="1142746"/>
            <a:ext cx="9982200" cy="4994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9085" marR="777240" indent="-287020">
              <a:lnSpc>
                <a:spcPct val="99100"/>
              </a:lnSpc>
              <a:spcBef>
                <a:spcPts val="120"/>
              </a:spcBef>
              <a:buChar char="•"/>
              <a:tabLst>
                <a:tab pos="29908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detect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abnormal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driver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behaviors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drowsiness,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distraction,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rash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driving </a:t>
            </a:r>
            <a:r>
              <a:rPr sz="1800" dirty="0">
                <a:latin typeface="Arial MT"/>
                <a:cs typeface="Arial MT"/>
              </a:rPr>
              <a:t>usingdeep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techniques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469265" marR="308610" indent="-45720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design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lightweight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efficient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deep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models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suitable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deployment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in- </a:t>
            </a:r>
            <a:r>
              <a:rPr sz="1800" dirty="0">
                <a:latin typeface="Arial MT"/>
                <a:cs typeface="Arial MT"/>
              </a:rPr>
              <a:t>vehicle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hardware.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469265" marR="1174115" indent="-45720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improve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accuracy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reduce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false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positives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tuning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spc="-10" dirty="0">
                <a:latin typeface="Arial MT"/>
                <a:cs typeface="Arial MT"/>
              </a:rPr>
              <a:t>preprocessing.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469265" marR="426084" indent="-45720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enhance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road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safety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support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intelligent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transportation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systems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minimizing </a:t>
            </a:r>
            <a:r>
              <a:rPr sz="1800" dirty="0">
                <a:latin typeface="Arial MT"/>
                <a:cs typeface="Arial MT"/>
              </a:rPr>
              <a:t>human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error.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469265" marR="213995" indent="-45720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create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reliable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driver monitoring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framework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adapt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profiles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environments.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enhance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transparency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integrating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explainability methods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driver’s</a:t>
            </a:r>
            <a:endParaRPr sz="18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behavior 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flagged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anomalous.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45" dirty="0"/>
              <a:t> </a:t>
            </a:r>
            <a:r>
              <a:rPr dirty="0"/>
              <a:t>Survey/Existing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372253"/>
              </p:ext>
            </p:extLst>
          </p:nvPr>
        </p:nvGraphicFramePr>
        <p:xfrm>
          <a:off x="304800" y="1828800"/>
          <a:ext cx="11582400" cy="4800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9642">
                <a:tc>
                  <a:txBody>
                    <a:bodyPr/>
                    <a:lstStyle/>
                    <a:p>
                      <a:pPr marL="91440" marR="1047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Paper-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Title,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author, conference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/Journal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Methodology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34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/>
                        <a:t>Abnormal Driving Behavior Detection: A Machine and Deep Learning Based Hybrid Model</a:t>
                      </a:r>
                      <a:br>
                        <a:rPr lang="en-US" sz="1800" dirty="0"/>
                      </a:br>
                      <a:r>
                        <a:rPr lang="en-US" sz="1800" i="1" dirty="0"/>
                        <a:t>(Md. Ashraf Uddin et al., Int. J. Intelligent Transportation Systems Research, 2025)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Hybrid model combining </a:t>
                      </a:r>
                      <a:r>
                        <a:rPr lang="en-US" sz="1800" b="1" dirty="0"/>
                        <a:t>Machine Learning (Random Forest, SVM, Gradient Boosting)</a:t>
                      </a:r>
                      <a:r>
                        <a:rPr lang="en-US" sz="1800" dirty="0"/>
                        <a:t> on tabular driving data and </a:t>
                      </a:r>
                      <a:r>
                        <a:rPr lang="en-US" sz="1800" b="1" dirty="0"/>
                        <a:t>Deep Learning (CNN, ResNet50, EfficientNetB6)</a:t>
                      </a:r>
                      <a:r>
                        <a:rPr lang="en-US" sz="1800" dirty="0"/>
                        <a:t> on image data (UAH-</a:t>
                      </a:r>
                      <a:r>
                        <a:rPr lang="en-US" sz="1800" dirty="0" err="1"/>
                        <a:t>DriveSet</a:t>
                      </a:r>
                      <a:r>
                        <a:rPr lang="en-US" sz="1800" dirty="0"/>
                        <a:t> + SFD3 datasets).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Random Forest: </a:t>
                      </a:r>
                      <a:r>
                        <a:rPr lang="en-US" sz="1800" b="1" dirty="0"/>
                        <a:t>99.32%</a:t>
                      </a:r>
                      <a:r>
                        <a:rPr lang="en-US" sz="1800" dirty="0"/>
                        <a:t>, Base CNN: </a:t>
                      </a:r>
                      <a:r>
                        <a:rPr lang="en-US" sz="1800" b="1" dirty="0"/>
                        <a:t>99.87%</a:t>
                      </a:r>
                      <a:r>
                        <a:rPr lang="en-US" sz="1800" dirty="0"/>
                        <a:t>. Hybrid model outperformed standalone ML/DL methods.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High computational demand; limited real-time testing; only evaluated limited behaviors (aggressive, tired, normal).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7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/>
                        <a:t>Real-Time Driver Fatigue Detection System with Deep Learning on a Low-Cost Embedded System</a:t>
                      </a:r>
                      <a:br>
                        <a:rPr lang="en-US" sz="1800" dirty="0"/>
                      </a:br>
                      <a:r>
                        <a:rPr lang="en-US" sz="1800" i="1" dirty="0"/>
                        <a:t>(</a:t>
                      </a:r>
                      <a:r>
                        <a:rPr lang="en-US" sz="1800" i="1" dirty="0" err="1"/>
                        <a:t>Esra</a:t>
                      </a:r>
                      <a:r>
                        <a:rPr lang="en-US" sz="1800" i="1" dirty="0"/>
                        <a:t> </a:t>
                      </a:r>
                      <a:r>
                        <a:rPr lang="en-US" sz="1800" i="1" dirty="0" err="1"/>
                        <a:t>Civik</a:t>
                      </a:r>
                      <a:r>
                        <a:rPr lang="en-US" sz="1800" i="1" dirty="0"/>
                        <a:t> &amp; </a:t>
                      </a:r>
                      <a:r>
                        <a:rPr lang="en-US" sz="1800" i="1" dirty="0" err="1"/>
                        <a:t>Ugur</a:t>
                      </a:r>
                      <a:r>
                        <a:rPr lang="en-US" sz="1800" i="1" dirty="0"/>
                        <a:t> </a:t>
                      </a:r>
                      <a:r>
                        <a:rPr lang="en-US" sz="1800" i="1" dirty="0" err="1"/>
                        <a:t>Yuzgec</a:t>
                      </a:r>
                      <a:r>
                        <a:rPr lang="en-US" sz="1800" i="1" dirty="0"/>
                        <a:t>, Microprocessors and Microsystems, 2023)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Two CNN models trained on </a:t>
                      </a:r>
                      <a:r>
                        <a:rPr lang="en-US" sz="1800" b="1" dirty="0" err="1"/>
                        <a:t>YawDD</a:t>
                      </a:r>
                      <a:r>
                        <a:rPr lang="en-US" sz="1800" b="1" dirty="0"/>
                        <a:t> dataset</a:t>
                      </a:r>
                      <a:r>
                        <a:rPr lang="en-US" sz="1800" dirty="0"/>
                        <a:t> to detect fatigue by analyzing </a:t>
                      </a:r>
                      <a:r>
                        <a:rPr lang="en-US" sz="1800" b="1" dirty="0"/>
                        <a:t>eye and mouth regions</a:t>
                      </a:r>
                      <a:r>
                        <a:rPr lang="en-US" sz="1800" dirty="0"/>
                        <a:t> using </a:t>
                      </a:r>
                      <a:r>
                        <a:rPr lang="en-US" sz="1800" b="1" dirty="0" err="1"/>
                        <a:t>dlib</a:t>
                      </a:r>
                      <a:r>
                        <a:rPr lang="en-US" sz="1800" dirty="0"/>
                        <a:t> on an </a:t>
                      </a:r>
                      <a:r>
                        <a:rPr lang="en-US" sz="1800" b="1" dirty="0"/>
                        <a:t>NVIDIA </a:t>
                      </a:r>
                      <a:r>
                        <a:rPr lang="en-US" sz="1800" b="1" dirty="0" err="1"/>
                        <a:t>Jetson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Nano</a:t>
                      </a:r>
                      <a:r>
                        <a:rPr lang="en-US" sz="1800" dirty="0"/>
                        <a:t> embedded board.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Achieved </a:t>
                      </a:r>
                      <a:r>
                        <a:rPr lang="en-US" sz="1800" b="1" dirty="0"/>
                        <a:t>93.6–96% accuracy</a:t>
                      </a:r>
                      <a:r>
                        <a:rPr lang="en-US" sz="1800" dirty="0"/>
                        <a:t> across fatigue classes; worked in real-time at ~6 FPS on </a:t>
                      </a:r>
                      <a:r>
                        <a:rPr lang="en-US" sz="1800" dirty="0" err="1"/>
                        <a:t>Jetson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Nano</a:t>
                      </a:r>
                      <a:r>
                        <a:rPr lang="en-US" sz="1800" dirty="0"/>
                        <a:t>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Limited to fatigue detection only; small dataset; low frame rate on embedded device.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062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193896"/>
              </p:ext>
            </p:extLst>
          </p:nvPr>
        </p:nvGraphicFramePr>
        <p:xfrm>
          <a:off x="533400" y="1143000"/>
          <a:ext cx="11353800" cy="445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3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0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91440" marR="1047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Paper-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Title,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author, conference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/Journal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Methodology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0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dirty="0"/>
                        <a:t>Comprehensive Study of Driver Behavior Monitoring Systems Using Computer Vision and Machine Learning Techniques</a:t>
                      </a:r>
                      <a:br>
                        <a:rPr lang="en-US" sz="1800" dirty="0"/>
                      </a:br>
                      <a:r>
                        <a:rPr lang="en-US" sz="1800" i="1" dirty="0"/>
                        <a:t>(</a:t>
                      </a:r>
                      <a:r>
                        <a:rPr lang="en-US" sz="1800" i="1" dirty="0" err="1"/>
                        <a:t>Fangming</a:t>
                      </a:r>
                      <a:r>
                        <a:rPr lang="en-US" sz="1800" i="1" dirty="0"/>
                        <a:t> Qu et al., Journal of Big Data, 2024)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A </a:t>
                      </a:r>
                      <a:r>
                        <a:rPr lang="en-US" sz="1800" b="1" dirty="0"/>
                        <a:t>survey study</a:t>
                      </a:r>
                      <a:r>
                        <a:rPr lang="en-US" sz="1800" dirty="0"/>
                        <a:t> reviewing AI and ML techniques (CNNs, RNNs, hybrid systems) for driver monitoring. Covers in-cabin facial, hand, and body posture detection using computer vision.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Provided a </a:t>
                      </a:r>
                      <a:r>
                        <a:rPr lang="en-US" sz="1800" b="1" dirty="0"/>
                        <a:t>taxonomy of techniques and datasets</a:t>
                      </a:r>
                      <a:r>
                        <a:rPr lang="en-US" sz="1800" dirty="0"/>
                        <a:t>; identified hybrid (CV + ML) systems as most promising.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No implementation; purely theoretical; lacks quantitative evaluation.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/>
                        <a:t>Deep Learning Model for Driver Behavior Detection in Cyber-Physical System-Based Intelligent Transport Systems</a:t>
                      </a:r>
                      <a:br>
                        <a:rPr lang="en-US" dirty="0"/>
                      </a:br>
                      <a:r>
                        <a:rPr lang="en-US" i="1" dirty="0"/>
                        <a:t>(</a:t>
                      </a:r>
                      <a:r>
                        <a:rPr lang="en-US" i="1" dirty="0" err="1"/>
                        <a:t>Brij</a:t>
                      </a:r>
                      <a:r>
                        <a:rPr lang="en-US" i="1" dirty="0"/>
                        <a:t> B. Gupta et al., IEEE Access, 2024)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Developed a </a:t>
                      </a:r>
                      <a:r>
                        <a:rPr lang="en-US" b="1" dirty="0"/>
                        <a:t>CNN-based deep learning model</a:t>
                      </a:r>
                      <a:r>
                        <a:rPr lang="en-US" dirty="0"/>
                        <a:t> integrated into </a:t>
                      </a:r>
                      <a:r>
                        <a:rPr lang="en-US" b="1" dirty="0"/>
                        <a:t>Cyber-Physical Systems (CPS)</a:t>
                      </a:r>
                      <a:r>
                        <a:rPr lang="en-US" dirty="0"/>
                        <a:t> for detecting fatigue, yawning, and eye states within </a:t>
                      </a:r>
                      <a:r>
                        <a:rPr lang="en-US" b="1" dirty="0"/>
                        <a:t>Intelligent Transport Systems (ITS)</a:t>
                      </a:r>
                      <a:r>
                        <a:rPr lang="en-US" dirty="0"/>
                        <a:t>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Achieved </a:t>
                      </a:r>
                      <a:r>
                        <a:rPr lang="en-US" b="1" dirty="0"/>
                        <a:t>94% accuracy</a:t>
                      </a:r>
                      <a:r>
                        <a:rPr lang="en-US" dirty="0"/>
                        <a:t>; validated potential for real-time monitoring in CPS-enabled ITS.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Requires large labeled datasets; high computation for training; needs optimization for embedded use.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839727"/>
              </p:ext>
            </p:extLst>
          </p:nvPr>
        </p:nvGraphicFramePr>
        <p:xfrm>
          <a:off x="533400" y="1143000"/>
          <a:ext cx="11353800" cy="4556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3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0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91440" marR="1047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Paper-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Title,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author, conference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/Journal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Methodology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8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/>
                        <a:t>Naturalistic Driving Data-Based Anomalous Driving Behavior Detection Using </a:t>
                      </a:r>
                      <a:r>
                        <a:rPr lang="en-US" b="1" dirty="0" err="1"/>
                        <a:t>Hypertuned</a:t>
                      </a:r>
                      <a:r>
                        <a:rPr lang="en-US" b="1" dirty="0"/>
                        <a:t> Deep </a:t>
                      </a:r>
                      <a:r>
                        <a:rPr lang="en-US" b="1" dirty="0" err="1"/>
                        <a:t>Autoencoders</a:t>
                      </a:r>
                      <a:br>
                        <a:rPr lang="en-US" dirty="0"/>
                      </a:br>
                      <a:r>
                        <a:rPr lang="en-US" i="1" dirty="0"/>
                        <a:t>(</a:t>
                      </a:r>
                      <a:r>
                        <a:rPr lang="en-US" i="1" dirty="0" err="1"/>
                        <a:t>Shafqat</a:t>
                      </a:r>
                      <a:r>
                        <a:rPr lang="en-US" i="1" dirty="0"/>
                        <a:t> Abbas et al., Electronics, 2023)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Used </a:t>
                      </a:r>
                      <a:r>
                        <a:rPr lang="en-US" b="1" dirty="0"/>
                        <a:t>Modified Z-score–based Deep </a:t>
                      </a:r>
                      <a:r>
                        <a:rPr lang="en-US" b="1" dirty="0" err="1"/>
                        <a:t>Autoencoder</a:t>
                      </a:r>
                      <a:r>
                        <a:rPr lang="en-US" dirty="0"/>
                        <a:t> to detect anomalies in </a:t>
                      </a:r>
                      <a:r>
                        <a:rPr lang="en-US" b="1" dirty="0"/>
                        <a:t>NGSIM vehicle trajectory data</a:t>
                      </a:r>
                      <a:r>
                        <a:rPr lang="en-US" dirty="0"/>
                        <a:t>; focused on unsupervised anomaly detection.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Detected </a:t>
                      </a:r>
                      <a:r>
                        <a:rPr lang="en-US" b="1" dirty="0"/>
                        <a:t>7.86% anomalies (96.31% accuracy)</a:t>
                      </a:r>
                      <a:r>
                        <a:rPr lang="en-US" dirty="0"/>
                        <a:t> without early stopping; </a:t>
                      </a:r>
                      <a:r>
                        <a:rPr lang="en-US" b="1" dirty="0"/>
                        <a:t>95.25%</a:t>
                      </a:r>
                      <a:r>
                        <a:rPr lang="en-US" dirty="0"/>
                        <a:t> with early stopping.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Focused only on vehicle trajectory data; limited to simulated (not real-time) environments.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/>
                        <a:t>An Enhanced Deep Neural Network Model for Detection of Anomalous Behavior of Drivers in Road Traffic</a:t>
                      </a:r>
                      <a:br>
                        <a:rPr lang="en-US" dirty="0"/>
                      </a:br>
                      <a:r>
                        <a:rPr lang="en-US" i="1" dirty="0"/>
                        <a:t>(2024, Wiley Journal of Surveillance)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Designed a </a:t>
                      </a:r>
                      <a:r>
                        <a:rPr lang="en-US" b="1" dirty="0"/>
                        <a:t>hybrid deep model</a:t>
                      </a:r>
                      <a:r>
                        <a:rPr lang="en-US" dirty="0"/>
                        <a:t> using </a:t>
                      </a:r>
                      <a:r>
                        <a:rPr lang="en-US" b="1" dirty="0" err="1"/>
                        <a:t>MobileNet</a:t>
                      </a:r>
                      <a:r>
                        <a:rPr lang="en-US" b="1" dirty="0"/>
                        <a:t> + ResNet50 + VGG19</a:t>
                      </a:r>
                      <a:r>
                        <a:rPr lang="en-US" dirty="0"/>
                        <a:t> with </a:t>
                      </a:r>
                      <a:r>
                        <a:rPr lang="en-US" b="1" dirty="0"/>
                        <a:t>YOLOv3</a:t>
                      </a:r>
                      <a:r>
                        <a:rPr lang="en-US" dirty="0"/>
                        <a:t> for video-based detection of </a:t>
                      </a:r>
                      <a:r>
                        <a:rPr lang="en-US" dirty="0" err="1"/>
                        <a:t>overspeeding</a:t>
                      </a:r>
                      <a:r>
                        <a:rPr lang="en-US" dirty="0"/>
                        <a:t>, no-stopping, spacing, and signal violations.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Achieved </a:t>
                      </a:r>
                      <a:r>
                        <a:rPr lang="en-US" b="1" dirty="0"/>
                        <a:t>95% accuracy</a:t>
                      </a:r>
                      <a:r>
                        <a:rPr lang="en-US" dirty="0"/>
                        <a:t> across four anomaly types using 60,000+ video frames.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Limited anomaly categories; requires large annotated video data; not yet real-time.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936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148744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-4953000" y="797129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5800" y="1752600"/>
            <a:ext cx="99822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 → Research &amp; Baseline :</a:t>
            </a:r>
            <a:endParaRPr lang="en-US" sz="2400" dirty="0">
              <a:latin typeface="+mn-lt"/>
            </a:endParaRP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Collect and preprocess datasets (e.g., </a:t>
            </a:r>
            <a:r>
              <a:rPr lang="en-US" sz="2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AICity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Challenge</a:t>
            </a:r>
            <a:r>
              <a:rPr lang="en-US" sz="2400" dirty="0">
                <a:latin typeface="+mn-lt"/>
              </a:rPr>
              <a:t>).</a:t>
            </a: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Build a </a:t>
            </a:r>
            <a:r>
              <a:rPr lang="en-US" sz="2400" b="1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baseline model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(simple CNN or </a:t>
            </a:r>
            <a:r>
              <a:rPr lang="en-US" sz="2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) for anomaly detection.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Capstone-II → Model Development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Design </a:t>
            </a:r>
            <a:r>
              <a:rPr lang="en-US" sz="2400" b="1" dirty="0">
                <a:latin typeface="+mn-lt"/>
              </a:rPr>
              <a:t>multi-modal deep learning models</a:t>
            </a:r>
            <a:r>
              <a:rPr lang="en-US" sz="2400" dirty="0">
                <a:latin typeface="+mn-lt"/>
              </a:rPr>
              <a:t> (CNN–LSTM).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Evaluate accuracy, precision, recall, F1-score for anomaly detection.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Compare different deep learning methods (CNN vs LSTM vs </a:t>
            </a:r>
            <a:r>
              <a:rPr lang="en-US" sz="2400" dirty="0" err="1">
                <a:latin typeface="+mn-lt"/>
              </a:rPr>
              <a:t>Autoencoder</a:t>
            </a:r>
            <a:r>
              <a:rPr lang="en-US" sz="2400" dirty="0">
                <a:latin typeface="+mn-lt"/>
              </a:rPr>
              <a:t>).</a:t>
            </a:r>
            <a:endParaRPr lang="en-US" sz="2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780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13716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-4876800" y="82119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400" y="1752600"/>
            <a:ext cx="9753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Capstone-III → Integration &amp; Testing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system into an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Transportation System (ITS) simulation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driver monitoring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(latency &lt; 200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alerting mechanism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(buzzer, screen alert, braking).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prototype under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driving scenarios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(day/night, highway/city).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Capstone-IV → Deployment &amp; Finalization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Deploy the anomaly detection system.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Conduct </a:t>
            </a:r>
            <a:r>
              <a:rPr lang="en-US" sz="2400" b="1" dirty="0">
                <a:latin typeface="+mn-lt"/>
              </a:rPr>
              <a:t>final validation</a:t>
            </a:r>
            <a:r>
              <a:rPr lang="en-US" sz="2400" dirty="0">
                <a:latin typeface="+mn-lt"/>
              </a:rPr>
              <a:t> with live test 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n-lt"/>
              </a:rPr>
              <a:t>repare</a:t>
            </a:r>
            <a:r>
              <a:rPr lang="en-US" sz="2400" dirty="0">
                <a:latin typeface="+mn-lt"/>
              </a:rPr>
              <a:t> final </a:t>
            </a:r>
            <a:r>
              <a:rPr lang="en-US" sz="2400" b="1" dirty="0">
                <a:latin typeface="+mn-lt"/>
              </a:rPr>
              <a:t>documentation, publication paper(s), and project report</a:t>
            </a:r>
            <a:r>
              <a:rPr lang="en-US" sz="2400" dirty="0">
                <a:latin typeface="+mn-lt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00FF"/>
              </a:solidFill>
            </a:endParaRP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04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8200" y="148121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-3505200" y="784680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</a:rPr>
              <a:t>Capstone Project Timeline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1"/>
          </p:nvPr>
        </p:nvGraphicFramePr>
        <p:xfrm>
          <a:off x="914400" y="1825624"/>
          <a:ext cx="11201400" cy="4803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34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4AC5B-6B65-AEC2-EFEB-D9573523772D}"/>
              </a:ext>
            </a:extLst>
          </p:cNvPr>
          <p:cNvSpPr txBox="1"/>
          <p:nvPr/>
        </p:nvSpPr>
        <p:spPr>
          <a:xfrm>
            <a:off x="1905000" y="2362199"/>
            <a:ext cx="929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project </a:t>
            </a:r>
            <a:r>
              <a:rPr lang="en-US" b="1" i="1" dirty="0"/>
              <a:t>“Driver Behavior Anomaly Detection using Deep Learning for Accident Prevention”</a:t>
            </a:r>
            <a:r>
              <a:rPr lang="en-US" b="1" dirty="0"/>
              <a:t> lays the foundation for an intelligent system that detects unsafe driver behaviors like drowsiness, distraction, and rash driving using CNN and LSTM models.</a:t>
            </a:r>
            <a:br>
              <a:rPr lang="en-US" b="1" dirty="0"/>
            </a:br>
            <a:r>
              <a:rPr lang="en-US" b="1" dirty="0"/>
              <a:t>By analyzing real-time data, it enhances road safety and minimizes human error.</a:t>
            </a:r>
            <a:br>
              <a:rPr lang="en-US" b="1" dirty="0"/>
            </a:br>
            <a:r>
              <a:rPr lang="en-US" b="1" dirty="0"/>
              <a:t>Future improvements include integrating multi-modal data, lightweight on-device models, and explainable AI to build safer and smarter transportation systems.</a:t>
            </a:r>
            <a:endParaRPr lang="en-IN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62466" y="1167129"/>
            <a:ext cx="152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0694" y="2731134"/>
            <a:ext cx="795655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12065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Abnormal Driving 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Behavior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Detection: A Machine and Deep Learning Based Hybrid Model by Uddin M.A., Hossain N., Ahamed A., et al. — </a:t>
            </a:r>
            <a:r>
              <a:rPr lang="en-IN" sz="2400" i="1" dirty="0">
                <a:solidFill>
                  <a:schemeClr val="accent5">
                    <a:lumMod val="75000"/>
                  </a:schemeClr>
                </a:solidFill>
              </a:rPr>
              <a:t>International Journal of Intelligent Transportation Systems Research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, Vol. 23, pp. 568-591, 2025</a:t>
            </a:r>
            <a:endParaRPr sz="2400" dirty="0">
              <a:solidFill>
                <a:schemeClr val="accent5">
                  <a:lumMod val="75000"/>
                </a:schemeClr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5226" y="3372992"/>
            <a:ext cx="2322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Thank</a:t>
            </a:r>
            <a:r>
              <a:rPr sz="4000" spc="-195" dirty="0"/>
              <a:t> </a:t>
            </a:r>
            <a:r>
              <a:rPr sz="4000" spc="-110" dirty="0"/>
              <a:t>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1821</Words>
  <Application>Microsoft Office PowerPoint</Application>
  <PresentationFormat>Widescreen</PresentationFormat>
  <Paragraphs>159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MT</vt:lpstr>
      <vt:lpstr>Calibri</vt:lpstr>
      <vt:lpstr>Times New Roman</vt:lpstr>
      <vt:lpstr>Trebuchet MS</vt:lpstr>
      <vt:lpstr>Office Theme</vt:lpstr>
      <vt:lpstr>UE23CS320A– Project Phase – 1 Review -2</vt:lpstr>
      <vt:lpstr>Agenda</vt:lpstr>
      <vt:lpstr>PowerPoint Presentation</vt:lpstr>
      <vt:lpstr>PowerPoint Presentation</vt:lpstr>
      <vt:lpstr>Problem Statement</vt:lpstr>
      <vt:lpstr>Abstract</vt:lpstr>
      <vt:lpstr>PowerPoint Presentation</vt:lpstr>
      <vt:lpstr>PowerPoint Presentation</vt:lpstr>
      <vt:lpstr>Suggestions from Review - 1</vt:lpstr>
      <vt:lpstr>Challenges</vt:lpstr>
      <vt:lpstr>Research Gap</vt:lpstr>
      <vt:lpstr>Objectives</vt:lpstr>
      <vt:lpstr>Literature Survey/Existing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ranjith v</cp:lastModifiedBy>
  <cp:revision>6</cp:revision>
  <dcterms:created xsi:type="dcterms:W3CDTF">2025-11-04T18:34:22Z</dcterms:created>
  <dcterms:modified xsi:type="dcterms:W3CDTF">2025-11-05T05:03:40Z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2021</vt:lpwstr>
  </property>
</Properties>
</file>